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40"/>
  </p:notesMasterIdLst>
  <p:handoutMasterIdLst>
    <p:handoutMasterId r:id="rId41"/>
  </p:handoutMasterIdLst>
  <p:sldIdLst>
    <p:sldId id="297" r:id="rId5"/>
    <p:sldId id="258" r:id="rId6"/>
    <p:sldId id="257" r:id="rId7"/>
    <p:sldId id="267" r:id="rId8"/>
    <p:sldId id="260" r:id="rId9"/>
    <p:sldId id="280" r:id="rId10"/>
    <p:sldId id="259" r:id="rId11"/>
    <p:sldId id="275" r:id="rId12"/>
    <p:sldId id="261" r:id="rId13"/>
    <p:sldId id="285" r:id="rId14"/>
    <p:sldId id="262" r:id="rId15"/>
    <p:sldId id="290" r:id="rId16"/>
    <p:sldId id="268" r:id="rId17"/>
    <p:sldId id="298" r:id="rId18"/>
    <p:sldId id="263" r:id="rId19"/>
    <p:sldId id="265" r:id="rId20"/>
    <p:sldId id="264" r:id="rId21"/>
    <p:sldId id="266" r:id="rId22"/>
    <p:sldId id="270" r:id="rId23"/>
    <p:sldId id="271" r:id="rId24"/>
    <p:sldId id="272" r:id="rId25"/>
    <p:sldId id="273" r:id="rId26"/>
    <p:sldId id="274" r:id="rId27"/>
    <p:sldId id="276" r:id="rId28"/>
    <p:sldId id="277" r:id="rId29"/>
    <p:sldId id="278" r:id="rId30"/>
    <p:sldId id="279" r:id="rId31"/>
    <p:sldId id="281" r:id="rId32"/>
    <p:sldId id="282" r:id="rId33"/>
    <p:sldId id="283" r:id="rId34"/>
    <p:sldId id="284" r:id="rId35"/>
    <p:sldId id="286" r:id="rId36"/>
    <p:sldId id="287" r:id="rId37"/>
    <p:sldId id="288" r:id="rId38"/>
    <p:sldId id="289"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E14A63-8FCA-41B7-B409-C70632083DF2}" v="1" dt="2026-10-15T14:03:06.6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p:cViewPr>
        <p:scale>
          <a:sx n="75" d="100"/>
          <a:sy n="75" d="100"/>
        </p:scale>
        <p:origin x="744" y="514"/>
      </p:cViewPr>
      <p:guideLst>
        <p:guide orient="horz" pos="2160"/>
        <p:guide pos="3840"/>
      </p:guideLst>
    </p:cSldViewPr>
  </p:slideViewPr>
  <p:notesTextViewPr>
    <p:cViewPr>
      <p:scale>
        <a:sx n="1" d="1"/>
        <a:sy n="1" d="1"/>
      </p:scale>
      <p:origin x="0" y="0"/>
    </p:cViewPr>
  </p:notesTextViewPr>
  <p:notesViewPr>
    <p:cSldViewPr>
      <p:cViewPr varScale="1">
        <p:scale>
          <a:sx n="69" d="100"/>
          <a:sy n="69" d="100"/>
        </p:scale>
        <p:origin x="2568" y="3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9BAAE38-79BE-4082-9A4D-2BEC47341C04}" type="datetimeFigureOut">
              <a:rPr lang="en-US" smtClean="0"/>
              <a:t>10/20/2026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9F15613-D24F-46B4-9010-BD7B318E3C30}" type="slidenum">
              <a:rPr lang="en-US" smtClean="0"/>
              <a:t>‹#›</a:t>
            </a:fld>
            <a:endParaRPr lang="en-US"/>
          </a:p>
        </p:txBody>
      </p:sp>
    </p:spTree>
    <p:extLst>
      <p:ext uri="{BB962C8B-B14F-4D97-AF65-F5344CB8AC3E}">
        <p14:creationId xmlns:p14="http://schemas.microsoft.com/office/powerpoint/2010/main" val="28640503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5BCF22-2D75-4779-9C8B-6270AA3FA919}"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0B8AC8-E212-48B2-9917-7448FC83DD17}" type="slidenum">
              <a:rPr lang="en-US" smtClean="0"/>
              <a:t>‹#›</a:t>
            </a:fld>
            <a:endParaRPr lang="en-US"/>
          </a:p>
        </p:txBody>
      </p:sp>
    </p:spTree>
    <p:extLst>
      <p:ext uri="{BB962C8B-B14F-4D97-AF65-F5344CB8AC3E}">
        <p14:creationId xmlns:p14="http://schemas.microsoft.com/office/powerpoint/2010/main" val="1786590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[Elevator pitch, about 30 seconds]</a:t>
            </a:r>
          </a:p>
          <a:p>
            <a:r>
              <a:t>Sri Lanka's electricity grid has to match supply to demand every fifteen minutes. Demand changes with the weather, weekdays, holidays and Poya days. Planners at the electricity board need more than one forecast number: they need to know what normal looks like, what will happen next, what happens if conditions change, and why.</a:t>
            </a:r>
          </a:p>
          <a:p>
            <a:endParaRPr/>
          </a:p>
          <a:p>
            <a:r>
              <a:t>[Product pitch, about 3 minutes]</a:t>
            </a:r>
          </a:p>
          <a:p>
            <a:r>
              <a:t>Our solution, EDIS, brings four research components into one system with one login.</a:t>
            </a:r>
          </a:p>
          <a:p>
            <a:r>
              <a:t>1. Behaviour Intelligence learns what normal demand looks like, flags abnormal days and predicts the behaviour of future dates.</a:t>
            </a:r>
          </a:p>
          <a:p>
            <a:r>
              <a:t>2. Neural Forecasting predicts the next fifteen-minute load with deep-learning models and calibrated uncertainty.</a:t>
            </a:r>
          </a:p>
          <a:p>
            <a:r>
              <a:t>3. Demand Forecasting and Scenarios lets a planner ask "what if": a heat wave, a price change, a Poya holiday, and shows which provinces could run short.</a:t>
            </a:r>
          </a:p>
          <a:p>
            <a:r>
              <a:t>4. Explainable AI explains why a model predicted a value, using SHAP and LIME.</a:t>
            </a:r>
          </a:p>
          <a:p>
            <a:r>
              <a:t>What makes the design strong:</a:t>
            </a:r>
          </a:p>
          <a:p>
            <a:r>
              <a:t>- Everything is in one dashboard. The home page and login lead to the Behaviour Intelligence shell, and the other three apps open inside it.</a:t>
            </a:r>
          </a:p>
          <a:p>
            <a:r>
              <a:t>- The parts are connected. When an abnormal day is found, one click opens its LIME explanation inside the same app.</a:t>
            </a:r>
          </a:p>
          <a:p>
            <a:r>
              <a:t>- Every model is validated, not just trained: against known ground truth, with cross-validation, with statistical tests, and with coverage checks for the uncertainty ranges.</a:t>
            </a:r>
          </a:p>
          <a:p>
            <a:r>
              <a:t>- We show uncertainty honestly. Forecasts come with ranges, and future behaviour comes with a likelihood that never claims 100% from limited data.</a:t>
            </a:r>
          </a:p>
          <a:p>
            <a:r>
              <a:t>The diagram shows the ports: Behaviour Intelligence on 3000 and 8001, Neural Forecasting on 5176 and 8003, Demand Forecasting on 5175 and 8002, and Explainable AI on 5173 and 8000. One launcher, start-all.py, starts all of them.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1 minute 15 seconds]</a:t>
            </a:r>
          </a:p>
          <a:p>
            <a:r>
              <a:t>At PP2 the panel gave each of us comments. This table shows the comment, what we did, and the evidence.</a:t>
            </a:r>
          </a:p>
          <a:p>
            <a:r>
              <a:t>Thanujan: the panel wanted a clearer idea of clustering, model choice and parameters. Every parameter is now tuned in notebook 07 with unsupervised methods first, and then checked against the known ground truth of the dataset. All three clustering indices pick k = 2, and Isolation Forest finds exactly the 60 injected anomaly days.</a:t>
            </a:r>
          </a:p>
          <a:p>
            <a:r>
              <a:t>Janahan: the panel asked for clearer parameter considerations and more on optimisation. Seven neural architectures are compared on one protocol, with early stopping and a learning-rate schedule, plus significance tests.</a:t>
            </a:r>
          </a:p>
          <a:p>
            <a:r>
              <a:t>Dewmini: the panel asked for a model comparison and parameter optimisation. Three model families are compared on the same split, and Gradient Boosting is tuned with Optuna.</a:t>
            </a:r>
          </a:p>
          <a:p>
            <a:r>
              <a:t>Madushani: the panel asked for the models, the architecture and a comparison. She now shows the XGBoost architecture, a four-model comparison, and a SHAP versus LIME comparison validated against the true formula.</a:t>
            </a:r>
          </a:p>
          <a:p>
            <a:r>
              <a:t>Each member has backup slides with the full details.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1 minute 30 seconds]</a:t>
            </a:r>
          </a:p>
          <a:p>
            <a:r>
              <a:t>Here are our results on held-out data.</a:t>
            </a:r>
          </a:p>
          <a:p>
            <a:r>
              <a:t>Behaviour Intelligence finds all 60 known anomaly days with no false alarms, and its future-behaviour prediction reaches 83.5% accuracy against a 62.4% majority baseline.</a:t>
            </a:r>
          </a:p>
          <a:p>
            <a:r>
              <a:t>Neural Forecasting: the best model's average error is 20.46 kW, with R-squared 0.974.</a:t>
            </a:r>
          </a:p>
          <a:p>
            <a:r>
              <a:t>Demand Forecasting reaches R-squared 0.824 on unseen data.</a:t>
            </a:r>
          </a:p>
          <a:p>
            <a:r>
              <a:t>Explainable AI: SHAP matches the true effect with correlation 0.99994.</a:t>
            </a:r>
          </a:p>
          <a:p>
            <a:r>
              <a:t>The integrated system passed an automated test of 44 checks, covering login, the LIME link and every page.</a:t>
            </a:r>
          </a:p>
          <a:p>
            <a:r>
              <a:t>[If you collected user feedback, mention it here; otherwise say: "We have not yet run a formal user acceptance test with CEB engineers; that is our next step."]</a:t>
            </a:r>
          </a:p>
          <a:p>
            <a:r>
              <a:t>Limitations: our data is synthetic or semi-synthetic, each component still uses its own dataset, and we work on historical data, not a live feed.</a:t>
            </a:r>
          </a:p>
          <a:p>
            <a:r>
              <a:t>Future work: real electricity board data, one shared dataset, a live feed with retraining, and explanations for every model. Thank you.</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1 minute — Janahan]</a:t>
            </a:r>
          </a:p>
          <a:p>
            <a:r>
              <a:t>I am Janahan, IT22069740. My component is Neural Forecasting.</a:t>
            </a:r>
          </a:p>
          <a:p>
            <a:r>
              <a:t>It answers: what will the load be in the next fifteen minutes?</a:t>
            </a:r>
          </a:p>
          <a:p>
            <a:r>
              <a:t>Each model looks at the last 24 hours, 96 time steps, with 20 features: weather, calendar, Poya and public events, and past load. I compared seven deep-learning models on exactly the same test windows.</a:t>
            </a:r>
          </a:p>
          <a:p>
            <a:r>
              <a:t>The two hybrid models are the best: CNN-Transformer with MC Dropout has a mean error of 20.46 kW and CNN-LSTM 20.52 kW. The difference between them is not statistically significant, so the simpler CNN-LSTM is the default.</a:t>
            </a:r>
          </a:p>
          <a:p>
            <a:r>
              <a:t>MC Dropout also gives an uncertainty band; after calibration the 95% band contains 96.3% of real values.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Janahan, about 40 seconds]</a:t>
            </a:r>
          </a:p>
          <a:p>
            <a:r>
              <a:t>MC Dropout runs the model 30 times with dropout on and gives a mean and a spread. The raw 95% band covered only 85% of real values, so I calibrated it on validation residuals; the calibrated band of about ±67 kW covers 96.3%.</a:t>
            </a:r>
          </a:p>
          <a:p>
            <a:r>
              <a:t>Limitations: validation was also used for early stopping, the forecasts are dataset-backed rather than live, and no inference-time benchmark was saved.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1 minute — Thanujan]</a:t>
            </a:r>
          </a:p>
          <a:p>
            <a:r>
              <a:t>I am Thanujan, IT22545176. My component is Behaviour Intelligence.</a:t>
            </a:r>
          </a:p>
          <a:p>
            <a:r>
              <a:t>It answers the question: how does demand behave, and which days are unusual?</a:t>
            </a:r>
          </a:p>
          <a:p>
            <a:r>
              <a:t>The 15-minute load is cleaned and turned into one profile of 96 points per day, 1,977 days in total. K-Means finds two regimes, weekdays and weekends. Isolation Forest finds abnormal days. Simple rules then label every day Normal, Low, Peak or Abnormal, with a risk level, and the system predicts the likely behaviour of a future date.</a:t>
            </a:r>
          </a:p>
          <a:p>
            <a:r>
              <a:t>Because the dataset has 60 known injected anomaly days, I could check the results: the clusters match weekday and weekend with ARI 0.965, and Isolation Forest finds all 60 anomaly days with no false alarms.</a:t>
            </a:r>
          </a:p>
          <a:p>
            <a:r>
              <a:t>It is also the shell of the whole system: home page, login, and the other three components inside 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Thanujan, about 40 seconds]</a:t>
            </a:r>
          </a:p>
          <a:p>
            <a:r>
              <a:t>Left: the future prediction now shows a smoothed likelihood, for example 11 of 23 Saturdays in July, 44.4%, instead of a misleading 100%. Right: the Tuning and Validation page, with every tuning table and figure.</a:t>
            </a:r>
          </a:p>
          <a:p>
            <a:r>
              <a:t>Limitations, honestly: the dataset is synthetic with clear anomalies; contamination equals the injected rate; the future prediction is only a little better than a weekend rule; and login protects the pages, not the API.</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1 minute — Dewmini]</a:t>
            </a:r>
          </a:p>
          <a:p>
            <a:r>
              <a:t>I am Dewmini, IT22630216. My component is Demand Forecasting with Scenario Analysis.</a:t>
            </a:r>
          </a:p>
          <a:p>
            <a:r>
              <a:t>It answers: what will demand be, and what if conditions change?</a:t>
            </a:r>
          </a:p>
          <a:p>
            <a:r>
              <a:t>The model uses 13 inputs: weather, economy and calendar, including Poya days. I compared Linear Regression, Random Forest and Gradient Boosting on the same split. Gradient Boosting was best and was tuned with Optuna. On unseen data it reaches R-squared 0.824 with a mean error of about 92 kW.</a:t>
            </a:r>
          </a:p>
          <a:p>
            <a:r>
              <a:t>Every prediction has a calibrated range: the 90% range really contained 89.8% of unseen values.</a:t>
            </a:r>
          </a:p>
          <a:p>
            <a:r>
              <a:t>The dashboard has four tabs: Predict, Scenarios, the Grid Decision Lab risk map of the provinces, and Performance.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Dewmini, about 40 seconds]</a:t>
            </a:r>
          </a:p>
          <a:p>
            <a:r>
              <a:t>The Predict tab gives one prediction from the inputs. The Grid Decision Lab shows, hour by hour, which provinces could run short of supply, using the calibrated error distribution as an overload probability.</a:t>
            </a:r>
          </a:p>
          <a:p>
            <a:r>
              <a:t>Limitations: the data is synthetic practice data, the regional shares are assumptions, and there are no lag features yet.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1 minute — Madushani]</a:t>
            </a:r>
          </a:p>
          <a:p>
            <a:r>
              <a:t>I am Madushani, IT22273062. My part is Explainable AI.</a:t>
            </a:r>
          </a:p>
          <a:p>
            <a:r>
              <a:t>A forecast model gives a number. My part says WHY it gave that number.</a:t>
            </a:r>
          </a:p>
          <a:p>
            <a:r>
              <a:t>I use an XGBoost model. Then I use two methods to explain it.</a:t>
            </a:r>
          </a:p>
          <a:p>
            <a:r>
              <a:t>SHAP tells us which factors are important overall, and if that changes year by year.</a:t>
            </a:r>
          </a:p>
          <a:p>
            <a:r>
              <a:t>LIME explains one single reading, for example one abnormal day.</a:t>
            </a:r>
          </a:p>
          <a:p>
            <a:r>
              <a:t>In our data we know the true answer: demand is 100 times temperature minus 1300. So I could check the explanations. SHAP matches the true effect almost perfectly: r = 0.99994.</a:t>
            </a:r>
          </a:p>
          <a:p>
            <a:r>
              <a:t>In the dashboard, the LIME button on an abnormal day opens my explanation directly.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Madushani, about 40 seconds. Say it slowly.]</a:t>
            </a:r>
          </a:p>
          <a:p>
            <a:r>
              <a:t>My dashboard has three pages: SHAP drift over the years, LIME diagnosis, and the model comparison.</a:t>
            </a:r>
          </a:p>
          <a:p>
            <a:r>
              <a:t>Limitations: our data is synthetic and very simple. LIME is weaker for medium demand, so the page shows its confidence. My dataset is different from Behaviour Intelligence, so kW values for the same date can differ.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slides are for questions. Jump to the member's section when the panel asks for details.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99FDE-8EB4-A03F-3DED-8BFA29C0D0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2FC5EF-9636-ADBE-0ED1-991C4793397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F04F4DB-C468-FB28-BF6F-41822B38EF67}"/>
              </a:ext>
            </a:extLst>
          </p:cNvPr>
          <p:cNvSpPr>
            <a:spLocks noGrp="1"/>
          </p:cNvSpPr>
          <p:nvPr>
            <p:ph type="body" sz="quarter" idx="3"/>
          </p:nvPr>
        </p:nvSpPr>
        <p:spPr/>
        <p:txBody>
          <a:bodyPr/>
          <a:lstStyle/>
          <a:p>
            <a:r>
              <a:t>These slides are for questions. Jump to the member's section when the panel asks for details.</a:t>
            </a:r>
          </a:p>
        </p:txBody>
      </p:sp>
      <p:sp>
        <p:nvSpPr>
          <p:cNvPr id="4" name="Slide Number Placeholder 3">
            <a:extLst>
              <a:ext uri="{FF2B5EF4-FFF2-40B4-BE49-F238E27FC236}">
                <a16:creationId xmlns:a16="http://schemas.microsoft.com/office/drawing/2014/main" id="{C2971689-DA83-2B8C-25E8-660D0CC2BDA1}"/>
              </a:ext>
            </a:extLst>
          </p:cNvPr>
          <p:cNvSpPr>
            <a:spLocks noGrp="1"/>
          </p:cNvSpPr>
          <p:nvPr>
            <p:ph type="sldNum" sz="quarter" idx="5"/>
          </p:nvPr>
        </p:nvSpPr>
        <p:spPr/>
      </p:sp>
    </p:spTree>
    <p:extLst>
      <p:ext uri="{BB962C8B-B14F-4D97-AF65-F5344CB8AC3E}">
        <p14:creationId xmlns:p14="http://schemas.microsoft.com/office/powerpoint/2010/main" val="22668848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[CHECK — group decides]</a:t>
            </a:r>
          </a:p>
          <a:p>
            <a:endParaRPr/>
          </a:p>
          <a:p>
            <a:r>
              <a:t>[about 50 seconds]</a:t>
            </a:r>
          </a:p>
          <a:p>
            <a:r>
              <a:t>Now our commercialization plan.</a:t>
            </a:r>
          </a:p>
          <a:p>
            <a:r>
              <a:t>The problem: planners need to know how each day behaves, which days are unusual, what demand will be, and why the models say so.</a:t>
            </a:r>
          </a:p>
          <a:p>
            <a:r>
              <a:t>Our value: better peak planning, fewer surprises, and decisions that can be explained and trusted, all in one web platform with a secure login and four modules.</a:t>
            </a:r>
          </a:p>
          <a:p>
            <a:r>
              <a:t>Our main customer is the Ceylon Electricity Board, for system control and planning, then LECO for distribution areas. PUCSL, the regulator, benefits from transparent, explainable evidence. Large industrial and commercial consumers, and solar and battery operators, can plan their own load.</a:t>
            </a:r>
          </a:p>
          <a:p>
            <a:r>
              <a:t>The users match the four login roles we already built: grid planner, analyst, engineer and researcher.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[CHECK — group decides]</a:t>
            </a:r>
          </a:p>
          <a:p>
            <a:endParaRPr/>
          </a:p>
          <a:p>
            <a:r>
              <a:t>[about 55 seconds]</a:t>
            </a:r>
          </a:p>
          <a:p>
            <a:r>
              <a:t>Our go-to-market plan has four steps.</a:t>
            </a:r>
          </a:p>
          <a:p>
            <a:r>
              <a:t>First, a pilot with one CEB region or area, using real metered data.</a:t>
            </a:r>
          </a:p>
          <a:p>
            <a:r>
              <a:t>Second, we validate: we measure accuracy on the real data and collect feedback from the planners.</a:t>
            </a:r>
          </a:p>
          <a:p>
            <a:r>
              <a:t>Third, a full rollout to CEB and LECO.</a:t>
            </a:r>
          </a:p>
          <a:p>
            <a:r>
              <a:t>Fourth, we expand to large industrial consumers and to other utilities in South Asia.</a:t>
            </a:r>
          </a:p>
          <a:p>
            <a:r>
              <a:t>The timing will be agreed with partners; it is an assumption for now.</a:t>
            </a:r>
          </a:p>
          <a:p>
            <a:r>
              <a:t>Why us? Behaviour, forecasting and explanations are in one place. The explanations build trust. Our models are tuned and validated and show their uncertainty. We include local context such as Poya days and Sri Lankan public events. And the platform is modular and web-based, so it can run in the cloud or on the utility's own servers.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[CHECK — group decides]</a:t>
            </a:r>
          </a:p>
          <a:p>
            <a:endParaRPr/>
          </a:p>
          <a:p>
            <a:r>
              <a:t>[about 50 seconds]</a:t>
            </a:r>
          </a:p>
          <a:p>
            <a:r>
              <a:t>Our business model is Software-as-a-Service: a subscription in three tiers.</a:t>
            </a:r>
          </a:p>
          <a:p>
            <a:r>
              <a:t>Basic gives the dashboard, behaviour labels and anomaly alerts.</a:t>
            </a:r>
          </a:p>
          <a:p>
            <a:r>
              <a:t>Professional adds demand forecasting and what-if scenarios.</a:t>
            </a:r>
          </a:p>
          <a:p>
            <a:r>
              <a:t>Enterprise adds Explainable AI, custom models, API access, and an on-premise option, which utilities like CEB usually need for their data.</a:t>
            </a:r>
          </a:p>
          <a:p>
            <a:r>
              <a:t>On top of subscriptions we earn from services: setup and data integration, training, and a yearly support contract.</a:t>
            </a:r>
          </a:p>
          <a:p>
            <a:r>
              <a:t>We are careful here: the prices are only indicative. We will set real prices after the pilot, with customer feedback. We do not claim any market figures.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[CHECK — group decides]</a:t>
            </a:r>
          </a:p>
          <a:p>
            <a:endParaRPr/>
          </a:p>
          <a:p>
            <a:r>
              <a:t>[about 55 seconds]</a:t>
            </a:r>
          </a:p>
          <a:p>
            <a:r>
              <a:t>Our main costs are hosting, either cloud or on the utility's servers, development and maintenance, data integration, and user support. We will estimate them properly during the pilot.</a:t>
            </a:r>
          </a:p>
          <a:p>
            <a:r>
              <a:t>The biggest risk is access to real utility data; we start with one pilot area under a data-sharing agreement.</a:t>
            </a:r>
          </a:p>
          <a:p>
            <a:r>
              <a:t>For privacy and security we offer on-premise deployment, and the login already stores only hashed passwords and uses signed sessions.</a:t>
            </a:r>
          </a:p>
          <a:p>
            <a:r>
              <a:t>For regulatory approval we involve PUCSL early, and our explainable outputs support audits.</a:t>
            </a:r>
          </a:p>
          <a:p>
            <a:r>
              <a:t>For accuracy, we retrain and re-validate on the pilot data before any rollout.</a:t>
            </a:r>
          </a:p>
          <a:p>
            <a:r>
              <a:t>For adoption, we train users and keep the dashboard simple.</a:t>
            </a:r>
          </a:p>
          <a:p>
            <a:r>
              <a:t>In short, our strengths are integration, explainability and local context. Our main weakness, to be honest, is that the models are validated on synthetic data so far, which is exactly what the pilot fixes.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40 seconds]</a:t>
            </a:r>
          </a:p>
          <a:p>
            <a:r>
              <a:t>All four apps use the same stack: React with Vite on the front, FastAPI in Python on the back. The machine learning uses scikit-learn, XGBoost, TensorFlow with Keras, Optuna for tuning, and SHAP and LIME for explanations.</a:t>
            </a:r>
          </a:p>
          <a:p>
            <a:r>
              <a:t>Integration: one launcher starts everything, the shell embeds the other apps, and the login uses salted password hashes and a signed session token. The screenshot shows a LIME explanation opened inside the Behaviour Intelligence dashboard.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Thanujan, about 45 seconds]</a:t>
            </a:r>
          </a:p>
          <a:p>
            <a:r>
              <a:t>The pipeline: clean the 15-minute data, build one 96-point profile per day, scale it, and cluster. K-Means finds the regimes; DBSCAN is a density check; Isolation Forest flags anomaly days. Rules on top give each day its label and risk.</a:t>
            </a:r>
          </a:p>
          <a:p>
            <a:r>
              <a:t>Why these models: we have no labels, so unsupervised methods are needed. K-Means is best on all three indices and easy to explain. Isolation Forest needs no labels and gives a score for every day. The screenshot shows what the two clusters mean.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Thanujan, about 50 seconds]</a:t>
            </a:r>
          </a:p>
          <a:p>
            <a:r>
              <a:t>Notebook 07 tunes every parameter. First I choose without labels, as on real data: for k, three quality indices; for DBSCAN, the knee of the k-distance curve; for Isolation Forest, stability when refitting on random 80% samples.</a:t>
            </a:r>
          </a:p>
          <a:p>
            <a:r>
              <a:t>Then I validate on the known ground truth. All three indices pick k = 2. Contamination 0.03 is the most stable, and the number of trees and samples makes no difference.</a:t>
            </a:r>
          </a:p>
          <a:p>
            <a:r>
              <a:t>Honestly, 0.03 is the injected rate, but two threshold-free methods find the same 60 days without choosing any rate.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Thanujan, about 50 seconds]</a:t>
            </a:r>
          </a:p>
          <a:p>
            <a:r>
              <a:t>Clustering: K-Means k = 2 matches weekday and weekend with ARI 0.965, and 1.0 if the anomaly days are removed. Ward agrees. The Gaussian Mixture only isolates anomaly days, so it was rejected. DBSCAN's noise points are exactly the 60 anomalies.</a:t>
            </a:r>
          </a:p>
          <a:p>
            <a:r>
              <a:t>Anomalies: Isolation Forest finds all 60 with no false alarms; LOF agrees; One-Class SVM is weak with its default setting.</a:t>
            </a:r>
          </a:p>
          <a:p>
            <a:r>
              <a:t>Final labels: 1,279 Normal, 465 Low, 212 Peak, 21 Abnormal. The future-label back-test reaches 83.5% against a 62.4% baseline.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Thanujan, about 40 seconds]</a:t>
            </a:r>
          </a:p>
          <a:p>
            <a:r>
              <a:t>For clustering, I compared four methods and explained what each cluster means. For model selection, every choice comes from unsupervised indices and stability, and is then checked against ground truth. Every parameter is documented with how and why it was chosen. Fine-tuning is done with grid searches in notebook 07, and the results are shown on the dashboard.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Janahan, about 45 seconds]</a:t>
            </a:r>
          </a:p>
          <a:p>
            <a:r>
              <a:t>Every model gets the same input: the last 24 hours, 96 steps, with 20 features, and predicts the next 15-minute value.</a:t>
            </a:r>
          </a:p>
          <a:p>
            <a:r>
              <a:t>I built seven models: CNN, LSTM, Transformer, and two hybrids, CNN-LSTM and CNN-Transformer, plus Monte Carlo Dropout versions for uncertainty.</a:t>
            </a:r>
          </a:p>
          <a:p>
            <a:r>
              <a:t>The CNN layers find short local patterns, and the LSTM or attention layers learn the longer daily pattern. The default CNN-LSTM-B has two convolution layers, two LSTM layers and a dense output, about 146 thousand parameters.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Janahan, about 50 seconds]</a:t>
            </a:r>
          </a:p>
          <a:p>
            <a:r>
              <a:t>These are my training parameters and the reason for each. A lookback of 96 steps is one full day. The split is chronological so the model never sees the future. Adam with learning rate 0.001, MAE loss because it is robust to spikes, batch size 128.</a:t>
            </a:r>
          </a:p>
          <a:p>
            <a:r>
              <a:t>Optimisation: early stopping with patience 15 keeps the best weights, and the learning rate is halved when validation stops improving. The training curves show train and validation error converging.</a:t>
            </a:r>
          </a:p>
          <a:p>
            <a:r>
              <a:t>[CHECK] If you ran any extra hyperparameter search, mention it here.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Janahan, about 45 seconds]</a:t>
            </a:r>
          </a:p>
          <a:p>
            <a:r>
              <a:t>All six saved models are compared on exactly the same 18,817 test windows. The two hybrids are clearly best. CNN-Transformer with MC Dropout has the lowest error, 20.46 kW, but its lead over CNN-LSTM-B is only 0.06 kW and not statistically significant, p = 0.90. So I use the simpler CNN-LSTM-B as the default. Both hybrids beat the single models with p around 0.001.</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Janahan, about 40 seconds]</a:t>
            </a:r>
          </a:p>
          <a:p>
            <a:r>
              <a:t>For models: all seven architectures are explained on the same input contract. For parameters: every training setting is documented with its reason. For optimisation: early stopping, a learning-rate schedule, best-checkpoint saving, a significance-tested comparison, and calibrated uncertainty.</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Dewmini, about 45 seconds]</a:t>
            </a:r>
          </a:p>
          <a:p>
            <a:r>
              <a:t>My model uses 13 inputs: five weather, three economic and five calendar features, including Poya days. All three models are trained on the same split. Linear Regression can only draw straight lines; Random Forest and Gradient Boosting can follow curves, for example air-conditioning load that only starts above about 26 degrees. Gradient Boosting gives the best R-squared and error, so it is tuned and deployed. Hour of day is the strongest input.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Dewmini, about 50 seconds]</a:t>
            </a:r>
          </a:p>
          <a:p>
            <a:r>
              <a:t>I tuned six hyperparameters with Optuna. Each trial is scored by 3-fold cross-validation on the training data only, so the test set is never used for tuning. Twenty trials improved the cross-validated error from 118.09 to 116.65 kW.</a:t>
            </a:r>
          </a:p>
          <a:p>
            <a:r>
              <a:t>To be honest, the test score did not change, 0.825 before and 0.824 after, because the first model was already close to the noise floor. The tuned model is shallower, depth 3, so it is smoother and cheaper.</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Dewmini, about 45 seconds]</a:t>
            </a:r>
          </a:p>
          <a:p>
            <a:r>
              <a:t>Train and test scores are almost the same, so the model does not over-fit, and a chronological test gives the same result. The prediction ranges are calibrated with split-conformal prediction: the 90% range really contained 89.8% of unseen values. The scenario charts show, for example, how a heat wave raises evening demand.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Dewmini, about 40 seconds]</a:t>
            </a:r>
          </a:p>
          <a:p>
            <a:r>
              <a:t>For the models: I explain each family and why Gradient Boosting fits this data. For optimisation: Optuna over six hyperparameters with cross-validation on training data only. For the comparison: all three models on the identical split, with R-squared and error for each.</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Madushani, about 45 seconds. Say it slowly.]</a:t>
            </a:r>
          </a:p>
          <a:p>
            <a:r>
              <a:t>My model is XGBoost. It takes 12 inputs and gives one demand value in kW.</a:t>
            </a:r>
          </a:p>
          <a:p>
            <a:r>
              <a:t>It is made of 467 small trees. Each new tree fixes the mistakes of the trees before it.</a:t>
            </a:r>
          </a:p>
          <a:p>
            <a:r>
              <a:t>The trees are small, only 3 levels deep. Optuna chose these settings in 50 trials.</a:t>
            </a:r>
          </a:p>
          <a:p>
            <a:r>
              <a:t>To explain the model I use two methods.</a:t>
            </a:r>
          </a:p>
          <a:p>
            <a:r>
              <a:t>SHAP gives the exact share of each input in a prediction.</a:t>
            </a:r>
          </a:p>
          <a:p>
            <a:r>
              <a:t>LIME makes a simple rule for one prediction, using 1,000 nearby samples.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Madushani, about 45 seconds. Say it slowly.]</a:t>
            </a:r>
          </a:p>
          <a:p>
            <a:r>
              <a:t>I compared four models in the same way: same cleaning, same split, same metrics.</a:t>
            </a:r>
          </a:p>
          <a:p>
            <a:r>
              <a:t>Linear Regression is perfect. That is because our data is a simple formula: demand = 100 × temperature − 1300.</a:t>
            </a:r>
          </a:p>
          <a:p>
            <a:r>
              <a:t>XGBoost has a very small error: 2 kW, which is 0.07% of demand. It is also stable over time.</a:t>
            </a:r>
          </a:p>
          <a:p>
            <a:r>
              <a:t>I keep XGBoost because SHAP can explain it exactly.</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Madushani, about 45 seconds. Say it slowly.]</a:t>
            </a:r>
          </a:p>
          <a:p>
            <a:r>
              <a:t>We know the true formula, so we can check the explanations.</a:t>
            </a:r>
          </a:p>
          <a:p>
            <a:r>
              <a:t>SHAP gives 99.9% of the importance to temperature. That is correct.</a:t>
            </a:r>
          </a:p>
          <a:p>
            <a:r>
              <a:t>The chart shows SHAP and the true line on top of each other: r = 0.99994.</a:t>
            </a:r>
          </a:p>
          <a:p>
            <a:r>
              <a:t>LIME also finds temperature first every time, but it is less exact and changes a little with the random seed.</a:t>
            </a:r>
          </a:p>
          <a:p>
            <a:r>
              <a:t>Example: for 25 January 2025, LIME says "temperature above 29.29 added 359 kW".</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Madushani, about 40 seconds. Say it slowly.]</a:t>
            </a:r>
          </a:p>
          <a:p>
            <a:r>
              <a:t>The panel said I needed more about my models. Now I show a table of all models and methods.</a:t>
            </a:r>
          </a:p>
          <a:p>
            <a:r>
              <a:t>The panel asked for the architecture. Now I show the XGBoost diagram with the real numbers from the saved model.</a:t>
            </a:r>
          </a:p>
          <a:p>
            <a:r>
              <a:t>The panel asked for a comparison. I compare four forecasting models, and I compare SHAP with LIME.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roject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762000"/>
            <a:ext cx="10363200" cy="1470025"/>
          </a:xfrm>
        </p:spPr>
        <p:txBody>
          <a:bodyPr/>
          <a:lstStyle>
            <a:lvl1pPr>
              <a:defRPr/>
            </a:lvl1pPr>
          </a:lstStyle>
          <a:p>
            <a:r>
              <a:rPr lang="en-US" dirty="0"/>
              <a:t>Add the Project Title</a:t>
            </a:r>
          </a:p>
        </p:txBody>
      </p:sp>
      <p:sp>
        <p:nvSpPr>
          <p:cNvPr id="3" name="Subtitle 2"/>
          <p:cNvSpPr>
            <a:spLocks noGrp="1"/>
          </p:cNvSpPr>
          <p:nvPr>
            <p:ph type="subTitle" idx="1" hasCustomPrompt="1"/>
          </p:nvPr>
        </p:nvSpPr>
        <p:spPr>
          <a:xfrm>
            <a:off x="1828800" y="25146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Project ID</a:t>
            </a:r>
          </a:p>
        </p:txBody>
      </p:sp>
      <p:pic>
        <p:nvPicPr>
          <p:cNvPr id="20" name="Picture 19" descr="A picture containing photo, table, person, monitor&#10;&#10;Description automatically generated">
            <a:extLst>
              <a:ext uri="{FF2B5EF4-FFF2-40B4-BE49-F238E27FC236}">
                <a16:creationId xmlns:a16="http://schemas.microsoft.com/office/drawing/2014/main" id="{C4A8CD1C-223D-4C87-9519-FDBD49BC597A}"/>
              </a:ext>
            </a:extLst>
          </p:cNvPr>
          <p:cNvPicPr>
            <a:picLocks noChangeAspect="1"/>
          </p:cNvPicPr>
          <p:nvPr userDrawn="1"/>
        </p:nvPicPr>
        <p:blipFill rotWithShape="1">
          <a:blip r:embed="rId2"/>
          <a:srcRect t="90286" r="71976"/>
          <a:stretch/>
        </p:blipFill>
        <p:spPr>
          <a:xfrm>
            <a:off x="0" y="6373302"/>
            <a:ext cx="2514600" cy="490308"/>
          </a:xfrm>
          <a:prstGeom prst="rect">
            <a:avLst/>
          </a:prstGeom>
        </p:spPr>
      </p:pic>
    </p:spTree>
    <p:extLst>
      <p:ext uri="{BB962C8B-B14F-4D97-AF65-F5344CB8AC3E}">
        <p14:creationId xmlns:p14="http://schemas.microsoft.com/office/powerpoint/2010/main" val="856449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20" name="Picture 19" descr="A picture containing photo, table, person, monitor&#10;&#10;Description automatically generated">
            <a:extLst>
              <a:ext uri="{FF2B5EF4-FFF2-40B4-BE49-F238E27FC236}">
                <a16:creationId xmlns:a16="http://schemas.microsoft.com/office/drawing/2014/main" id="{C4A8CD1C-223D-4C87-9519-FDBD49BC597A}"/>
              </a:ext>
            </a:extLst>
          </p:cNvPr>
          <p:cNvPicPr>
            <a:picLocks noChangeAspect="1"/>
          </p:cNvPicPr>
          <p:nvPr userDrawn="1"/>
        </p:nvPicPr>
        <p:blipFill rotWithShape="1">
          <a:blip r:embed="rId2"/>
          <a:srcRect t="90286" r="71976"/>
          <a:stretch/>
        </p:blipFill>
        <p:spPr>
          <a:xfrm>
            <a:off x="0" y="6373302"/>
            <a:ext cx="2514600" cy="490308"/>
          </a:xfrm>
          <a:prstGeom prst="rect">
            <a:avLst/>
          </a:prstGeom>
        </p:spPr>
      </p:pic>
    </p:spTree>
    <p:extLst>
      <p:ext uri="{BB962C8B-B14F-4D97-AF65-F5344CB8AC3E}">
        <p14:creationId xmlns:p14="http://schemas.microsoft.com/office/powerpoint/2010/main" val="2447088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dividual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dirty="0"/>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1188891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verall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0238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2837087"/>
            <a:ext cx="10363200" cy="1362075"/>
          </a:xfrm>
        </p:spPr>
        <p:txBody>
          <a:bodyPr anchor="t"/>
          <a:lstStyle>
            <a:lvl1pPr algn="l">
              <a:defRPr sz="4000" b="1" cap="all"/>
            </a:lvl1pPr>
          </a:lstStyle>
          <a:p>
            <a:r>
              <a:rPr lang="en-US" dirty="0"/>
              <a:t>Section Title</a:t>
            </a:r>
          </a:p>
        </p:txBody>
      </p:sp>
      <p:sp>
        <p:nvSpPr>
          <p:cNvPr id="3" name="Text Placeholder 2"/>
          <p:cNvSpPr>
            <a:spLocks noGrp="1"/>
          </p:cNvSpPr>
          <p:nvPr>
            <p:ph type="body" idx="1" hasCustomPrompt="1"/>
          </p:nvPr>
        </p:nvSpPr>
        <p:spPr>
          <a:xfrm>
            <a:off x="963084" y="4237261"/>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Section Sub-Titles</a:t>
            </a:r>
          </a:p>
        </p:txBody>
      </p:sp>
      <p:sp>
        <p:nvSpPr>
          <p:cNvPr id="19" name="Rectangle 18">
            <a:extLst>
              <a:ext uri="{FF2B5EF4-FFF2-40B4-BE49-F238E27FC236}">
                <a16:creationId xmlns:a16="http://schemas.microsoft.com/office/drawing/2014/main" id="{77C29E58-4878-471A-A8CF-FA8607A4052E}"/>
              </a:ext>
            </a:extLst>
          </p:cNvPr>
          <p:cNvSpPr/>
          <p:nvPr userDrawn="1"/>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ITXXXXXXXX</a:t>
            </a:r>
            <a:r>
              <a:rPr lang="en-US" sz="1800" dirty="0">
                <a:solidFill>
                  <a:schemeClr val="tx1"/>
                </a:solidFill>
              </a:rPr>
              <a:t>   |   &lt;</a:t>
            </a:r>
            <a:r>
              <a:rPr lang="en-US" sz="1800" b="1" dirty="0">
                <a:solidFill>
                  <a:schemeClr val="tx1"/>
                </a:solidFill>
              </a:rPr>
              <a:t>&lt;Student Name&gt;&gt;   </a:t>
            </a:r>
            <a:r>
              <a:rPr lang="en-US" sz="1800" dirty="0">
                <a:solidFill>
                  <a:schemeClr val="tx1"/>
                </a:solidFill>
              </a:rPr>
              <a:t>|   </a:t>
            </a:r>
            <a:r>
              <a:rPr lang="en-US" sz="1800" b="0" dirty="0">
                <a:solidFill>
                  <a:schemeClr val="tx1"/>
                </a:solidFill>
              </a:rPr>
              <a:t>&lt;&lt;Project ID&gt;&gt;</a:t>
            </a:r>
          </a:p>
        </p:txBody>
      </p:sp>
    </p:spTree>
    <p:extLst>
      <p:ext uri="{BB962C8B-B14F-4D97-AF65-F5344CB8AC3E}">
        <p14:creationId xmlns:p14="http://schemas.microsoft.com/office/powerpoint/2010/main" val="3293331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tudent Information Sec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2837087"/>
            <a:ext cx="10363200" cy="1362075"/>
          </a:xfrm>
        </p:spPr>
        <p:txBody>
          <a:bodyPr anchor="t"/>
          <a:lstStyle>
            <a:lvl1pPr algn="l">
              <a:defRPr sz="4000" b="1" cap="all"/>
            </a:lvl1pPr>
          </a:lstStyle>
          <a:p>
            <a:r>
              <a:rPr lang="en-US" dirty="0"/>
              <a:t>Student IT Number | Student Name</a:t>
            </a:r>
          </a:p>
        </p:txBody>
      </p:sp>
      <p:sp>
        <p:nvSpPr>
          <p:cNvPr id="3" name="Text Placeholder 2"/>
          <p:cNvSpPr>
            <a:spLocks noGrp="1"/>
          </p:cNvSpPr>
          <p:nvPr>
            <p:ph type="body" idx="1" hasCustomPrompt="1"/>
          </p:nvPr>
        </p:nvSpPr>
        <p:spPr>
          <a:xfrm>
            <a:off x="963084" y="4237261"/>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Student’s Specialization</a:t>
            </a:r>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4" name="Rectangle 3">
            <a:extLst>
              <a:ext uri="{FF2B5EF4-FFF2-40B4-BE49-F238E27FC236}">
                <a16:creationId xmlns:a16="http://schemas.microsoft.com/office/drawing/2014/main" id="{0A8789F7-2DE1-4BD0-98A0-4D627E8C7924}"/>
              </a:ext>
            </a:extLst>
          </p:cNvPr>
          <p:cNvSpPr/>
          <p:nvPr userDrawn="1"/>
        </p:nvSpPr>
        <p:spPr>
          <a:xfrm>
            <a:off x="10134600" y="152400"/>
            <a:ext cx="1981200" cy="2286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Student Must add a professional photo to this cage</a:t>
            </a:r>
          </a:p>
        </p:txBody>
      </p:sp>
    </p:spTree>
    <p:extLst>
      <p:ext uri="{BB962C8B-B14F-4D97-AF65-F5344CB8AC3E}">
        <p14:creationId xmlns:p14="http://schemas.microsoft.com/office/powerpoint/2010/main" val="2008593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30358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7086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650893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1"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2" name="Slide Number Placeholder 5">
            <a:extLst>
              <a:ext uri="{FF2B5EF4-FFF2-40B4-BE49-F238E27FC236}">
                <a16:creationId xmlns:a16="http://schemas.microsoft.com/office/drawing/2014/main" id="{A75490AD-C6C9-4021-8C34-1F6444AB48BF}"/>
              </a:ext>
            </a:extLst>
          </p:cNvPr>
          <p:cNvSpPr txBox="1">
            <a:spLocks/>
          </p:cNvSpPr>
          <p:nvPr userDrawn="1"/>
        </p:nvSpPr>
        <p:spPr>
          <a:xfrm>
            <a:off x="11435142" y="6492875"/>
            <a:ext cx="680658" cy="365125"/>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mtClean="0"/>
              <a:pPr/>
              <a:t>‹#›</a:t>
            </a:fld>
            <a:endParaRPr lang="en-US" dirty="0"/>
          </a:p>
        </p:txBody>
      </p:sp>
    </p:spTree>
    <p:extLst>
      <p:ext uri="{BB962C8B-B14F-4D97-AF65-F5344CB8AC3E}">
        <p14:creationId xmlns:p14="http://schemas.microsoft.com/office/powerpoint/2010/main" val="335222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二等辺三角形 11"/>
          <p:cNvSpPr/>
          <p:nvPr userDrawn="1"/>
        </p:nvSpPr>
        <p:spPr>
          <a:xfrm>
            <a:off x="0" y="6406010"/>
            <a:ext cx="12192000" cy="452885"/>
          </a:xfrm>
          <a:prstGeom prst="triangle">
            <a:avLst>
              <a:gd name="adj" fmla="val 8544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4"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557430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7524049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36120786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3310850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304800"/>
            <a:ext cx="11684000" cy="7921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4800" y="1143000"/>
            <a:ext cx="11684000" cy="5181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5">
            <a:extLst>
              <a:ext uri="{FF2B5EF4-FFF2-40B4-BE49-F238E27FC236}">
                <a16:creationId xmlns:a16="http://schemas.microsoft.com/office/drawing/2014/main" id="{C064364F-1F37-4C7B-B31F-2D4F671B2CB9}"/>
              </a:ext>
            </a:extLst>
          </p:cNvPr>
          <p:cNvSpPr txBox="1">
            <a:spLocks/>
          </p:cNvSpPr>
          <p:nvPr userDrawn="1"/>
        </p:nvSpPr>
        <p:spPr>
          <a:xfrm>
            <a:off x="11435142" y="6492875"/>
            <a:ext cx="680658" cy="365125"/>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mtClean="0"/>
              <a:pPr/>
              <a:t>‹#›</a:t>
            </a:fld>
            <a:endParaRPr lang="en-US" dirty="0"/>
          </a:p>
        </p:txBody>
      </p:sp>
      <p:pic>
        <p:nvPicPr>
          <p:cNvPr id="7" name="Picture 6" descr="A picture containing photo, table, person, monitor&#10;&#10;Description automatically generated">
            <a:extLst>
              <a:ext uri="{FF2B5EF4-FFF2-40B4-BE49-F238E27FC236}">
                <a16:creationId xmlns:a16="http://schemas.microsoft.com/office/drawing/2014/main" id="{0503738D-67F6-4FC8-88E8-C0D768AD3312}"/>
              </a:ext>
            </a:extLst>
          </p:cNvPr>
          <p:cNvPicPr>
            <a:picLocks noChangeAspect="1"/>
          </p:cNvPicPr>
          <p:nvPr userDrawn="1"/>
        </p:nvPicPr>
        <p:blipFill rotWithShape="1">
          <a:blip r:embed="rId16"/>
          <a:srcRect t="90286" r="71976"/>
          <a:stretch/>
        </p:blipFill>
        <p:spPr>
          <a:xfrm>
            <a:off x="0" y="6373302"/>
            <a:ext cx="2514600" cy="490308"/>
          </a:xfrm>
          <a:prstGeom prst="rect">
            <a:avLst/>
          </a:prstGeom>
        </p:spPr>
      </p:pic>
      <p:sp>
        <p:nvSpPr>
          <p:cNvPr id="4" name="TextBox 3">
            <a:extLst>
              <a:ext uri="{FF2B5EF4-FFF2-40B4-BE49-F238E27FC236}">
                <a16:creationId xmlns:a16="http://schemas.microsoft.com/office/drawing/2014/main" id="{A16EC11E-4ADA-413C-92B1-C0871F068AF1}"/>
              </a:ext>
            </a:extLst>
          </p:cNvPr>
          <p:cNvSpPr txBox="1"/>
          <p:nvPr userDrawn="1"/>
        </p:nvSpPr>
        <p:spPr>
          <a:xfrm>
            <a:off x="10287000" y="6536937"/>
            <a:ext cx="1066800" cy="276999"/>
          </a:xfrm>
          <a:prstGeom prst="rect">
            <a:avLst/>
          </a:prstGeom>
          <a:noFill/>
        </p:spPr>
        <p:txBody>
          <a:bodyPr wrap="square" rtlCol="0">
            <a:spAutoFit/>
          </a:bodyPr>
          <a:lstStyle/>
          <a:p>
            <a:fld id="{98C4007C-554A-4B16-A31C-089CB53EF86F}" type="datetime1">
              <a:rPr lang="en-US" sz="1200" b="1" smtClean="0"/>
              <a:t>10/20/2026</a:t>
            </a:fld>
            <a:endParaRPr lang="en-US" sz="1200" b="1" dirty="0"/>
          </a:p>
        </p:txBody>
      </p:sp>
    </p:spTree>
    <p:extLst>
      <p:ext uri="{BB962C8B-B14F-4D97-AF65-F5344CB8AC3E}">
        <p14:creationId xmlns:p14="http://schemas.microsoft.com/office/powerpoint/2010/main" val="4137453564"/>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50" r:id="rId3"/>
    <p:sldLayoutId id="2147483662" r:id="rId4"/>
    <p:sldLayoutId id="2147483651" r:id="rId5"/>
    <p:sldLayoutId id="2147483660"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p:txStyles>
    <p:title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Ø"/>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D120EB-8ED8-3B8D-DE9D-F4CCD166C48C}"/>
              </a:ext>
            </a:extLst>
          </p:cNvPr>
          <p:cNvSpPr txBox="1"/>
          <p:nvPr/>
        </p:nvSpPr>
        <p:spPr>
          <a:xfrm>
            <a:off x="-228600" y="1219200"/>
            <a:ext cx="12420600" cy="2862322"/>
          </a:xfrm>
          <a:prstGeom prst="rect">
            <a:avLst/>
          </a:prstGeom>
          <a:noFill/>
        </p:spPr>
        <p:txBody>
          <a:bodyPr wrap="square" rtlCol="0">
            <a:spAutoFit/>
          </a:bodyPr>
          <a:lstStyle/>
          <a:p>
            <a:pPr algn="ctr"/>
            <a:r>
              <a:rPr lang="en-US" sz="6000" b="1" dirty="0">
                <a:latin typeface="+mj-lt"/>
                <a:ea typeface="DejaVu Sans"/>
                <a:cs typeface="Times New Roman" panose="02020603050405020304" pitchFamily="18" charset="0"/>
              </a:rPr>
              <a:t>ELECTRICITY </a:t>
            </a:r>
            <a:r>
              <a:rPr lang="en-US" sz="6000" b="1" dirty="0">
                <a:latin typeface="+mj-lt"/>
                <a:cs typeface="Times New Roman" panose="02020603050405020304" pitchFamily="18" charset="0"/>
              </a:rPr>
              <a:t>DEMAND </a:t>
            </a:r>
          </a:p>
          <a:p>
            <a:pPr algn="ctr"/>
            <a:r>
              <a:rPr lang="en-US" sz="6000" b="1" dirty="0">
                <a:latin typeface="+mj-lt"/>
                <a:cs typeface="Times New Roman" panose="02020603050405020304" pitchFamily="18" charset="0"/>
              </a:rPr>
              <a:t>FORECASTING</a:t>
            </a:r>
            <a:br>
              <a:rPr lang="en-US" sz="6000" b="1" dirty="0">
                <a:latin typeface="+mj-lt"/>
                <a:cs typeface="Times New Roman" panose="02020603050405020304" pitchFamily="18" charset="0"/>
              </a:rPr>
            </a:br>
            <a:r>
              <a:rPr lang="en-US" sz="6000" b="1" dirty="0">
                <a:latin typeface="+mj-lt"/>
                <a:cs typeface="Times New Roman" panose="02020603050405020304" pitchFamily="18" charset="0"/>
              </a:rPr>
              <a:t>INTELLIGENCE SYSTEM</a:t>
            </a:r>
          </a:p>
        </p:txBody>
      </p:sp>
      <p:sp>
        <p:nvSpPr>
          <p:cNvPr id="3" name="TextBox 2">
            <a:extLst>
              <a:ext uri="{FF2B5EF4-FFF2-40B4-BE49-F238E27FC236}">
                <a16:creationId xmlns:a16="http://schemas.microsoft.com/office/drawing/2014/main" id="{70A489F8-B6C3-294B-83F1-1EF787F25EE5}"/>
              </a:ext>
            </a:extLst>
          </p:cNvPr>
          <p:cNvSpPr txBox="1"/>
          <p:nvPr/>
        </p:nvSpPr>
        <p:spPr>
          <a:xfrm>
            <a:off x="990600" y="5105400"/>
            <a:ext cx="2971800" cy="400110"/>
          </a:xfrm>
          <a:prstGeom prst="rect">
            <a:avLst/>
          </a:prstGeom>
          <a:noFill/>
        </p:spPr>
        <p:txBody>
          <a:bodyPr wrap="square">
            <a:spAutoFit/>
          </a:bodyPr>
          <a:lstStyle/>
          <a:p>
            <a:r>
              <a:rPr lang="en-US" sz="2000" b="1" i="0" u="none" strike="noStrike" cap="all" dirty="0">
                <a:solidFill>
                  <a:srgbClr val="000000"/>
                </a:solidFill>
                <a:effectLst/>
                <a:latin typeface="Adobe Devanagari"/>
              </a:rPr>
              <a:t>IT22069740 | Janahan .r</a:t>
            </a:r>
            <a:r>
              <a:rPr lang="en-US" sz="2000" b="0" i="0" dirty="0">
                <a:solidFill>
                  <a:srgbClr val="000000"/>
                </a:solidFill>
                <a:effectLst/>
                <a:latin typeface="Adobe Devanagari"/>
              </a:rPr>
              <a:t>​</a:t>
            </a:r>
            <a:endParaRPr lang="en-US" sz="2000" dirty="0"/>
          </a:p>
        </p:txBody>
      </p:sp>
      <p:sp>
        <p:nvSpPr>
          <p:cNvPr id="6" name="TextBox 5">
            <a:extLst>
              <a:ext uri="{FF2B5EF4-FFF2-40B4-BE49-F238E27FC236}">
                <a16:creationId xmlns:a16="http://schemas.microsoft.com/office/drawing/2014/main" id="{948E7C54-54D6-7DC3-20C4-99AC9E3B8B6D}"/>
              </a:ext>
            </a:extLst>
          </p:cNvPr>
          <p:cNvSpPr txBox="1"/>
          <p:nvPr/>
        </p:nvSpPr>
        <p:spPr>
          <a:xfrm>
            <a:off x="4360818" y="5105400"/>
            <a:ext cx="3106782" cy="400110"/>
          </a:xfrm>
          <a:prstGeom prst="rect">
            <a:avLst/>
          </a:prstGeom>
          <a:noFill/>
        </p:spPr>
        <p:txBody>
          <a:bodyPr wrap="square">
            <a:spAutoFit/>
          </a:bodyPr>
          <a:lstStyle/>
          <a:p>
            <a:r>
              <a:rPr lang="en-US" sz="2000" b="1" cap="all" dirty="0">
                <a:solidFill>
                  <a:srgbClr val="000000"/>
                </a:solidFill>
                <a:latin typeface="Adobe Devanagari"/>
              </a:rPr>
              <a:t>IT22545176 | Thanujan T</a:t>
            </a:r>
            <a:endParaRPr lang="en-US" sz="2000" dirty="0"/>
          </a:p>
        </p:txBody>
      </p:sp>
      <p:sp>
        <p:nvSpPr>
          <p:cNvPr id="8" name="TextBox 7">
            <a:extLst>
              <a:ext uri="{FF2B5EF4-FFF2-40B4-BE49-F238E27FC236}">
                <a16:creationId xmlns:a16="http://schemas.microsoft.com/office/drawing/2014/main" id="{54C8E396-FCB3-71B8-D8BA-3F637F9A34A8}"/>
              </a:ext>
            </a:extLst>
          </p:cNvPr>
          <p:cNvSpPr txBox="1"/>
          <p:nvPr/>
        </p:nvSpPr>
        <p:spPr>
          <a:xfrm>
            <a:off x="7620000" y="5105400"/>
            <a:ext cx="4114800" cy="400110"/>
          </a:xfrm>
          <a:prstGeom prst="rect">
            <a:avLst/>
          </a:prstGeom>
          <a:noFill/>
        </p:spPr>
        <p:txBody>
          <a:bodyPr wrap="square">
            <a:spAutoFit/>
          </a:bodyPr>
          <a:lstStyle/>
          <a:p>
            <a:r>
              <a:rPr lang="en-US" sz="2000" b="1" dirty="0"/>
              <a:t>IT22273062</a:t>
            </a:r>
            <a:r>
              <a:rPr lang="en-US" sz="2000" b="1" cap="all" dirty="0">
                <a:latin typeface="Adobe Devanagari"/>
              </a:rPr>
              <a:t> | </a:t>
            </a:r>
            <a:r>
              <a:rPr lang="en-US" sz="2000" b="1" dirty="0"/>
              <a:t>MADUSHANI R P</a:t>
            </a:r>
            <a:endParaRPr lang="en-US" sz="2000" dirty="0"/>
          </a:p>
        </p:txBody>
      </p:sp>
      <p:sp>
        <p:nvSpPr>
          <p:cNvPr id="10" name="TextBox 9">
            <a:extLst>
              <a:ext uri="{FF2B5EF4-FFF2-40B4-BE49-F238E27FC236}">
                <a16:creationId xmlns:a16="http://schemas.microsoft.com/office/drawing/2014/main" id="{C28DD783-1678-1D4E-86AD-873F21705E22}"/>
              </a:ext>
            </a:extLst>
          </p:cNvPr>
          <p:cNvSpPr txBox="1"/>
          <p:nvPr/>
        </p:nvSpPr>
        <p:spPr>
          <a:xfrm>
            <a:off x="3733800" y="5943600"/>
            <a:ext cx="6565036" cy="400110"/>
          </a:xfrm>
          <a:prstGeom prst="rect">
            <a:avLst/>
          </a:prstGeom>
          <a:noFill/>
        </p:spPr>
        <p:txBody>
          <a:bodyPr wrap="square">
            <a:spAutoFit/>
          </a:bodyPr>
          <a:lstStyle/>
          <a:p>
            <a:r>
              <a:rPr lang="en-US" sz="2000" b="1" dirty="0"/>
              <a:t>IT22630216 | DEWMINI D.M.D.P.</a:t>
            </a:r>
            <a:endParaRPr lang="en-US" sz="2000" dirty="0"/>
          </a:p>
        </p:txBody>
      </p:sp>
    </p:spTree>
    <p:extLst>
      <p:ext uri="{BB962C8B-B14F-4D97-AF65-F5344CB8AC3E}">
        <p14:creationId xmlns:p14="http://schemas.microsoft.com/office/powerpoint/2010/main" val="771518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dirty="0"/>
              <a:t>Problem in Brief &amp; Our Overall Solution</a:t>
            </a:r>
          </a:p>
        </p:txBody>
      </p:sp>
      <p:sp>
        <p:nvSpPr>
          <p:cNvPr id="3" name="TextBox 2"/>
          <p:cNvSpPr txBox="1"/>
          <p:nvPr/>
        </p:nvSpPr>
        <p:spPr>
          <a:xfrm>
            <a:off x="365760" y="1188720"/>
            <a:ext cx="4663440" cy="365760"/>
          </a:xfrm>
          <a:prstGeom prst="rect">
            <a:avLst/>
          </a:prstGeom>
          <a:noFill/>
        </p:spPr>
        <p:txBody>
          <a:bodyPr wrap="square" lIns="45720" rIns="45720" anchor="t">
            <a:spAutoFit/>
          </a:bodyPr>
          <a:lstStyle/>
          <a:p>
            <a:pPr marL="0" indent="0">
              <a:buNone/>
            </a:pPr>
            <a:r>
              <a:rPr sz="1800" b="1">
                <a:solidFill>
                  <a:srgbClr val="0F6FC6"/>
                </a:solidFill>
              </a:rPr>
              <a:t>Problem in brief</a:t>
            </a:r>
          </a:p>
        </p:txBody>
      </p:sp>
      <p:sp>
        <p:nvSpPr>
          <p:cNvPr id="4" name="TextBox 3"/>
          <p:cNvSpPr txBox="1"/>
          <p:nvPr/>
        </p:nvSpPr>
        <p:spPr>
          <a:xfrm>
            <a:off x="365760" y="1600200"/>
            <a:ext cx="4663440" cy="1608133"/>
          </a:xfrm>
          <a:prstGeom prst="rect">
            <a:avLst/>
          </a:prstGeom>
          <a:noFill/>
        </p:spPr>
        <p:txBody>
          <a:bodyPr wrap="square" lIns="45720" rIns="45720" anchor="t">
            <a:spAutoFit/>
          </a:bodyPr>
          <a:lstStyle/>
          <a:p>
            <a:pPr marL="256032" indent="-228600">
              <a:spcAft>
                <a:spcPts val="500"/>
              </a:spcAft>
              <a:buChar char="•"/>
            </a:pPr>
            <a:r>
              <a:rPr lang="en-US" dirty="0"/>
              <a:t>​​Point forecasts hide operating risk​</a:t>
            </a:r>
          </a:p>
          <a:p>
            <a:pPr marL="256032" indent="-228600">
              <a:spcAft>
                <a:spcPts val="500"/>
              </a:spcAft>
              <a:buChar char="•"/>
            </a:pPr>
            <a:r>
              <a:rPr sz="1600" dirty="0"/>
              <a:t>Demand shifts with weather, weekdays, holidays and Poya days</a:t>
            </a:r>
            <a:endParaRPr lang="en-US" sz="1600" dirty="0"/>
          </a:p>
          <a:p>
            <a:pPr marL="256032" indent="-228600">
              <a:spcAft>
                <a:spcPts val="500"/>
              </a:spcAft>
              <a:buChar char="•"/>
            </a:pPr>
            <a:r>
              <a:rPr lang="en-US" dirty="0"/>
              <a:t>Numbers alone lack </a:t>
            </a:r>
            <a:r>
              <a:rPr lang="en-US" dirty="0" err="1"/>
              <a:t>behavioural</a:t>
            </a:r>
            <a:r>
              <a:rPr lang="en-US" dirty="0"/>
              <a:t> context​	</a:t>
            </a:r>
          </a:p>
          <a:p>
            <a:pPr marL="256032" indent="-228600">
              <a:spcAft>
                <a:spcPts val="500"/>
              </a:spcAft>
              <a:buChar char="•"/>
            </a:pPr>
            <a:r>
              <a:rPr lang="en-US" dirty="0"/>
              <a:t>Separate tools weaken decision flow​</a:t>
            </a:r>
            <a:endParaRPr sz="1600" dirty="0"/>
          </a:p>
        </p:txBody>
      </p:sp>
      <p:sp>
        <p:nvSpPr>
          <p:cNvPr id="5" name="TextBox 4"/>
          <p:cNvSpPr txBox="1"/>
          <p:nvPr/>
        </p:nvSpPr>
        <p:spPr>
          <a:xfrm>
            <a:off x="365760" y="3383280"/>
            <a:ext cx="4709160" cy="365760"/>
          </a:xfrm>
          <a:prstGeom prst="rect">
            <a:avLst/>
          </a:prstGeom>
          <a:noFill/>
        </p:spPr>
        <p:txBody>
          <a:bodyPr wrap="square" lIns="45720" rIns="45720" anchor="t">
            <a:spAutoFit/>
          </a:bodyPr>
          <a:lstStyle/>
          <a:p>
            <a:pPr marL="0" indent="0">
              <a:buNone/>
            </a:pPr>
            <a:r>
              <a:rPr sz="1800" b="1">
                <a:solidFill>
                  <a:srgbClr val="0F6FC6"/>
                </a:solidFill>
              </a:rPr>
              <a:t>Design excellence of the overall solution</a:t>
            </a:r>
          </a:p>
        </p:txBody>
      </p:sp>
      <p:sp>
        <p:nvSpPr>
          <p:cNvPr id="6" name="TextBox 5"/>
          <p:cNvSpPr txBox="1"/>
          <p:nvPr/>
        </p:nvSpPr>
        <p:spPr>
          <a:xfrm>
            <a:off x="365760" y="3840480"/>
            <a:ext cx="4663440" cy="2377440"/>
          </a:xfrm>
          <a:prstGeom prst="rect">
            <a:avLst/>
          </a:prstGeom>
          <a:noFill/>
        </p:spPr>
        <p:txBody>
          <a:bodyPr wrap="square" lIns="45720" rIns="45720" anchor="t">
            <a:spAutoFit/>
          </a:bodyPr>
          <a:lstStyle/>
          <a:p>
            <a:pPr marL="256032" indent="-228600">
              <a:spcAft>
                <a:spcPts val="500"/>
              </a:spcAft>
              <a:buChar char="•"/>
            </a:pPr>
            <a:r>
              <a:rPr sz="1600"/>
              <a:t>One login and one dashboard: behaviour, forecast, what-if, why</a:t>
            </a:r>
          </a:p>
          <a:p>
            <a:pPr marL="256032" indent="-228600">
              <a:spcAft>
                <a:spcPts val="500"/>
              </a:spcAft>
              <a:buChar char="•"/>
            </a:pPr>
            <a:r>
              <a:rPr sz="1600"/>
              <a:t>Every model validated: ground truth, cross-validation, significance, coverage</a:t>
            </a:r>
          </a:p>
          <a:p>
            <a:pPr marL="256032" indent="-228600">
              <a:spcAft>
                <a:spcPts val="500"/>
              </a:spcAft>
              <a:buChar char="•"/>
            </a:pPr>
            <a:r>
              <a:rPr sz="1600"/>
              <a:t>Uncertainty shown as ranges and likelihoods, never false certainty</a:t>
            </a:r>
          </a:p>
          <a:p>
            <a:pPr marL="256032" indent="-228600">
              <a:spcAft>
                <a:spcPts val="500"/>
              </a:spcAft>
              <a:buChar char="•"/>
            </a:pPr>
            <a:r>
              <a:rPr sz="1600"/>
              <a:t>Abnormal day → one click to its LIME explanation</a:t>
            </a:r>
          </a:p>
        </p:txBody>
      </p:sp>
      <p:pic>
        <p:nvPicPr>
          <p:cNvPr id="8" name="Picture 7">
            <a:extLst>
              <a:ext uri="{FF2B5EF4-FFF2-40B4-BE49-F238E27FC236}">
                <a16:creationId xmlns:a16="http://schemas.microsoft.com/office/drawing/2014/main" id="{24DC7B81-192C-F396-F7BD-CEDC3061647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891453" y="2057400"/>
            <a:ext cx="6097347" cy="329793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PP2 Comments and Actions Taken</a:t>
            </a:r>
          </a:p>
        </p:txBody>
      </p:sp>
      <p:graphicFrame>
        <p:nvGraphicFramePr>
          <p:cNvPr id="3" name="Table 2"/>
          <p:cNvGraphicFramePr>
            <a:graphicFrameLocks noGrp="1"/>
          </p:cNvGraphicFramePr>
          <p:nvPr>
            <p:extLst>
              <p:ext uri="{D42A27DB-BD31-4B8C-83A1-F6EECF244321}">
                <p14:modId xmlns:p14="http://schemas.microsoft.com/office/powerpoint/2010/main" val="1840480716"/>
              </p:ext>
            </p:extLst>
          </p:nvPr>
        </p:nvGraphicFramePr>
        <p:xfrm>
          <a:off x="365760" y="1234440"/>
          <a:ext cx="11430000" cy="4151376"/>
        </p:xfrm>
        <a:graphic>
          <a:graphicData uri="http://schemas.openxmlformats.org/drawingml/2006/table">
            <a:tbl>
              <a:tblPr firstRow="1" bandRow="1">
                <a:tableStyleId>{073A0DAA-6AF3-43AB-8588-CEC1D06C72B9}</a:tableStyleId>
              </a:tblPr>
              <a:tblGrid>
                <a:gridCol w="21488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971800">
                  <a:extLst>
                    <a:ext uri="{9D8B030D-6E8A-4147-A177-3AD203B41FA5}">
                      <a16:colId xmlns:a16="http://schemas.microsoft.com/office/drawing/2014/main" val="20003"/>
                    </a:ext>
                  </a:extLst>
                </a:gridCol>
              </a:tblGrid>
              <a:tr h="502920">
                <a:tc>
                  <a:txBody>
                    <a:bodyPr/>
                    <a:lstStyle/>
                    <a:p>
                      <a:r>
                        <a:rPr sz="1600" b="1"/>
                        <a:t>Member / component</a:t>
                      </a:r>
                    </a:p>
                  </a:txBody>
                  <a:tcPr marL="54864" marR="54864" marT="27432" marB="27432"/>
                </a:tc>
                <a:tc>
                  <a:txBody>
                    <a:bodyPr/>
                    <a:lstStyle/>
                    <a:p>
                      <a:r>
                        <a:rPr sz="1600" b="1"/>
                        <a:t>PP2 comment</a:t>
                      </a:r>
                    </a:p>
                  </a:txBody>
                  <a:tcPr marL="54864" marR="54864" marT="27432" marB="27432"/>
                </a:tc>
                <a:tc>
                  <a:txBody>
                    <a:bodyPr/>
                    <a:lstStyle/>
                    <a:p>
                      <a:r>
                        <a:rPr sz="1600" b="1"/>
                        <a:t>What we did</a:t>
                      </a:r>
                    </a:p>
                  </a:txBody>
                  <a:tcPr marL="54864" marR="54864" marT="27432" marB="27432"/>
                </a:tc>
                <a:tc>
                  <a:txBody>
                    <a:bodyPr/>
                    <a:lstStyle/>
                    <a:p>
                      <a:r>
                        <a:rPr sz="1600" b="1"/>
                        <a:t>Evidence / impact</a:t>
                      </a:r>
                    </a:p>
                  </a:txBody>
                  <a:tcPr marL="54864" marR="54864" marT="27432" marB="27432"/>
                </a:tc>
                <a:extLst>
                  <a:ext uri="{0D108BD9-81ED-4DB2-BD59-A6C34878D82A}">
                    <a16:rowId xmlns:a16="http://schemas.microsoft.com/office/drawing/2014/main" val="10000"/>
                  </a:ext>
                </a:extLst>
              </a:tr>
              <a:tr h="502920">
                <a:tc>
                  <a:txBody>
                    <a:bodyPr/>
                    <a:lstStyle/>
                    <a:p>
                      <a:r>
                        <a:rPr sz="1500" b="1"/>
                        <a:t>IT22545176 Thanujan</a:t>
                      </a:r>
                    </a:p>
                    <a:p>
                      <a:r>
                        <a:rPr sz="1500" b="1"/>
                        <a:t>Behaviour Intelligence</a:t>
                      </a:r>
                    </a:p>
                  </a:txBody>
                  <a:tcPr marL="54864" marR="54864" marT="27432" marB="27432"/>
                </a:tc>
                <a:tc>
                  <a:txBody>
                    <a:bodyPr/>
                    <a:lstStyle/>
                    <a:p>
                      <a:r>
                        <a:rPr sz="1500" b="0"/>
                        <a:t>Moderate idea of clustering; why these models; which parameters and why; needs fine-tuning</a:t>
                      </a:r>
                    </a:p>
                  </a:txBody>
                  <a:tcPr marL="54864" marR="54864" marT="27432" marB="27432"/>
                </a:tc>
                <a:tc>
                  <a:txBody>
                    <a:bodyPr/>
                    <a:lstStyle/>
                    <a:p>
                      <a:r>
                        <a:rPr sz="1500" b="0"/>
                        <a:t>Tuned every parameter with unsupervised criteria, then validated against known ground truth (notebook 07)</a:t>
                      </a:r>
                    </a:p>
                  </a:txBody>
                  <a:tcPr marL="54864" marR="54864" marT="27432" marB="27432"/>
                </a:tc>
                <a:tc>
                  <a:txBody>
                    <a:bodyPr/>
                    <a:lstStyle/>
                    <a:p>
                      <a:r>
                        <a:rPr sz="1500" b="0"/>
                        <a:t>k = 2 chosen by 3 indices (ARI 0.965 vs weekday/weekend); Isolation Forest P = R = F1 = 1.00</a:t>
                      </a:r>
                    </a:p>
                  </a:txBody>
                  <a:tcPr marL="54864" marR="54864" marT="27432" marB="27432"/>
                </a:tc>
                <a:extLst>
                  <a:ext uri="{0D108BD9-81ED-4DB2-BD59-A6C34878D82A}">
                    <a16:rowId xmlns:a16="http://schemas.microsoft.com/office/drawing/2014/main" val="10001"/>
                  </a:ext>
                </a:extLst>
              </a:tr>
              <a:tr h="502920">
                <a:tc>
                  <a:txBody>
                    <a:bodyPr/>
                    <a:lstStyle/>
                    <a:p>
                      <a:r>
                        <a:rPr sz="1500" b="1"/>
                        <a:t>IT22069740 Janahan</a:t>
                      </a:r>
                    </a:p>
                    <a:p>
                      <a:r>
                        <a:rPr sz="1500" b="1"/>
                        <a:t>Neural Forecasting</a:t>
                      </a:r>
                    </a:p>
                  </a:txBody>
                  <a:tcPr marL="54864" marR="54864" marT="27432" marB="27432"/>
                </a:tc>
                <a:tc>
                  <a:txBody>
                    <a:bodyPr/>
                    <a:lstStyle/>
                    <a:p>
                      <a:r>
                        <a:rPr sz="1500" b="0"/>
                        <a:t>Moderate idea of models; needs clear parameter considerations; elaborate on optimisation</a:t>
                      </a:r>
                    </a:p>
                  </a:txBody>
                  <a:tcPr marL="54864" marR="54864" marT="27432" marB="27432"/>
                </a:tc>
                <a:tc>
                  <a:txBody>
                    <a:bodyPr/>
                    <a:lstStyle/>
                    <a:p>
                      <a:r>
                        <a:rPr sz="1500" b="0"/>
                        <a:t>7 architectures on one protocol; documented lookback, features, loss, optimiser; early stopping + learning-rate schedule</a:t>
                      </a:r>
                    </a:p>
                  </a:txBody>
                  <a:tcPr marL="54864" marR="54864" marT="27432" marB="27432"/>
                </a:tc>
                <a:tc>
                  <a:txBody>
                    <a:bodyPr/>
                    <a:lstStyle/>
                    <a:p>
                      <a:r>
                        <a:rPr sz="1500" b="0"/>
                        <a:t>Best MAE 20.46 kW (R² 0.974); significance tests; calibrated 95% band covers 96.3%</a:t>
                      </a:r>
                    </a:p>
                  </a:txBody>
                  <a:tcPr marL="54864" marR="54864" marT="27432" marB="27432"/>
                </a:tc>
                <a:extLst>
                  <a:ext uri="{0D108BD9-81ED-4DB2-BD59-A6C34878D82A}">
                    <a16:rowId xmlns:a16="http://schemas.microsoft.com/office/drawing/2014/main" val="10002"/>
                  </a:ext>
                </a:extLst>
              </a:tr>
              <a:tr h="502920">
                <a:tc>
                  <a:txBody>
                    <a:bodyPr/>
                    <a:lstStyle/>
                    <a:p>
                      <a:r>
                        <a:rPr sz="1500" b="1"/>
                        <a:t>IT22630216 Dewmini</a:t>
                      </a:r>
                    </a:p>
                    <a:p>
                      <a:r>
                        <a:rPr sz="1500" b="1"/>
                        <a:t>Demand Forecasting</a:t>
                      </a:r>
                    </a:p>
                  </a:txBody>
                  <a:tcPr marL="54864" marR="54864" marT="27432" marB="27432"/>
                </a:tc>
                <a:tc>
                  <a:txBody>
                    <a:bodyPr/>
                    <a:lstStyle/>
                    <a:p>
                      <a:r>
                        <a:rPr sz="1500" b="0"/>
                        <a:t>Lacks idea of models used; needs parameter optimisation and a model comparison</a:t>
                      </a:r>
                    </a:p>
                  </a:txBody>
                  <a:tcPr marL="54864" marR="54864" marT="27432" marB="27432"/>
                </a:tc>
                <a:tc>
                  <a:txBody>
                    <a:bodyPr/>
                    <a:lstStyle/>
                    <a:p>
                      <a:r>
                        <a:rPr sz="1500" b="0"/>
                        <a:t>Linear Regression vs Random Forest vs Gradient Boosting on the same split; Optuna tuning (20 trials, 6 parameters)</a:t>
                      </a:r>
                    </a:p>
                  </a:txBody>
                  <a:tcPr marL="54864" marR="54864" marT="27432" marB="27432"/>
                </a:tc>
                <a:tc>
                  <a:txBody>
                    <a:bodyPr/>
                    <a:lstStyle/>
                    <a:p>
                      <a:r>
                        <a:rPr sz="1500" b="0" dirty="0"/>
                        <a:t>Gradient Boosting R² 0.824 vs 0.777 (RF) and 0.438 (LR); MAE 91.8 kW</a:t>
                      </a:r>
                    </a:p>
                  </a:txBody>
                  <a:tcPr marL="54864" marR="54864" marT="27432" marB="27432"/>
                </a:tc>
                <a:extLst>
                  <a:ext uri="{0D108BD9-81ED-4DB2-BD59-A6C34878D82A}">
                    <a16:rowId xmlns:a16="http://schemas.microsoft.com/office/drawing/2014/main" val="10003"/>
                  </a:ext>
                </a:extLst>
              </a:tr>
              <a:tr h="502920">
                <a:tc>
                  <a:txBody>
                    <a:bodyPr/>
                    <a:lstStyle/>
                    <a:p>
                      <a:r>
                        <a:rPr sz="1500" b="1"/>
                        <a:t>IT22273062 Madushani</a:t>
                      </a:r>
                    </a:p>
                    <a:p>
                      <a:r>
                        <a:rPr sz="1500" b="1"/>
                        <a:t>Explainable AI</a:t>
                      </a:r>
                    </a:p>
                  </a:txBody>
                  <a:tcPr marL="54864" marR="54864" marT="27432" marB="27432"/>
                </a:tc>
                <a:tc>
                  <a:txBody>
                    <a:bodyPr/>
                    <a:lstStyle/>
                    <a:p>
                      <a:r>
                        <a:rPr sz="1500" b="0"/>
                        <a:t>Lacks idea of models used; needs model architecture; model comparison needed</a:t>
                      </a:r>
                    </a:p>
                  </a:txBody>
                  <a:tcPr marL="54864" marR="54864" marT="27432" marB="27432"/>
                </a:tc>
                <a:tc>
                  <a:txBody>
                    <a:bodyPr/>
                    <a:lstStyle/>
                    <a:p>
                      <a:r>
                        <a:rPr sz="1500" b="0"/>
                        <a:t>Model table + XGBoost architecture diagram; 4-model comparison and SHAP vs LIME comparison</a:t>
                      </a:r>
                    </a:p>
                  </a:txBody>
                  <a:tcPr marL="54864" marR="54864" marT="27432" marB="27432"/>
                </a:tc>
                <a:tc>
                  <a:txBody>
                    <a:bodyPr/>
                    <a:lstStyle/>
                    <a:p>
                      <a:r>
                        <a:rPr sz="1500" b="0" dirty="0" err="1"/>
                        <a:t>XGBoost</a:t>
                      </a:r>
                      <a:r>
                        <a:rPr sz="1500" b="0" dirty="0"/>
                        <a:t> RMSE 2.02 kW; SHAP matches the true effect (r = 0.99994)</a:t>
                      </a:r>
                    </a:p>
                  </a:txBody>
                  <a:tcPr marL="54864" marR="54864" marT="27432" marB="27432"/>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Results, Testimonials, Limitations &amp; Future Improvements</a:t>
            </a:r>
          </a:p>
        </p:txBody>
      </p:sp>
      <p:sp>
        <p:nvSpPr>
          <p:cNvPr id="3" name="TextBox 2"/>
          <p:cNvSpPr txBox="1"/>
          <p:nvPr/>
        </p:nvSpPr>
        <p:spPr>
          <a:xfrm>
            <a:off x="365760" y="1143000"/>
            <a:ext cx="6949440" cy="365760"/>
          </a:xfrm>
          <a:prstGeom prst="rect">
            <a:avLst/>
          </a:prstGeom>
          <a:noFill/>
        </p:spPr>
        <p:txBody>
          <a:bodyPr wrap="square" lIns="45720" rIns="45720" anchor="t">
            <a:spAutoFit/>
          </a:bodyPr>
          <a:lstStyle/>
          <a:p>
            <a:pPr marL="0" indent="0">
              <a:buNone/>
            </a:pPr>
            <a:r>
              <a:rPr sz="1800" b="1">
                <a:solidFill>
                  <a:srgbClr val="0F6FC6"/>
                </a:solidFill>
              </a:rPr>
              <a:t>Benchmark tests &amp; accuracy (held-out data)</a:t>
            </a:r>
          </a:p>
        </p:txBody>
      </p:sp>
      <p:graphicFrame>
        <p:nvGraphicFramePr>
          <p:cNvPr id="4" name="Table 3"/>
          <p:cNvGraphicFramePr>
            <a:graphicFrameLocks noGrp="1"/>
          </p:cNvGraphicFramePr>
          <p:nvPr/>
        </p:nvGraphicFramePr>
        <p:xfrm>
          <a:off x="365760" y="1554480"/>
          <a:ext cx="6949440" cy="2731008"/>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r>
                        <a:rPr sz="1400" b="1"/>
                        <a:t>Component</a:t>
                      </a:r>
                    </a:p>
                  </a:txBody>
                  <a:tcPr marL="54864" marR="54864" marT="27432" marB="27432"/>
                </a:tc>
                <a:tc>
                  <a:txBody>
                    <a:bodyPr/>
                    <a:lstStyle/>
                    <a:p>
                      <a:r>
                        <a:rPr sz="1400" b="1"/>
                        <a:t>Benchmark</a:t>
                      </a:r>
                    </a:p>
                  </a:txBody>
                  <a:tcPr marL="54864" marR="54864" marT="27432" marB="27432"/>
                </a:tc>
                <a:tc>
                  <a:txBody>
                    <a:bodyPr/>
                    <a:lstStyle/>
                    <a:p>
                      <a:r>
                        <a:rPr sz="1400" b="1"/>
                        <a:t>Result</a:t>
                      </a:r>
                    </a:p>
                  </a:txBody>
                  <a:tcPr marL="54864" marR="54864" marT="27432" marB="27432"/>
                </a:tc>
                <a:extLst>
                  <a:ext uri="{0D108BD9-81ED-4DB2-BD59-A6C34878D82A}">
                    <a16:rowId xmlns:a16="http://schemas.microsoft.com/office/drawing/2014/main" val="10000"/>
                  </a:ext>
                </a:extLst>
              </a:tr>
              <a:tr h="365760">
                <a:tc>
                  <a:txBody>
                    <a:bodyPr/>
                    <a:lstStyle/>
                    <a:p>
                      <a:r>
                        <a:rPr sz="1300" b="0"/>
                        <a:t>Behaviour Intelligence</a:t>
                      </a:r>
                    </a:p>
                  </a:txBody>
                  <a:tcPr marL="54864" marR="54864" marT="27432" marB="27432"/>
                </a:tc>
                <a:tc>
                  <a:txBody>
                    <a:bodyPr/>
                    <a:lstStyle/>
                    <a:p>
                      <a:r>
                        <a:rPr sz="1300" b="0"/>
                        <a:t>Anomalies vs 60 known injected days</a:t>
                      </a:r>
                    </a:p>
                  </a:txBody>
                  <a:tcPr marL="54864" marR="54864" marT="27432" marB="27432"/>
                </a:tc>
                <a:tc>
                  <a:txBody>
                    <a:bodyPr/>
                    <a:lstStyle/>
                    <a:p>
                      <a:r>
                        <a:rPr sz="1300" b="0"/>
                        <a:t>P = R = F1 = 1.00</a:t>
                      </a:r>
                    </a:p>
                  </a:txBody>
                  <a:tcPr marL="54864" marR="54864" marT="27432" marB="27432"/>
                </a:tc>
                <a:extLst>
                  <a:ext uri="{0D108BD9-81ED-4DB2-BD59-A6C34878D82A}">
                    <a16:rowId xmlns:a16="http://schemas.microsoft.com/office/drawing/2014/main" val="10001"/>
                  </a:ext>
                </a:extLst>
              </a:tr>
              <a:tr h="365760">
                <a:tc>
                  <a:txBody>
                    <a:bodyPr/>
                    <a:lstStyle/>
                    <a:p>
                      <a:r>
                        <a:rPr sz="1300" b="0"/>
                        <a:t>Behaviour Intelligence</a:t>
                      </a:r>
                    </a:p>
                  </a:txBody>
                  <a:tcPr marL="54864" marR="54864" marT="27432" marB="27432"/>
                </a:tc>
                <a:tc>
                  <a:txBody>
                    <a:bodyPr/>
                    <a:lstStyle/>
                    <a:p>
                      <a:r>
                        <a:rPr sz="1300" b="0"/>
                        <a:t>Future label back-test (364 days)</a:t>
                      </a:r>
                    </a:p>
                  </a:txBody>
                  <a:tcPr marL="54864" marR="54864" marT="27432" marB="27432"/>
                </a:tc>
                <a:tc>
                  <a:txBody>
                    <a:bodyPr/>
                    <a:lstStyle/>
                    <a:p>
                      <a:r>
                        <a:rPr sz="1300" b="0"/>
                        <a:t>83.5% vs 62.4% baseline</a:t>
                      </a:r>
                    </a:p>
                  </a:txBody>
                  <a:tcPr marL="54864" marR="54864" marT="27432" marB="27432"/>
                </a:tc>
                <a:extLst>
                  <a:ext uri="{0D108BD9-81ED-4DB2-BD59-A6C34878D82A}">
                    <a16:rowId xmlns:a16="http://schemas.microsoft.com/office/drawing/2014/main" val="10002"/>
                  </a:ext>
                </a:extLst>
              </a:tr>
              <a:tr h="365760">
                <a:tc>
                  <a:txBody>
                    <a:bodyPr/>
                    <a:lstStyle/>
                    <a:p>
                      <a:r>
                        <a:rPr sz="1300" b="0"/>
                        <a:t>Neural Forecasting</a:t>
                      </a:r>
                    </a:p>
                  </a:txBody>
                  <a:tcPr marL="54864" marR="54864" marT="27432" marB="27432"/>
                </a:tc>
                <a:tc>
                  <a:txBody>
                    <a:bodyPr/>
                    <a:lstStyle/>
                    <a:p>
                      <a:r>
                        <a:rPr sz="1300" b="0"/>
                        <a:t>6 models, 18,817 test windows</a:t>
                      </a:r>
                    </a:p>
                  </a:txBody>
                  <a:tcPr marL="54864" marR="54864" marT="27432" marB="27432"/>
                </a:tc>
                <a:tc>
                  <a:txBody>
                    <a:bodyPr/>
                    <a:lstStyle/>
                    <a:p>
                      <a:r>
                        <a:rPr sz="1300" b="0"/>
                        <a:t>MAE 20.46 kW, R² 0.974</a:t>
                      </a:r>
                    </a:p>
                  </a:txBody>
                  <a:tcPr marL="54864" marR="54864" marT="27432" marB="27432"/>
                </a:tc>
                <a:extLst>
                  <a:ext uri="{0D108BD9-81ED-4DB2-BD59-A6C34878D82A}">
                    <a16:rowId xmlns:a16="http://schemas.microsoft.com/office/drawing/2014/main" val="10003"/>
                  </a:ext>
                </a:extLst>
              </a:tr>
              <a:tr h="365760">
                <a:tc>
                  <a:txBody>
                    <a:bodyPr/>
                    <a:lstStyle/>
                    <a:p>
                      <a:r>
                        <a:rPr sz="1300" b="0"/>
                        <a:t>Demand Forecasting</a:t>
                      </a:r>
                    </a:p>
                  </a:txBody>
                  <a:tcPr marL="54864" marR="54864" marT="27432" marB="27432"/>
                </a:tc>
                <a:tc>
                  <a:txBody>
                    <a:bodyPr/>
                    <a:lstStyle/>
                    <a:p>
                      <a:r>
                        <a:rPr sz="1300" b="0"/>
                        <a:t>Unseen test set (37,978 rows)</a:t>
                      </a:r>
                    </a:p>
                  </a:txBody>
                  <a:tcPr marL="54864" marR="54864" marT="27432" marB="27432"/>
                </a:tc>
                <a:tc>
                  <a:txBody>
                    <a:bodyPr/>
                    <a:lstStyle/>
                    <a:p>
                      <a:r>
                        <a:rPr sz="1300" b="0"/>
                        <a:t>R² 0.824, MAE 91.8 kW</a:t>
                      </a:r>
                    </a:p>
                  </a:txBody>
                  <a:tcPr marL="54864" marR="54864" marT="27432" marB="27432"/>
                </a:tc>
                <a:extLst>
                  <a:ext uri="{0D108BD9-81ED-4DB2-BD59-A6C34878D82A}">
                    <a16:rowId xmlns:a16="http://schemas.microsoft.com/office/drawing/2014/main" val="10004"/>
                  </a:ext>
                </a:extLst>
              </a:tr>
              <a:tr h="365760">
                <a:tc>
                  <a:txBody>
                    <a:bodyPr/>
                    <a:lstStyle/>
                    <a:p>
                      <a:r>
                        <a:rPr sz="1300" b="0"/>
                        <a:t>Explainable AI</a:t>
                      </a:r>
                    </a:p>
                  </a:txBody>
                  <a:tcPr marL="54864" marR="54864" marT="27432" marB="27432"/>
                </a:tc>
                <a:tc>
                  <a:txBody>
                    <a:bodyPr/>
                    <a:lstStyle/>
                    <a:p>
                      <a:r>
                        <a:rPr sz="1300" b="0"/>
                        <a:t>SHAP vs known true effect</a:t>
                      </a:r>
                    </a:p>
                  </a:txBody>
                  <a:tcPr marL="54864" marR="54864" marT="27432" marB="27432"/>
                </a:tc>
                <a:tc>
                  <a:txBody>
                    <a:bodyPr/>
                    <a:lstStyle/>
                    <a:p>
                      <a:r>
                        <a:rPr sz="1300" b="0"/>
                        <a:t>r = 0.99994</a:t>
                      </a:r>
                    </a:p>
                  </a:txBody>
                  <a:tcPr marL="54864" marR="54864" marT="27432" marB="27432"/>
                </a:tc>
                <a:extLst>
                  <a:ext uri="{0D108BD9-81ED-4DB2-BD59-A6C34878D82A}">
                    <a16:rowId xmlns:a16="http://schemas.microsoft.com/office/drawing/2014/main" val="10005"/>
                  </a:ext>
                </a:extLst>
              </a:tr>
              <a:tr h="365760">
                <a:tc>
                  <a:txBody>
                    <a:bodyPr/>
                    <a:lstStyle/>
                    <a:p>
                      <a:r>
                        <a:rPr sz="1300" b="0"/>
                        <a:t>Integrated system</a:t>
                      </a:r>
                    </a:p>
                  </a:txBody>
                  <a:tcPr marL="54864" marR="54864" marT="27432" marB="27432"/>
                </a:tc>
                <a:tc>
                  <a:txBody>
                    <a:bodyPr/>
                    <a:lstStyle/>
                    <a:p>
                      <a:r>
                        <a:rPr sz="1300" b="0"/>
                        <a:t>Automated UI test: login, LIME link, all pages</a:t>
                      </a:r>
                    </a:p>
                  </a:txBody>
                  <a:tcPr marL="54864" marR="54864" marT="27432" marB="27432"/>
                </a:tc>
                <a:tc>
                  <a:txBody>
                    <a:bodyPr/>
                    <a:lstStyle/>
                    <a:p>
                      <a:r>
                        <a:rPr sz="1300" b="0"/>
                        <a:t>44 / 44 checks passed</a:t>
                      </a:r>
                    </a:p>
                  </a:txBody>
                  <a:tcPr marL="54864" marR="54864" marT="27432" marB="27432"/>
                </a:tc>
                <a:extLst>
                  <a:ext uri="{0D108BD9-81ED-4DB2-BD59-A6C34878D82A}">
                    <a16:rowId xmlns:a16="http://schemas.microsoft.com/office/drawing/2014/main" val="10006"/>
                  </a:ext>
                </a:extLst>
              </a:tr>
            </a:tbl>
          </a:graphicData>
        </a:graphic>
      </p:graphicFrame>
      <p:sp>
        <p:nvSpPr>
          <p:cNvPr id="6" name="TextBox 5"/>
          <p:cNvSpPr txBox="1"/>
          <p:nvPr/>
        </p:nvSpPr>
        <p:spPr>
          <a:xfrm>
            <a:off x="7635240" y="1143000"/>
            <a:ext cx="4297680" cy="365760"/>
          </a:xfrm>
          <a:prstGeom prst="rect">
            <a:avLst/>
          </a:prstGeom>
          <a:noFill/>
        </p:spPr>
        <p:txBody>
          <a:bodyPr wrap="square" lIns="45720" rIns="45720" anchor="t">
            <a:spAutoFit/>
          </a:bodyPr>
          <a:lstStyle/>
          <a:p>
            <a:pPr marL="0" indent="0">
              <a:buNone/>
            </a:pPr>
            <a:r>
              <a:rPr sz="1800" b="1">
                <a:solidFill>
                  <a:srgbClr val="0F6FC6"/>
                </a:solidFill>
              </a:rPr>
              <a:t>Limitations</a:t>
            </a:r>
          </a:p>
        </p:txBody>
      </p:sp>
      <p:sp>
        <p:nvSpPr>
          <p:cNvPr id="7" name="TextBox 6"/>
          <p:cNvSpPr txBox="1"/>
          <p:nvPr/>
        </p:nvSpPr>
        <p:spPr>
          <a:xfrm>
            <a:off x="7635240" y="1554480"/>
            <a:ext cx="4297680" cy="605294"/>
          </a:xfrm>
          <a:prstGeom prst="rect">
            <a:avLst/>
          </a:prstGeom>
          <a:noFill/>
        </p:spPr>
        <p:txBody>
          <a:bodyPr wrap="square" lIns="45720" rIns="45720" anchor="t">
            <a:spAutoFit/>
          </a:bodyPr>
          <a:lstStyle/>
          <a:p>
            <a:pPr marL="27432">
              <a:spcAft>
                <a:spcPts val="400"/>
              </a:spcAft>
            </a:pPr>
            <a:endParaRPr sz="1500" dirty="0"/>
          </a:p>
          <a:p>
            <a:pPr marL="256032" indent="-228600">
              <a:spcAft>
                <a:spcPts val="400"/>
              </a:spcAft>
              <a:buChar char="•"/>
            </a:pPr>
            <a:r>
              <a:rPr sz="1500" dirty="0"/>
              <a:t>Historical data only: no live SCADA feed yet</a:t>
            </a:r>
          </a:p>
        </p:txBody>
      </p:sp>
      <p:sp>
        <p:nvSpPr>
          <p:cNvPr id="8" name="TextBox 7"/>
          <p:cNvSpPr txBox="1"/>
          <p:nvPr/>
        </p:nvSpPr>
        <p:spPr>
          <a:xfrm>
            <a:off x="7635240" y="3566160"/>
            <a:ext cx="4297680" cy="365760"/>
          </a:xfrm>
          <a:prstGeom prst="rect">
            <a:avLst/>
          </a:prstGeom>
          <a:noFill/>
        </p:spPr>
        <p:txBody>
          <a:bodyPr wrap="square" lIns="45720" rIns="45720" anchor="t">
            <a:spAutoFit/>
          </a:bodyPr>
          <a:lstStyle/>
          <a:p>
            <a:pPr marL="0" indent="0">
              <a:buNone/>
            </a:pPr>
            <a:r>
              <a:rPr sz="1800" b="1">
                <a:solidFill>
                  <a:srgbClr val="0F6FC6"/>
                </a:solidFill>
              </a:rPr>
              <a:t>Future improvements</a:t>
            </a:r>
          </a:p>
        </p:txBody>
      </p:sp>
      <p:sp>
        <p:nvSpPr>
          <p:cNvPr id="9" name="TextBox 8"/>
          <p:cNvSpPr txBox="1"/>
          <p:nvPr/>
        </p:nvSpPr>
        <p:spPr>
          <a:xfrm>
            <a:off x="7635240" y="3977639"/>
            <a:ext cx="4297680" cy="1118255"/>
          </a:xfrm>
          <a:prstGeom prst="rect">
            <a:avLst/>
          </a:prstGeom>
          <a:noFill/>
        </p:spPr>
        <p:txBody>
          <a:bodyPr wrap="square" lIns="45720" rIns="45720" anchor="t">
            <a:spAutoFit/>
          </a:bodyPr>
          <a:lstStyle/>
          <a:p>
            <a:pPr marL="27432">
              <a:spcAft>
                <a:spcPts val="400"/>
              </a:spcAft>
            </a:pPr>
            <a:endParaRPr lang="en-US" sz="1500" dirty="0"/>
          </a:p>
          <a:p>
            <a:pPr marL="256032" indent="-228600">
              <a:spcAft>
                <a:spcPts val="400"/>
              </a:spcAft>
              <a:buChar char="•"/>
            </a:pPr>
            <a:r>
              <a:rPr lang="en-US" sz="1500" dirty="0"/>
              <a:t>Live data feed with scheduled retraining</a:t>
            </a:r>
          </a:p>
          <a:p>
            <a:pPr marL="256032" indent="-228600">
              <a:spcAft>
                <a:spcPts val="400"/>
              </a:spcAft>
              <a:buChar char="•"/>
            </a:pPr>
            <a:r>
              <a:rPr sz="1500" dirty="0"/>
              <a:t>Explain every model's forecast, not only </a:t>
            </a:r>
            <a:r>
              <a:rPr sz="1500" dirty="0" err="1"/>
              <a:t>XGBoost</a:t>
            </a:r>
            <a:endParaRPr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dirty="0"/>
              <a:t>IT22069740  |  Janahan R</a:t>
            </a:r>
          </a:p>
        </p:txBody>
      </p:sp>
      <p:sp>
        <p:nvSpPr>
          <p:cNvPr id="3" name="Text Placeholder 2"/>
          <p:cNvSpPr>
            <a:spLocks noGrp="1"/>
          </p:cNvSpPr>
          <p:nvPr>
            <p:ph type="body" idx="1"/>
          </p:nvPr>
        </p:nvSpPr>
        <p:spPr>
          <a:xfrm>
            <a:off x="960120" y="3931920"/>
            <a:ext cx="10424160" cy="2331720"/>
          </a:xfrm>
        </p:spPr>
        <p:txBody>
          <a:bodyPr wrap="square" anchor="t"/>
          <a:lstStyle/>
          <a:p>
            <a:pPr>
              <a:spcAft>
                <a:spcPts val="600"/>
              </a:spcAft>
            </a:pPr>
            <a:r>
              <a:rPr sz="2200" b="1">
                <a:solidFill>
                  <a:srgbClr val="0F6FC6"/>
                </a:solidFill>
              </a:rPr>
              <a:t>Neural Forecasting: deep-learning load forecasts with calibrated uncertainty</a:t>
            </a:r>
          </a:p>
          <a:p>
            <a:pPr>
              <a:spcAft>
                <a:spcPts val="600"/>
              </a:spcAft>
            </a:pPr>
            <a:r>
              <a:rPr sz="1600"/>
              <a:t>Seven CNN, LSTM and Transformer models forecast the next 15-minute load from the last 24 hours (96 steps × 20 features); MC Dropout adds uncertainty.</a:t>
            </a:r>
          </a:p>
          <a:p>
            <a:pPr>
              <a:spcAft>
                <a:spcPts val="600"/>
              </a:spcAft>
            </a:pPr>
            <a:r>
              <a:rPr sz="1500" b="1">
                <a:solidFill>
                  <a:srgbClr val="04617B"/>
                </a:solidFill>
              </a:rPr>
              <a:t>Key results:  Best MAE 20.46 kW (R² 0.974)  ·  default CNN-LSTM-B MAE 20.52 kW  ·  calibrated 95% band covers 96.3%</a:t>
            </a:r>
          </a:p>
        </p:txBody>
      </p:sp>
      <p:pic>
        <p:nvPicPr>
          <p:cNvPr id="4" name="Picture 3" descr="nn_01_overview.png"/>
          <p:cNvPicPr>
            <a:picLocks noChangeAspect="1"/>
          </p:cNvPicPr>
          <p:nvPr/>
        </p:nvPicPr>
        <p:blipFill>
          <a:blip r:embed="rId3"/>
          <a:stretch>
            <a:fillRect/>
          </a:stretch>
        </p:blipFill>
        <p:spPr>
          <a:xfrm>
            <a:off x="530860" y="274320"/>
            <a:ext cx="4470400" cy="2514599"/>
          </a:xfrm>
          <a:prstGeom prst="rect">
            <a:avLst/>
          </a:prstGeom>
          <a:ln w="9525">
            <a:solidFill>
              <a:srgbClr val="BFBFBF"/>
            </a:solidFill>
          </a:ln>
        </p:spPr>
      </p:pic>
      <p:pic>
        <p:nvPicPr>
          <p:cNvPr id="5" name="Picture 4" descr="janahan_model_comparison.png"/>
          <p:cNvPicPr>
            <a:picLocks noChangeAspect="1"/>
          </p:cNvPicPr>
          <p:nvPr/>
        </p:nvPicPr>
        <p:blipFill>
          <a:blip r:embed="rId4"/>
          <a:stretch>
            <a:fillRect/>
          </a:stretch>
        </p:blipFill>
        <p:spPr>
          <a:xfrm>
            <a:off x="5212080" y="698784"/>
            <a:ext cx="4526280" cy="1665671"/>
          </a:xfrm>
          <a:prstGeom prst="rect">
            <a:avLst/>
          </a:prstGeom>
          <a:ln w="9525">
            <a:solidFill>
              <a:srgbClr val="BFBFBF"/>
            </a:solidFill>
          </a:ln>
        </p:spPr>
      </p:pic>
      <p:sp>
        <p:nvSpPr>
          <p:cNvPr id="6"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IT22069740</a:t>
            </a:r>
            <a:r>
              <a:rPr lang="en-US" sz="1800" dirty="0">
                <a:solidFill>
                  <a:schemeClr val="tx1"/>
                </a:solidFill>
              </a:rPr>
              <a:t>   |   </a:t>
            </a:r>
            <a:r>
              <a:rPr lang="en-US" sz="1800" b="1" dirty="0">
                <a:solidFill>
                  <a:schemeClr val="tx1"/>
                </a:solidFill>
              </a:rPr>
              <a:t>Janahan R   </a:t>
            </a:r>
            <a:r>
              <a:rPr lang="en-US" sz="1800" dirty="0">
                <a:solidFill>
                  <a:schemeClr val="tx1"/>
                </a:solidFill>
              </a:rPr>
              <a:t>|   </a:t>
            </a:r>
            <a:r>
              <a:rPr lang="en-US" sz="1800" b="0" dirty="0">
                <a:solidFill>
                  <a:schemeClr val="tx1"/>
                </a:solidFill>
              </a:rPr>
              <a:t>R26-IT-010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Neural Forecasting — Uncertainty, Dashboard &amp; Limitations</a:t>
            </a:r>
          </a:p>
        </p:txBody>
      </p:sp>
      <p:pic>
        <p:nvPicPr>
          <p:cNvPr id="3" name="Picture 2" descr="same_checkpoint_mc_test_forecast.png"/>
          <p:cNvPicPr>
            <a:picLocks noChangeAspect="1"/>
          </p:cNvPicPr>
          <p:nvPr/>
        </p:nvPicPr>
        <p:blipFill>
          <a:blip r:embed="rId3"/>
          <a:stretch>
            <a:fillRect/>
          </a:stretch>
        </p:blipFill>
        <p:spPr>
          <a:xfrm>
            <a:off x="365760" y="1200150"/>
            <a:ext cx="6949440" cy="2171700"/>
          </a:xfrm>
          <a:prstGeom prst="rect">
            <a:avLst/>
          </a:prstGeom>
        </p:spPr>
      </p:pic>
      <p:sp>
        <p:nvSpPr>
          <p:cNvPr id="4" name="TextBox 3"/>
          <p:cNvSpPr txBox="1"/>
          <p:nvPr/>
        </p:nvSpPr>
        <p:spPr>
          <a:xfrm>
            <a:off x="365760" y="3401568"/>
            <a:ext cx="6949440" cy="320040"/>
          </a:xfrm>
          <a:prstGeom prst="rect">
            <a:avLst/>
          </a:prstGeom>
          <a:noFill/>
        </p:spPr>
        <p:txBody>
          <a:bodyPr wrap="square" lIns="45720" rIns="45720" anchor="t">
            <a:spAutoFit/>
          </a:bodyPr>
          <a:lstStyle/>
          <a:p>
            <a:pPr marL="0" indent="0">
              <a:buNone/>
            </a:pPr>
            <a:r>
              <a:rPr sz="1200">
                <a:solidFill>
                  <a:srgbClr val="404040"/>
                </a:solidFill>
              </a:rPr>
              <a:t>CNN-LSTM with MC Dropout: test forecast with calibrated interval</a:t>
            </a:r>
          </a:p>
        </p:txBody>
      </p:sp>
      <p:pic>
        <p:nvPicPr>
          <p:cNvPr id="5" name="Picture 4" descr="nn_01_overview.png"/>
          <p:cNvPicPr>
            <a:picLocks noChangeAspect="1"/>
          </p:cNvPicPr>
          <p:nvPr/>
        </p:nvPicPr>
        <p:blipFill>
          <a:blip r:embed="rId4"/>
          <a:stretch>
            <a:fillRect/>
          </a:stretch>
        </p:blipFill>
        <p:spPr>
          <a:xfrm>
            <a:off x="7498079" y="1189577"/>
            <a:ext cx="4434840" cy="2494597"/>
          </a:xfrm>
          <a:prstGeom prst="rect">
            <a:avLst/>
          </a:prstGeom>
          <a:ln w="9525">
            <a:solidFill>
              <a:srgbClr val="BFBFBF"/>
            </a:solidFill>
          </a:ln>
        </p:spPr>
      </p:pic>
      <p:sp>
        <p:nvSpPr>
          <p:cNvPr id="6" name="TextBox 5"/>
          <p:cNvSpPr txBox="1"/>
          <p:nvPr/>
        </p:nvSpPr>
        <p:spPr>
          <a:xfrm>
            <a:off x="365760" y="3886200"/>
            <a:ext cx="11521440" cy="2286000"/>
          </a:xfrm>
          <a:prstGeom prst="rect">
            <a:avLst/>
          </a:prstGeom>
          <a:noFill/>
        </p:spPr>
        <p:txBody>
          <a:bodyPr wrap="square" lIns="45720" rIns="45720" anchor="t">
            <a:spAutoFit/>
          </a:bodyPr>
          <a:lstStyle/>
          <a:p>
            <a:pPr marL="256032" indent="-228600">
              <a:spcAft>
                <a:spcPts val="400"/>
              </a:spcAft>
              <a:buChar char="•"/>
            </a:pPr>
            <a:r>
              <a:rPr sz="1500"/>
              <a:t>MC Dropout: 30 forward passes give a mean and a spread</a:t>
            </a:r>
          </a:p>
          <a:p>
            <a:pPr marL="256032" indent="-228600">
              <a:spcAft>
                <a:spcPts val="400"/>
              </a:spcAft>
              <a:buChar char="•"/>
            </a:pPr>
            <a:r>
              <a:rPr sz="1500"/>
              <a:t>Raw 95% band covered only 85.2% of test values → calibrated ±67 kW covers 96.3%</a:t>
            </a:r>
          </a:p>
          <a:p>
            <a:pPr marL="256032" indent="-228600">
              <a:spcAft>
                <a:spcPts val="400"/>
              </a:spcAft>
              <a:buChar char="•"/>
            </a:pPr>
            <a:r>
              <a:rPr sz="1500"/>
              <a:t>Limitation: validation data was also used for early stopping, so coverage is supplementary</a:t>
            </a:r>
          </a:p>
          <a:p>
            <a:pPr marL="256032" indent="-228600">
              <a:spcAft>
                <a:spcPts val="400"/>
              </a:spcAft>
              <a:buChar char="•"/>
            </a:pPr>
            <a:r>
              <a:rPr sz="1500"/>
              <a:t>Dataset-backed forecasts, not a live feed; no inference-time benchmark saved</a:t>
            </a:r>
          </a:p>
        </p:txBody>
      </p:sp>
      <p:sp>
        <p:nvSpPr>
          <p:cNvPr id="7"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IT22069740</a:t>
            </a:r>
            <a:r>
              <a:rPr lang="en-US" sz="1800" dirty="0">
                <a:solidFill>
                  <a:schemeClr val="tx1"/>
                </a:solidFill>
              </a:rPr>
              <a:t>   |   </a:t>
            </a:r>
            <a:r>
              <a:rPr lang="en-US" sz="1800" b="1" dirty="0">
                <a:solidFill>
                  <a:schemeClr val="tx1"/>
                </a:solidFill>
              </a:rPr>
              <a:t>Janahan R   </a:t>
            </a:r>
            <a:r>
              <a:rPr lang="en-US" sz="1800" dirty="0">
                <a:solidFill>
                  <a:schemeClr val="tx1"/>
                </a:solidFill>
              </a:rPr>
              <a:t>|   </a:t>
            </a:r>
            <a:r>
              <a:rPr lang="en-US" sz="1800" b="0" dirty="0">
                <a:solidFill>
                  <a:schemeClr val="tx1"/>
                </a:solidFill>
              </a:rPr>
              <a:t>R26-IT-010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IT22545176  |  Thanujan T</a:t>
            </a:r>
          </a:p>
        </p:txBody>
      </p:sp>
      <p:sp>
        <p:nvSpPr>
          <p:cNvPr id="3" name="Text Placeholder 2"/>
          <p:cNvSpPr>
            <a:spLocks noGrp="1"/>
          </p:cNvSpPr>
          <p:nvPr>
            <p:ph type="body" idx="1"/>
          </p:nvPr>
        </p:nvSpPr>
        <p:spPr>
          <a:xfrm>
            <a:off x="960120" y="3931920"/>
            <a:ext cx="10424160" cy="2331720"/>
          </a:xfrm>
        </p:spPr>
        <p:txBody>
          <a:bodyPr wrap="square" anchor="t"/>
          <a:lstStyle/>
          <a:p>
            <a:pPr>
              <a:spcAft>
                <a:spcPts val="600"/>
              </a:spcAft>
            </a:pPr>
            <a:r>
              <a:rPr sz="2200" b="1">
                <a:solidFill>
                  <a:srgbClr val="0F6FC6"/>
                </a:solidFill>
              </a:rPr>
              <a:t>Behaviour Intelligence: daily demand patterns, abnormal days and future behaviour</a:t>
            </a:r>
          </a:p>
          <a:p>
            <a:pPr>
              <a:spcAft>
                <a:spcPts val="600"/>
              </a:spcAft>
            </a:pPr>
            <a:r>
              <a:rPr sz="1600"/>
              <a:t>Turns 15-minute load into 1,977 daily profiles, finds weekday and weekend regimes, flags abnormal days and labels each day Normal, Low, Peak or Abnormal.</a:t>
            </a:r>
          </a:p>
          <a:p>
            <a:pPr>
              <a:spcAft>
                <a:spcPts val="600"/>
              </a:spcAft>
            </a:pPr>
            <a:r>
              <a:rPr sz="1500" b="1">
                <a:solidFill>
                  <a:srgbClr val="04617B"/>
                </a:solidFill>
              </a:rPr>
              <a:t>Key results:  K-Means k = 2 (ARI 0.965)  ·  Isolation Forest P = R = F1 = 1.00  ·  back-test 83.5% vs 62.4%</a:t>
            </a:r>
          </a:p>
        </p:txBody>
      </p:sp>
      <p:pic>
        <p:nvPicPr>
          <p:cNvPr id="4" name="Picture 3" descr="bi_01_home.png"/>
          <p:cNvPicPr>
            <a:picLocks noChangeAspect="1"/>
          </p:cNvPicPr>
          <p:nvPr/>
        </p:nvPicPr>
        <p:blipFill>
          <a:blip r:embed="rId3"/>
          <a:stretch>
            <a:fillRect/>
          </a:stretch>
        </p:blipFill>
        <p:spPr>
          <a:xfrm>
            <a:off x="530860" y="274320"/>
            <a:ext cx="4470400" cy="2514599"/>
          </a:xfrm>
          <a:prstGeom prst="rect">
            <a:avLst/>
          </a:prstGeom>
          <a:ln w="9525">
            <a:solidFill>
              <a:srgbClr val="BFBFBF"/>
            </a:solidFill>
          </a:ln>
        </p:spPr>
      </p:pic>
      <p:pic>
        <p:nvPicPr>
          <p:cNvPr id="5" name="Picture 4" descr="bi_03_dashboard.png"/>
          <p:cNvPicPr>
            <a:picLocks noChangeAspect="1"/>
          </p:cNvPicPr>
          <p:nvPr/>
        </p:nvPicPr>
        <p:blipFill>
          <a:blip r:embed="rId4"/>
          <a:stretch>
            <a:fillRect/>
          </a:stretch>
        </p:blipFill>
        <p:spPr>
          <a:xfrm>
            <a:off x="5240020" y="274320"/>
            <a:ext cx="4470400" cy="2514599"/>
          </a:xfrm>
          <a:prstGeom prst="rect">
            <a:avLst/>
          </a:prstGeom>
          <a:ln w="9525">
            <a:solidFill>
              <a:srgbClr val="BFBFBF"/>
            </a:solidFill>
          </a:ln>
        </p:spPr>
      </p:pic>
      <p:sp>
        <p:nvSpPr>
          <p:cNvPr id="6"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IT22545176</a:t>
            </a:r>
            <a:r>
              <a:rPr lang="en-US" sz="1800" dirty="0">
                <a:solidFill>
                  <a:schemeClr val="tx1"/>
                </a:solidFill>
              </a:rPr>
              <a:t>   |   </a:t>
            </a:r>
            <a:r>
              <a:rPr lang="en-US" sz="1800" b="1" dirty="0">
                <a:solidFill>
                  <a:schemeClr val="tx1"/>
                </a:solidFill>
              </a:rPr>
              <a:t>Thanujan T   </a:t>
            </a:r>
            <a:r>
              <a:rPr lang="en-US" sz="1800" dirty="0">
                <a:solidFill>
                  <a:schemeClr val="tx1"/>
                </a:solidFill>
              </a:rPr>
              <a:t>|   </a:t>
            </a:r>
            <a:r>
              <a:rPr lang="en-US" sz="1800" b="0" dirty="0">
                <a:solidFill>
                  <a:schemeClr val="tx1"/>
                </a:solidFill>
              </a:rPr>
              <a:t>R26-IT-010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Behaviour Intelligence — Dashboard &amp; Limitations</a:t>
            </a:r>
          </a:p>
        </p:txBody>
      </p:sp>
      <p:pic>
        <p:nvPicPr>
          <p:cNvPr id="3" name="Picture 2" descr="bi_06_prediction.png"/>
          <p:cNvPicPr>
            <a:picLocks noChangeAspect="1"/>
          </p:cNvPicPr>
          <p:nvPr/>
        </p:nvPicPr>
        <p:blipFill>
          <a:blip r:embed="rId3"/>
          <a:stretch>
            <a:fillRect/>
          </a:stretch>
        </p:blipFill>
        <p:spPr>
          <a:xfrm>
            <a:off x="365760" y="1189863"/>
            <a:ext cx="5669280" cy="3188970"/>
          </a:xfrm>
          <a:prstGeom prst="rect">
            <a:avLst/>
          </a:prstGeom>
          <a:ln w="9525">
            <a:solidFill>
              <a:srgbClr val="BFBFBF"/>
            </a:solidFill>
          </a:ln>
        </p:spPr>
      </p:pic>
      <p:sp>
        <p:nvSpPr>
          <p:cNvPr id="4" name="TextBox 3"/>
          <p:cNvSpPr txBox="1"/>
          <p:nvPr/>
        </p:nvSpPr>
        <p:spPr>
          <a:xfrm>
            <a:off x="365760" y="4434840"/>
            <a:ext cx="5669280" cy="320040"/>
          </a:xfrm>
          <a:prstGeom prst="rect">
            <a:avLst/>
          </a:prstGeom>
          <a:noFill/>
        </p:spPr>
        <p:txBody>
          <a:bodyPr wrap="square" lIns="45720" rIns="45720" anchor="t">
            <a:spAutoFit/>
          </a:bodyPr>
          <a:lstStyle/>
          <a:p>
            <a:pPr marL="0" indent="0">
              <a:buNone/>
            </a:pPr>
            <a:r>
              <a:rPr sz="1200">
                <a:solidFill>
                  <a:srgbClr val="404040"/>
                </a:solidFill>
              </a:rPr>
              <a:t>Future prediction: smoothed likelihood (44.4%, 11 of 23 Saturdays in July)</a:t>
            </a:r>
          </a:p>
        </p:txBody>
      </p:sp>
      <p:pic>
        <p:nvPicPr>
          <p:cNvPr id="5" name="Picture 4" descr="bi_12_tuning_iforest.png"/>
          <p:cNvPicPr>
            <a:picLocks noChangeAspect="1"/>
          </p:cNvPicPr>
          <p:nvPr/>
        </p:nvPicPr>
        <p:blipFill>
          <a:blip r:embed="rId4"/>
          <a:stretch>
            <a:fillRect/>
          </a:stretch>
        </p:blipFill>
        <p:spPr>
          <a:xfrm>
            <a:off x="6263640" y="1189863"/>
            <a:ext cx="5669280" cy="3188970"/>
          </a:xfrm>
          <a:prstGeom prst="rect">
            <a:avLst/>
          </a:prstGeom>
          <a:ln w="9525">
            <a:solidFill>
              <a:srgbClr val="BFBFBF"/>
            </a:solidFill>
          </a:ln>
        </p:spPr>
      </p:pic>
      <p:sp>
        <p:nvSpPr>
          <p:cNvPr id="6" name="TextBox 5"/>
          <p:cNvSpPr txBox="1"/>
          <p:nvPr/>
        </p:nvSpPr>
        <p:spPr>
          <a:xfrm>
            <a:off x="6263640" y="4434840"/>
            <a:ext cx="5669280" cy="320040"/>
          </a:xfrm>
          <a:prstGeom prst="rect">
            <a:avLst/>
          </a:prstGeom>
          <a:noFill/>
        </p:spPr>
        <p:txBody>
          <a:bodyPr wrap="square" lIns="45720" rIns="45720" anchor="t">
            <a:spAutoFit/>
          </a:bodyPr>
          <a:lstStyle/>
          <a:p>
            <a:pPr marL="0" indent="0">
              <a:buNone/>
            </a:pPr>
            <a:r>
              <a:rPr sz="1200">
                <a:solidFill>
                  <a:srgbClr val="404040"/>
                </a:solidFill>
              </a:rPr>
              <a:t>Tuning &amp; Validation page (Isolation Forest section)</a:t>
            </a:r>
          </a:p>
        </p:txBody>
      </p:sp>
      <p:sp>
        <p:nvSpPr>
          <p:cNvPr id="7" name="TextBox 6"/>
          <p:cNvSpPr txBox="1"/>
          <p:nvPr/>
        </p:nvSpPr>
        <p:spPr>
          <a:xfrm>
            <a:off x="365760" y="4846320"/>
            <a:ext cx="11521440" cy="1371600"/>
          </a:xfrm>
          <a:prstGeom prst="rect">
            <a:avLst/>
          </a:prstGeom>
          <a:noFill/>
        </p:spPr>
        <p:txBody>
          <a:bodyPr wrap="square" lIns="45720" rIns="45720" anchor="t">
            <a:spAutoFit/>
          </a:bodyPr>
          <a:lstStyle/>
          <a:p>
            <a:pPr marL="256032" indent="-228600">
              <a:spcAft>
                <a:spcPts val="300"/>
              </a:spcAft>
              <a:buChar char="•"/>
            </a:pPr>
            <a:r>
              <a:rPr sz="1400"/>
              <a:t>Limitations: synthetic dataset with clear anomalies; contamination equals the injected rate</a:t>
            </a:r>
          </a:p>
          <a:p>
            <a:pPr marL="256032" indent="-228600">
              <a:spcAft>
                <a:spcPts val="300"/>
              </a:spcAft>
              <a:buChar char="•"/>
            </a:pPr>
            <a:r>
              <a:rPr sz="1400"/>
              <a:t>Future prediction is only +0.5 points over a simple weekend rule (83.5% vs 83.0%)</a:t>
            </a:r>
          </a:p>
          <a:p>
            <a:pPr marL="256032" indent="-228600">
              <a:spcAft>
                <a:spcPts val="300"/>
              </a:spcAft>
              <a:buChar char="•"/>
            </a:pPr>
            <a:r>
              <a:rPr sz="1400"/>
              <a:t>Login protects the dashboard pages; the data API stays open for the embedded apps</a:t>
            </a:r>
          </a:p>
        </p:txBody>
      </p:sp>
      <p:sp>
        <p:nvSpPr>
          <p:cNvPr id="8"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IT22545176</a:t>
            </a:r>
            <a:r>
              <a:rPr lang="en-US" sz="1800" dirty="0">
                <a:solidFill>
                  <a:schemeClr val="tx1"/>
                </a:solidFill>
              </a:rPr>
              <a:t>   |   </a:t>
            </a:r>
            <a:r>
              <a:rPr lang="en-US" sz="1800" b="1" dirty="0">
                <a:solidFill>
                  <a:schemeClr val="tx1"/>
                </a:solidFill>
              </a:rPr>
              <a:t>Thanujan T   </a:t>
            </a:r>
            <a:r>
              <a:rPr lang="en-US" sz="1800" dirty="0">
                <a:solidFill>
                  <a:schemeClr val="tx1"/>
                </a:solidFill>
              </a:rPr>
              <a:t>|   </a:t>
            </a:r>
            <a:r>
              <a:rPr lang="en-US" sz="1800" b="0" dirty="0">
                <a:solidFill>
                  <a:schemeClr val="tx1"/>
                </a:solidFill>
              </a:rPr>
              <a:t>R26-IT-010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IT22630216  |  Dewmini D.M.D.P</a:t>
            </a:r>
          </a:p>
        </p:txBody>
      </p:sp>
      <p:sp>
        <p:nvSpPr>
          <p:cNvPr id="3" name="Text Placeholder 2"/>
          <p:cNvSpPr>
            <a:spLocks noGrp="1"/>
          </p:cNvSpPr>
          <p:nvPr>
            <p:ph type="body" idx="1"/>
          </p:nvPr>
        </p:nvSpPr>
        <p:spPr>
          <a:xfrm>
            <a:off x="960120" y="3931920"/>
            <a:ext cx="10424160" cy="2331720"/>
          </a:xfrm>
        </p:spPr>
        <p:txBody>
          <a:bodyPr wrap="square" anchor="t"/>
          <a:lstStyle/>
          <a:p>
            <a:pPr>
              <a:spcAft>
                <a:spcPts val="600"/>
              </a:spcAft>
            </a:pPr>
            <a:r>
              <a:rPr sz="2200" b="1">
                <a:solidFill>
                  <a:srgbClr val="0F6FC6"/>
                </a:solidFill>
              </a:rPr>
              <a:t>Demand Forecasting &amp; Scenario Analysis: what-if planning with risk ranges</a:t>
            </a:r>
          </a:p>
          <a:p>
            <a:pPr>
              <a:spcAft>
                <a:spcPts val="600"/>
              </a:spcAft>
            </a:pPr>
            <a:r>
              <a:rPr sz="1600"/>
              <a:t>Gradient Boosting predicts demand from 13 weather, economic and calendar inputs; planners test scenarios and see which provinces could run short of supply.</a:t>
            </a:r>
          </a:p>
          <a:p>
            <a:pPr>
              <a:spcAft>
                <a:spcPts val="600"/>
              </a:spcAft>
            </a:pPr>
            <a:r>
              <a:rPr sz="1500" b="1">
                <a:solidFill>
                  <a:srgbClr val="04617B"/>
                </a:solidFill>
              </a:rPr>
              <a:t>Key results:  Test R² 0.824  ·  MAE 91.8 kW  ·  90% range covers 89.8%  ·  Grid Decision Lab risk map</a:t>
            </a:r>
          </a:p>
        </p:txBody>
      </p:sp>
      <p:pic>
        <p:nvPicPr>
          <p:cNvPr id="4" name="Picture 3" descr="dew_03_grid_lab.png"/>
          <p:cNvPicPr>
            <a:picLocks noChangeAspect="1"/>
          </p:cNvPicPr>
          <p:nvPr/>
        </p:nvPicPr>
        <p:blipFill>
          <a:blip r:embed="rId3"/>
          <a:stretch>
            <a:fillRect/>
          </a:stretch>
        </p:blipFill>
        <p:spPr>
          <a:xfrm>
            <a:off x="530860" y="274320"/>
            <a:ext cx="4470400" cy="2514599"/>
          </a:xfrm>
          <a:prstGeom prst="rect">
            <a:avLst/>
          </a:prstGeom>
          <a:ln w="9525">
            <a:solidFill>
              <a:srgbClr val="BFBFBF"/>
            </a:solidFill>
          </a:ln>
        </p:spPr>
      </p:pic>
      <p:pic>
        <p:nvPicPr>
          <p:cNvPr id="5" name="Picture 4" descr="dew_02_scenarios.png"/>
          <p:cNvPicPr>
            <a:picLocks noChangeAspect="1"/>
          </p:cNvPicPr>
          <p:nvPr/>
        </p:nvPicPr>
        <p:blipFill>
          <a:blip r:embed="rId4"/>
          <a:stretch>
            <a:fillRect/>
          </a:stretch>
        </p:blipFill>
        <p:spPr>
          <a:xfrm>
            <a:off x="5240020" y="274320"/>
            <a:ext cx="4470400" cy="2514600"/>
          </a:xfrm>
          <a:prstGeom prst="rect">
            <a:avLst/>
          </a:prstGeom>
          <a:ln w="9525">
            <a:solidFill>
              <a:srgbClr val="BFBFBF"/>
            </a:solidFill>
          </a:ln>
        </p:spPr>
      </p:pic>
      <p:sp>
        <p:nvSpPr>
          <p:cNvPr id="6"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IT22630216</a:t>
            </a:r>
            <a:r>
              <a:rPr lang="en-US" sz="1800" dirty="0">
                <a:solidFill>
                  <a:schemeClr val="tx1"/>
                </a:solidFill>
              </a:rPr>
              <a:t>   |   </a:t>
            </a:r>
            <a:r>
              <a:rPr lang="en-US" sz="1800" b="1" dirty="0">
                <a:solidFill>
                  <a:schemeClr val="tx1"/>
                </a:solidFill>
              </a:rPr>
              <a:t>Dewmini D.M.D.P   </a:t>
            </a:r>
            <a:r>
              <a:rPr lang="en-US" sz="1800" dirty="0">
                <a:solidFill>
                  <a:schemeClr val="tx1"/>
                </a:solidFill>
              </a:rPr>
              <a:t>|   </a:t>
            </a:r>
            <a:r>
              <a:rPr lang="en-US" sz="1800" b="0" dirty="0">
                <a:solidFill>
                  <a:schemeClr val="tx1"/>
                </a:solidFill>
              </a:rPr>
              <a:t>R26-IT-010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Demand Forecasting — Dashboard &amp; Limitations</a:t>
            </a:r>
          </a:p>
        </p:txBody>
      </p:sp>
      <p:pic>
        <p:nvPicPr>
          <p:cNvPr id="3" name="Picture 2" descr="dew_01_predict.png"/>
          <p:cNvPicPr>
            <a:picLocks noChangeAspect="1"/>
          </p:cNvPicPr>
          <p:nvPr/>
        </p:nvPicPr>
        <p:blipFill>
          <a:blip r:embed="rId3"/>
          <a:stretch>
            <a:fillRect/>
          </a:stretch>
        </p:blipFill>
        <p:spPr>
          <a:xfrm>
            <a:off x="365760" y="1189863"/>
            <a:ext cx="5669280" cy="3188970"/>
          </a:xfrm>
          <a:prstGeom prst="rect">
            <a:avLst/>
          </a:prstGeom>
          <a:ln w="9525">
            <a:solidFill>
              <a:srgbClr val="BFBFBF"/>
            </a:solidFill>
          </a:ln>
        </p:spPr>
      </p:pic>
      <p:sp>
        <p:nvSpPr>
          <p:cNvPr id="4" name="TextBox 3"/>
          <p:cNvSpPr txBox="1"/>
          <p:nvPr/>
        </p:nvSpPr>
        <p:spPr>
          <a:xfrm>
            <a:off x="365760" y="4434840"/>
            <a:ext cx="5669280" cy="320040"/>
          </a:xfrm>
          <a:prstGeom prst="rect">
            <a:avLst/>
          </a:prstGeom>
          <a:noFill/>
        </p:spPr>
        <p:txBody>
          <a:bodyPr wrap="square" lIns="45720" rIns="45720" anchor="t">
            <a:spAutoFit/>
          </a:bodyPr>
          <a:lstStyle/>
          <a:p>
            <a:pPr marL="0" indent="0">
              <a:buNone/>
            </a:pPr>
            <a:r>
              <a:rPr sz="1200">
                <a:solidFill>
                  <a:srgbClr val="404040"/>
                </a:solidFill>
              </a:rPr>
              <a:t>Predict tab: one demand prediction from 13 inputs</a:t>
            </a:r>
          </a:p>
        </p:txBody>
      </p:sp>
      <p:pic>
        <p:nvPicPr>
          <p:cNvPr id="5" name="Picture 4" descr="dew_03_grid_lab.png"/>
          <p:cNvPicPr>
            <a:picLocks noChangeAspect="1"/>
          </p:cNvPicPr>
          <p:nvPr/>
        </p:nvPicPr>
        <p:blipFill>
          <a:blip r:embed="rId4"/>
          <a:stretch>
            <a:fillRect/>
          </a:stretch>
        </p:blipFill>
        <p:spPr>
          <a:xfrm>
            <a:off x="6263640" y="1189863"/>
            <a:ext cx="5669280" cy="3188970"/>
          </a:xfrm>
          <a:prstGeom prst="rect">
            <a:avLst/>
          </a:prstGeom>
          <a:ln w="9525">
            <a:solidFill>
              <a:srgbClr val="BFBFBF"/>
            </a:solidFill>
          </a:ln>
        </p:spPr>
      </p:pic>
      <p:sp>
        <p:nvSpPr>
          <p:cNvPr id="6" name="TextBox 5"/>
          <p:cNvSpPr txBox="1"/>
          <p:nvPr/>
        </p:nvSpPr>
        <p:spPr>
          <a:xfrm>
            <a:off x="6263640" y="4434840"/>
            <a:ext cx="5669280" cy="320040"/>
          </a:xfrm>
          <a:prstGeom prst="rect">
            <a:avLst/>
          </a:prstGeom>
          <a:noFill/>
        </p:spPr>
        <p:txBody>
          <a:bodyPr wrap="square" lIns="45720" rIns="45720" anchor="t">
            <a:spAutoFit/>
          </a:bodyPr>
          <a:lstStyle/>
          <a:p>
            <a:pPr marL="0" indent="0">
              <a:buNone/>
            </a:pPr>
            <a:r>
              <a:rPr sz="1200">
                <a:solidFill>
                  <a:srgbClr val="404040"/>
                </a:solidFill>
              </a:rPr>
              <a:t>Grid Decision Lab: provincial overload risk</a:t>
            </a:r>
          </a:p>
        </p:txBody>
      </p:sp>
      <p:sp>
        <p:nvSpPr>
          <p:cNvPr id="7" name="TextBox 6"/>
          <p:cNvSpPr txBox="1"/>
          <p:nvPr/>
        </p:nvSpPr>
        <p:spPr>
          <a:xfrm>
            <a:off x="365760" y="4846320"/>
            <a:ext cx="11521440" cy="1371600"/>
          </a:xfrm>
          <a:prstGeom prst="rect">
            <a:avLst/>
          </a:prstGeom>
          <a:noFill/>
        </p:spPr>
        <p:txBody>
          <a:bodyPr wrap="square" lIns="45720" rIns="45720" anchor="t">
            <a:spAutoFit/>
          </a:bodyPr>
          <a:lstStyle/>
          <a:p>
            <a:pPr marL="256032" indent="-228600">
              <a:spcAft>
                <a:spcPts val="300"/>
              </a:spcAft>
              <a:buChar char="•"/>
            </a:pPr>
            <a:r>
              <a:rPr sz="1400"/>
              <a:t>Limitations: synthetic practice data, so scores show the method, not real CEB accuracy</a:t>
            </a:r>
          </a:p>
          <a:p>
            <a:pPr marL="256032" indent="-228600">
              <a:spcAft>
                <a:spcPts val="300"/>
              </a:spcAft>
              <a:buChar char="•"/>
            </a:pPr>
            <a:r>
              <a:rPr sz="1400"/>
              <a:t>Regional demand shares and supply limits are illustrative assumptions</a:t>
            </a:r>
          </a:p>
          <a:p>
            <a:pPr marL="256032" indent="-228600">
              <a:spcAft>
                <a:spcPts val="300"/>
              </a:spcAft>
              <a:buChar char="•"/>
            </a:pPr>
            <a:r>
              <a:rPr sz="1400"/>
              <a:t>No lag features (previous-hour demand); future work: real CEB data and lag features</a:t>
            </a:r>
          </a:p>
        </p:txBody>
      </p:sp>
      <p:sp>
        <p:nvSpPr>
          <p:cNvPr id="8"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IT22630216</a:t>
            </a:r>
            <a:r>
              <a:rPr lang="en-US" sz="1800" dirty="0">
                <a:solidFill>
                  <a:schemeClr val="tx1"/>
                </a:solidFill>
              </a:rPr>
              <a:t>   |   </a:t>
            </a:r>
            <a:r>
              <a:rPr lang="en-US" sz="1800" b="1" dirty="0">
                <a:solidFill>
                  <a:schemeClr val="tx1"/>
                </a:solidFill>
              </a:rPr>
              <a:t>Dewmini D.M.D.P   </a:t>
            </a:r>
            <a:r>
              <a:rPr lang="en-US" sz="1800" dirty="0">
                <a:solidFill>
                  <a:schemeClr val="tx1"/>
                </a:solidFill>
              </a:rPr>
              <a:t>|   </a:t>
            </a:r>
            <a:r>
              <a:rPr lang="en-US" sz="1800" b="0" dirty="0">
                <a:solidFill>
                  <a:schemeClr val="tx1"/>
                </a:solidFill>
              </a:rPr>
              <a:t>R26-IT-010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IT22273062  |  Madushani R.P</a:t>
            </a:r>
          </a:p>
        </p:txBody>
      </p:sp>
      <p:sp>
        <p:nvSpPr>
          <p:cNvPr id="3" name="Text Placeholder 2"/>
          <p:cNvSpPr>
            <a:spLocks noGrp="1"/>
          </p:cNvSpPr>
          <p:nvPr>
            <p:ph type="body" idx="1"/>
          </p:nvPr>
        </p:nvSpPr>
        <p:spPr>
          <a:xfrm>
            <a:off x="960120" y="3931920"/>
            <a:ext cx="10424160" cy="2331720"/>
          </a:xfrm>
        </p:spPr>
        <p:txBody>
          <a:bodyPr wrap="square" anchor="t"/>
          <a:lstStyle/>
          <a:p>
            <a:pPr>
              <a:spcAft>
                <a:spcPts val="600"/>
              </a:spcAft>
            </a:pPr>
            <a:r>
              <a:rPr sz="2200" b="1">
                <a:solidFill>
                  <a:srgbClr val="0F6FC6"/>
                </a:solidFill>
              </a:rPr>
              <a:t>Explainable AI: why the model predicts what it predicts</a:t>
            </a:r>
          </a:p>
          <a:p>
            <a:pPr>
              <a:spcAft>
                <a:spcPts val="600"/>
              </a:spcAft>
            </a:pPr>
            <a:r>
              <a:rPr sz="1600"/>
              <a:t>SHAP shows which features matter overall and whether that drifts over the years; LIME explains one reading and opens straight from Behaviour Intelligence.</a:t>
            </a:r>
          </a:p>
          <a:p>
            <a:pPr>
              <a:spcAft>
                <a:spcPts val="600"/>
              </a:spcAft>
            </a:pPr>
            <a:r>
              <a:rPr sz="1500" b="1">
                <a:solidFill>
                  <a:srgbClr val="04617B"/>
                </a:solidFill>
              </a:rPr>
              <a:t>Key results:  XGBoost RMSE 2.02 kW  ·  SHAP vs true effect r = 0.99994  ·  LIME picks the right top factor 100%</a:t>
            </a:r>
          </a:p>
        </p:txBody>
      </p:sp>
      <p:pic>
        <p:nvPicPr>
          <p:cNvPr id="4" name="Picture 3" descr="xai_04_lime_2025-01-25.png"/>
          <p:cNvPicPr>
            <a:picLocks noChangeAspect="1"/>
          </p:cNvPicPr>
          <p:nvPr/>
        </p:nvPicPr>
        <p:blipFill>
          <a:blip r:embed="rId3"/>
          <a:stretch>
            <a:fillRect/>
          </a:stretch>
        </p:blipFill>
        <p:spPr>
          <a:xfrm>
            <a:off x="530860" y="274320"/>
            <a:ext cx="4470400" cy="2514599"/>
          </a:xfrm>
          <a:prstGeom prst="rect">
            <a:avLst/>
          </a:prstGeom>
          <a:ln w="9525">
            <a:solidFill>
              <a:srgbClr val="BFBFBF"/>
            </a:solidFill>
          </a:ln>
        </p:spPr>
      </p:pic>
      <p:pic>
        <p:nvPicPr>
          <p:cNvPr id="5" name="Picture 4" descr="xai_01_temporal_drift.png"/>
          <p:cNvPicPr>
            <a:picLocks noChangeAspect="1"/>
          </p:cNvPicPr>
          <p:nvPr/>
        </p:nvPicPr>
        <p:blipFill>
          <a:blip r:embed="rId4"/>
          <a:stretch>
            <a:fillRect/>
          </a:stretch>
        </p:blipFill>
        <p:spPr>
          <a:xfrm>
            <a:off x="5240020" y="274320"/>
            <a:ext cx="4470400" cy="2514599"/>
          </a:xfrm>
          <a:prstGeom prst="rect">
            <a:avLst/>
          </a:prstGeom>
          <a:ln w="9525">
            <a:solidFill>
              <a:srgbClr val="BFBFBF"/>
            </a:solidFill>
          </a:ln>
        </p:spPr>
      </p:pic>
      <p:sp>
        <p:nvSpPr>
          <p:cNvPr id="6"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IT22273062</a:t>
            </a:r>
            <a:r>
              <a:rPr lang="en-US" sz="1800" dirty="0">
                <a:solidFill>
                  <a:schemeClr val="tx1"/>
                </a:solidFill>
              </a:rPr>
              <a:t>   |   </a:t>
            </a:r>
            <a:r>
              <a:rPr lang="en-US" sz="1800" b="1" dirty="0">
                <a:solidFill>
                  <a:schemeClr val="tx1"/>
                </a:solidFill>
              </a:rPr>
              <a:t>Madushani R.P   </a:t>
            </a:r>
            <a:r>
              <a:rPr lang="en-US" sz="1800" dirty="0">
                <a:solidFill>
                  <a:schemeClr val="tx1"/>
                </a:solidFill>
              </a:rPr>
              <a:t>|   </a:t>
            </a:r>
            <a:r>
              <a:rPr lang="en-US" sz="1800" b="0" dirty="0">
                <a:solidFill>
                  <a:schemeClr val="tx1"/>
                </a:solidFill>
              </a:rPr>
              <a:t>R26-IT-010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Explainable AI — Dashboard &amp; Limitations</a:t>
            </a:r>
          </a:p>
        </p:txBody>
      </p:sp>
      <p:pic>
        <p:nvPicPr>
          <p:cNvPr id="3" name="Picture 2" descr="xai_03_model_xai_comparison.png"/>
          <p:cNvPicPr>
            <a:picLocks noChangeAspect="1"/>
          </p:cNvPicPr>
          <p:nvPr/>
        </p:nvPicPr>
        <p:blipFill>
          <a:blip r:embed="rId3"/>
          <a:stretch>
            <a:fillRect/>
          </a:stretch>
        </p:blipFill>
        <p:spPr>
          <a:xfrm>
            <a:off x="365760" y="1189863"/>
            <a:ext cx="5669280" cy="3188970"/>
          </a:xfrm>
          <a:prstGeom prst="rect">
            <a:avLst/>
          </a:prstGeom>
          <a:ln w="9525">
            <a:solidFill>
              <a:srgbClr val="BFBFBF"/>
            </a:solidFill>
          </a:ln>
        </p:spPr>
      </p:pic>
      <p:sp>
        <p:nvSpPr>
          <p:cNvPr id="4" name="TextBox 3"/>
          <p:cNvSpPr txBox="1"/>
          <p:nvPr/>
        </p:nvSpPr>
        <p:spPr>
          <a:xfrm>
            <a:off x="365760" y="4434840"/>
            <a:ext cx="5669280" cy="320040"/>
          </a:xfrm>
          <a:prstGeom prst="rect">
            <a:avLst/>
          </a:prstGeom>
          <a:noFill/>
        </p:spPr>
        <p:txBody>
          <a:bodyPr wrap="square" lIns="45720" rIns="45720" anchor="t">
            <a:spAutoFit/>
          </a:bodyPr>
          <a:lstStyle/>
          <a:p>
            <a:pPr marL="0" indent="0">
              <a:buNone/>
            </a:pPr>
            <a:r>
              <a:rPr sz="1200">
                <a:solidFill>
                  <a:srgbClr val="404040"/>
                </a:solidFill>
              </a:rPr>
              <a:t>Page 03: model and XAI comparison</a:t>
            </a:r>
          </a:p>
        </p:txBody>
      </p:sp>
      <p:pic>
        <p:nvPicPr>
          <p:cNvPr id="5" name="Picture 4" descr="xai_02_lime_list.png"/>
          <p:cNvPicPr>
            <a:picLocks noChangeAspect="1"/>
          </p:cNvPicPr>
          <p:nvPr/>
        </p:nvPicPr>
        <p:blipFill>
          <a:blip r:embed="rId4"/>
          <a:stretch>
            <a:fillRect/>
          </a:stretch>
        </p:blipFill>
        <p:spPr>
          <a:xfrm>
            <a:off x="6263640" y="1189863"/>
            <a:ext cx="5669280" cy="3188970"/>
          </a:xfrm>
          <a:prstGeom prst="rect">
            <a:avLst/>
          </a:prstGeom>
          <a:ln w="9525">
            <a:solidFill>
              <a:srgbClr val="BFBFBF"/>
            </a:solidFill>
          </a:ln>
        </p:spPr>
      </p:pic>
      <p:sp>
        <p:nvSpPr>
          <p:cNvPr id="6" name="TextBox 5"/>
          <p:cNvSpPr txBox="1"/>
          <p:nvPr/>
        </p:nvSpPr>
        <p:spPr>
          <a:xfrm>
            <a:off x="6263640" y="4434840"/>
            <a:ext cx="5669280" cy="320040"/>
          </a:xfrm>
          <a:prstGeom prst="rect">
            <a:avLst/>
          </a:prstGeom>
          <a:noFill/>
        </p:spPr>
        <p:txBody>
          <a:bodyPr wrap="square" lIns="45720" rIns="45720" anchor="t">
            <a:spAutoFit/>
          </a:bodyPr>
          <a:lstStyle/>
          <a:p>
            <a:pPr marL="0" indent="0">
              <a:buNone/>
            </a:pPr>
            <a:r>
              <a:rPr sz="1200">
                <a:solidFill>
                  <a:srgbClr val="404040"/>
                </a:solidFill>
              </a:rPr>
              <a:t>Page 02: LIME anomaly diagnosis</a:t>
            </a:r>
          </a:p>
        </p:txBody>
      </p:sp>
      <p:sp>
        <p:nvSpPr>
          <p:cNvPr id="7" name="TextBox 6"/>
          <p:cNvSpPr txBox="1"/>
          <p:nvPr/>
        </p:nvSpPr>
        <p:spPr>
          <a:xfrm>
            <a:off x="365760" y="4846320"/>
            <a:ext cx="11521440" cy="1371600"/>
          </a:xfrm>
          <a:prstGeom prst="rect">
            <a:avLst/>
          </a:prstGeom>
          <a:noFill/>
        </p:spPr>
        <p:txBody>
          <a:bodyPr wrap="square" lIns="45720" rIns="45720" anchor="t">
            <a:spAutoFit/>
          </a:bodyPr>
          <a:lstStyle/>
          <a:p>
            <a:pPr marL="256032" indent="-228600">
              <a:spcAft>
                <a:spcPts val="300"/>
              </a:spcAft>
              <a:buChar char="•"/>
            </a:pPr>
            <a:r>
              <a:rPr sz="1400"/>
              <a:t>Limitations: synthetic data where demand is exactly linear in temperature</a:t>
            </a:r>
          </a:p>
          <a:p>
            <a:pPr marL="256032" indent="-228600">
              <a:spcAft>
                <a:spcPts val="300"/>
              </a:spcAft>
              <a:buChar char="•"/>
            </a:pPr>
            <a:r>
              <a:rPr sz="1400"/>
              <a:t>LIME fits poorly for medium demand (R² 0.06), so its confidence is shown</a:t>
            </a:r>
          </a:p>
          <a:p>
            <a:pPr marL="256032" indent="-228600">
              <a:spcAft>
                <a:spcPts val="300"/>
              </a:spcAft>
              <a:buChar char="•"/>
            </a:pPr>
            <a:r>
              <a:rPr sz="1400"/>
              <a:t>XAI uses a different dataset from BI, so kW values for a date can differ</a:t>
            </a:r>
          </a:p>
        </p:txBody>
      </p:sp>
      <p:sp>
        <p:nvSpPr>
          <p:cNvPr id="8"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IT22273062</a:t>
            </a:r>
            <a:r>
              <a:rPr lang="en-US" sz="1800" dirty="0">
                <a:solidFill>
                  <a:schemeClr val="tx1"/>
                </a:solidFill>
              </a:rPr>
              <a:t>   |   </a:t>
            </a:r>
            <a:r>
              <a:rPr lang="en-US" sz="1800" b="1" dirty="0">
                <a:solidFill>
                  <a:schemeClr val="tx1"/>
                </a:solidFill>
              </a:rPr>
              <a:t>Madushani R.P   </a:t>
            </a:r>
            <a:r>
              <a:rPr lang="en-US" sz="1800" dirty="0">
                <a:solidFill>
                  <a:schemeClr val="tx1"/>
                </a:solidFill>
              </a:rPr>
              <a:t>|   </a:t>
            </a:r>
            <a:r>
              <a:rPr lang="en-US" sz="1800" b="0" dirty="0">
                <a:solidFill>
                  <a:schemeClr val="tx1"/>
                </a:solidFill>
              </a:rPr>
              <a:t>R26-IT-010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000" dirty="0"/>
              <a:t>Thank you</a:t>
            </a:r>
            <a:endParaRPr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5CC32-AD5E-DBA5-B427-919FA88C54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A15B3C-060B-D4E9-7104-920773D11C9B}"/>
              </a:ext>
            </a:extLst>
          </p:cNvPr>
          <p:cNvSpPr>
            <a:spLocks noGrp="1"/>
          </p:cNvSpPr>
          <p:nvPr>
            <p:ph type="ctrTitle"/>
          </p:nvPr>
        </p:nvSpPr>
        <p:spPr/>
        <p:txBody>
          <a:bodyPr/>
          <a:lstStyle/>
          <a:p>
            <a:r>
              <a:rPr sz="4000" dirty="0"/>
              <a:t>B</a:t>
            </a:r>
            <a:r>
              <a:rPr lang="en-US" sz="4000" dirty="0"/>
              <a:t>ackup Slides</a:t>
            </a:r>
            <a:endParaRPr sz="4000" dirty="0"/>
          </a:p>
        </p:txBody>
      </p:sp>
      <p:sp>
        <p:nvSpPr>
          <p:cNvPr id="3" name="Subtitle 2">
            <a:extLst>
              <a:ext uri="{FF2B5EF4-FFF2-40B4-BE49-F238E27FC236}">
                <a16:creationId xmlns:a16="http://schemas.microsoft.com/office/drawing/2014/main" id="{5351A4B1-7CD0-D611-CDD9-E9F4D86328B0}"/>
              </a:ext>
            </a:extLst>
          </p:cNvPr>
          <p:cNvSpPr>
            <a:spLocks noGrp="1"/>
          </p:cNvSpPr>
          <p:nvPr>
            <p:ph type="subTitle" idx="1"/>
          </p:nvPr>
        </p:nvSpPr>
        <p:spPr/>
        <p:txBody>
          <a:bodyPr wrap="square"/>
          <a:lstStyle/>
          <a:p>
            <a:pPr marL="0" indent="0">
              <a:buNone/>
            </a:pPr>
            <a:r>
              <a:rPr sz="2000">
                <a:solidFill>
                  <a:srgbClr val="404040"/>
                </a:solidFill>
              </a:rPr>
              <a:t>Detailed evidence for each component, for the panel's questions</a:t>
            </a:r>
          </a:p>
        </p:txBody>
      </p:sp>
    </p:spTree>
    <p:extLst>
      <p:ext uri="{BB962C8B-B14F-4D97-AF65-F5344CB8AC3E}">
        <p14:creationId xmlns:p14="http://schemas.microsoft.com/office/powerpoint/2010/main" val="2727127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Commercialization Plan — Value Proposition &amp; Customers</a:t>
            </a:r>
          </a:p>
        </p:txBody>
      </p:sp>
      <p:sp>
        <p:nvSpPr>
          <p:cNvPr id="3" name="TextBox 2"/>
          <p:cNvSpPr txBox="1"/>
          <p:nvPr/>
        </p:nvSpPr>
        <p:spPr>
          <a:xfrm>
            <a:off x="365760" y="1143000"/>
            <a:ext cx="4846320" cy="365760"/>
          </a:xfrm>
          <a:prstGeom prst="rect">
            <a:avLst/>
          </a:prstGeom>
          <a:noFill/>
        </p:spPr>
        <p:txBody>
          <a:bodyPr wrap="square" lIns="45720" rIns="45720" anchor="t">
            <a:spAutoFit/>
          </a:bodyPr>
          <a:lstStyle/>
          <a:p>
            <a:pPr marL="0" indent="0">
              <a:buNone/>
            </a:pPr>
            <a:r>
              <a:rPr sz="1800" b="1">
                <a:solidFill>
                  <a:srgbClr val="0F6FC6"/>
                </a:solidFill>
              </a:rPr>
              <a:t>Problem</a:t>
            </a:r>
          </a:p>
        </p:txBody>
      </p:sp>
      <p:sp>
        <p:nvSpPr>
          <p:cNvPr id="4" name="TextBox 3"/>
          <p:cNvSpPr txBox="1"/>
          <p:nvPr/>
        </p:nvSpPr>
        <p:spPr>
          <a:xfrm>
            <a:off x="365760" y="1508760"/>
            <a:ext cx="4846320" cy="1371600"/>
          </a:xfrm>
          <a:prstGeom prst="rect">
            <a:avLst/>
          </a:prstGeom>
          <a:noFill/>
        </p:spPr>
        <p:txBody>
          <a:bodyPr wrap="square" lIns="45720" rIns="45720" anchor="t">
            <a:spAutoFit/>
          </a:bodyPr>
          <a:lstStyle/>
          <a:p>
            <a:pPr marL="256032" indent="-228600">
              <a:spcAft>
                <a:spcPts val="300"/>
              </a:spcAft>
              <a:buChar char="•"/>
            </a:pPr>
            <a:r>
              <a:rPr sz="1600"/>
              <a:t>Planners need: day behaviour, unusual days, future demand</a:t>
            </a:r>
          </a:p>
          <a:p>
            <a:pPr marL="256032" indent="-228600">
              <a:spcAft>
                <a:spcPts val="300"/>
              </a:spcAft>
              <a:buChar char="•"/>
            </a:pPr>
            <a:r>
              <a:rPr sz="1600"/>
              <a:t>…and WHY the models predict what they predict</a:t>
            </a:r>
          </a:p>
        </p:txBody>
      </p:sp>
      <p:sp>
        <p:nvSpPr>
          <p:cNvPr id="5" name="TextBox 4"/>
          <p:cNvSpPr txBox="1"/>
          <p:nvPr/>
        </p:nvSpPr>
        <p:spPr>
          <a:xfrm>
            <a:off x="365760" y="2606040"/>
            <a:ext cx="4846320" cy="365760"/>
          </a:xfrm>
          <a:prstGeom prst="rect">
            <a:avLst/>
          </a:prstGeom>
          <a:noFill/>
        </p:spPr>
        <p:txBody>
          <a:bodyPr wrap="square" lIns="45720" rIns="45720" anchor="t">
            <a:spAutoFit/>
          </a:bodyPr>
          <a:lstStyle/>
          <a:p>
            <a:pPr marL="0" indent="0">
              <a:buNone/>
            </a:pPr>
            <a:r>
              <a:rPr sz="1800" b="1">
                <a:solidFill>
                  <a:srgbClr val="0F6FC6"/>
                </a:solidFill>
              </a:rPr>
              <a:t>Value proposition</a:t>
            </a:r>
          </a:p>
        </p:txBody>
      </p:sp>
      <p:sp>
        <p:nvSpPr>
          <p:cNvPr id="6" name="TextBox 5"/>
          <p:cNvSpPr txBox="1"/>
          <p:nvPr/>
        </p:nvSpPr>
        <p:spPr>
          <a:xfrm>
            <a:off x="365760" y="2971800"/>
            <a:ext cx="4846320" cy="2377440"/>
          </a:xfrm>
          <a:prstGeom prst="rect">
            <a:avLst/>
          </a:prstGeom>
          <a:noFill/>
        </p:spPr>
        <p:txBody>
          <a:bodyPr wrap="square" lIns="45720" rIns="45720" anchor="t">
            <a:spAutoFit/>
          </a:bodyPr>
          <a:lstStyle/>
          <a:p>
            <a:pPr marL="256032" indent="-228600">
              <a:spcAft>
                <a:spcPts val="400"/>
              </a:spcAft>
              <a:buChar char="•"/>
            </a:pPr>
            <a:r>
              <a:rPr sz="1600"/>
              <a:t>Better peak planning, fewer surprises</a:t>
            </a:r>
          </a:p>
          <a:p>
            <a:pPr marL="256032" indent="-228600">
              <a:spcAft>
                <a:spcPts val="400"/>
              </a:spcAft>
              <a:buChar char="•"/>
            </a:pPr>
            <a:r>
              <a:rPr sz="1600"/>
              <a:t>Explainable, trustworthy decisions</a:t>
            </a:r>
          </a:p>
          <a:p>
            <a:pPr marL="256032" indent="-228600">
              <a:spcAft>
                <a:spcPts val="400"/>
              </a:spcAft>
              <a:buChar char="•"/>
            </a:pPr>
            <a:r>
              <a:rPr sz="1600"/>
              <a:t>One integrated web platform with secure login</a:t>
            </a:r>
          </a:p>
          <a:p>
            <a:pPr marL="256032" indent="-228600">
              <a:spcAft>
                <a:spcPts val="400"/>
              </a:spcAft>
              <a:buChar char="•"/>
            </a:pPr>
            <a:r>
              <a:rPr sz="1600"/>
              <a:t>Four modules: behaviour, forecasting, neural forecasting, XAI</a:t>
            </a:r>
          </a:p>
        </p:txBody>
      </p:sp>
      <p:graphicFrame>
        <p:nvGraphicFramePr>
          <p:cNvPr id="7" name="Table 6"/>
          <p:cNvGraphicFramePr>
            <a:graphicFrameLocks noGrp="1"/>
          </p:cNvGraphicFramePr>
          <p:nvPr/>
        </p:nvGraphicFramePr>
        <p:xfrm>
          <a:off x="5440680" y="1188720"/>
          <a:ext cx="6492240" cy="3621024"/>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tblGrid>
              <a:tr h="603504">
                <a:tc>
                  <a:txBody>
                    <a:bodyPr/>
                    <a:lstStyle/>
                    <a:p>
                      <a:r>
                        <a:rPr sz="1500" b="1"/>
                        <a:t>Target customer</a:t>
                      </a:r>
                    </a:p>
                  </a:txBody>
                  <a:tcPr marL="54864" marR="54864" marT="27432" marB="27432"/>
                </a:tc>
                <a:tc>
                  <a:txBody>
                    <a:bodyPr/>
                    <a:lstStyle/>
                    <a:p>
                      <a:r>
                        <a:rPr sz="1500" b="1"/>
                        <a:t>What they get</a:t>
                      </a:r>
                    </a:p>
                  </a:txBody>
                  <a:tcPr marL="54864" marR="54864" marT="27432" marB="27432"/>
                </a:tc>
                <a:extLst>
                  <a:ext uri="{0D108BD9-81ED-4DB2-BD59-A6C34878D82A}">
                    <a16:rowId xmlns:a16="http://schemas.microsoft.com/office/drawing/2014/main" val="10000"/>
                  </a:ext>
                </a:extLst>
              </a:tr>
              <a:tr h="603504">
                <a:tc>
                  <a:txBody>
                    <a:bodyPr/>
                    <a:lstStyle/>
                    <a:p>
                      <a:r>
                        <a:rPr sz="1400" b="0"/>
                        <a:t>Ceylon Electricity Board (CEB): system control &amp; planning</a:t>
                      </a:r>
                    </a:p>
                  </a:txBody>
                  <a:tcPr marL="54864" marR="54864" marT="27432" marB="27432"/>
                </a:tc>
                <a:tc>
                  <a:txBody>
                    <a:bodyPr/>
                    <a:lstStyle/>
                    <a:p>
                      <a:r>
                        <a:rPr sz="1400" b="0"/>
                        <a:t>Peak planning, abnormal-day alerts, forecasts</a:t>
                      </a:r>
                    </a:p>
                  </a:txBody>
                  <a:tcPr marL="54864" marR="54864" marT="27432" marB="27432"/>
                </a:tc>
                <a:extLst>
                  <a:ext uri="{0D108BD9-81ED-4DB2-BD59-A6C34878D82A}">
                    <a16:rowId xmlns:a16="http://schemas.microsoft.com/office/drawing/2014/main" val="10001"/>
                  </a:ext>
                </a:extLst>
              </a:tr>
              <a:tr h="603504">
                <a:tc>
                  <a:txBody>
                    <a:bodyPr/>
                    <a:lstStyle/>
                    <a:p>
                      <a:r>
                        <a:rPr sz="1400" b="0"/>
                        <a:t>Lanka Electricity Company (LECO)</a:t>
                      </a:r>
                    </a:p>
                  </a:txBody>
                  <a:tcPr marL="54864" marR="54864" marT="27432" marB="27432"/>
                </a:tc>
                <a:tc>
                  <a:txBody>
                    <a:bodyPr/>
                    <a:lstStyle/>
                    <a:p>
                      <a:r>
                        <a:rPr sz="1400" b="0"/>
                        <a:t>Distribution-area demand planning</a:t>
                      </a:r>
                    </a:p>
                  </a:txBody>
                  <a:tcPr marL="54864" marR="54864" marT="27432" marB="27432"/>
                </a:tc>
                <a:extLst>
                  <a:ext uri="{0D108BD9-81ED-4DB2-BD59-A6C34878D82A}">
                    <a16:rowId xmlns:a16="http://schemas.microsoft.com/office/drawing/2014/main" val="10002"/>
                  </a:ext>
                </a:extLst>
              </a:tr>
              <a:tr h="603504">
                <a:tc>
                  <a:txBody>
                    <a:bodyPr/>
                    <a:lstStyle/>
                    <a:p>
                      <a:r>
                        <a:rPr sz="1400" b="0"/>
                        <a:t>Public Utilities Commission of Sri Lanka (PUCSL), regulator</a:t>
                      </a:r>
                    </a:p>
                  </a:txBody>
                  <a:tcPr marL="54864" marR="54864" marT="27432" marB="27432"/>
                </a:tc>
                <a:tc>
                  <a:txBody>
                    <a:bodyPr/>
                    <a:lstStyle/>
                    <a:p>
                      <a:r>
                        <a:rPr sz="1400" b="0"/>
                        <a:t>Transparent, explainable evidence for review</a:t>
                      </a:r>
                    </a:p>
                  </a:txBody>
                  <a:tcPr marL="54864" marR="54864" marT="27432" marB="27432"/>
                </a:tc>
                <a:extLst>
                  <a:ext uri="{0D108BD9-81ED-4DB2-BD59-A6C34878D82A}">
                    <a16:rowId xmlns:a16="http://schemas.microsoft.com/office/drawing/2014/main" val="10003"/>
                  </a:ext>
                </a:extLst>
              </a:tr>
              <a:tr h="603504">
                <a:tc>
                  <a:txBody>
                    <a:bodyPr/>
                    <a:lstStyle/>
                    <a:p>
                      <a:r>
                        <a:rPr sz="1400" b="0"/>
                        <a:t>Large industrial &amp; commercial consumers</a:t>
                      </a:r>
                    </a:p>
                  </a:txBody>
                  <a:tcPr marL="54864" marR="54864" marT="27432" marB="27432"/>
                </a:tc>
                <a:tc>
                  <a:txBody>
                    <a:bodyPr/>
                    <a:lstStyle/>
                    <a:p>
                      <a:r>
                        <a:rPr sz="1400" b="0"/>
                        <a:t>Plan own load around peak hours</a:t>
                      </a:r>
                    </a:p>
                  </a:txBody>
                  <a:tcPr marL="54864" marR="54864" marT="27432" marB="27432"/>
                </a:tc>
                <a:extLst>
                  <a:ext uri="{0D108BD9-81ED-4DB2-BD59-A6C34878D82A}">
                    <a16:rowId xmlns:a16="http://schemas.microsoft.com/office/drawing/2014/main" val="10004"/>
                  </a:ext>
                </a:extLst>
              </a:tr>
              <a:tr h="603504">
                <a:tc>
                  <a:txBody>
                    <a:bodyPr/>
                    <a:lstStyle/>
                    <a:p>
                      <a:r>
                        <a:rPr sz="1400" b="0"/>
                        <a:t>Solar &amp; battery operators</a:t>
                      </a:r>
                    </a:p>
                  </a:txBody>
                  <a:tcPr marL="54864" marR="54864" marT="27432" marB="27432"/>
                </a:tc>
                <a:tc>
                  <a:txBody>
                    <a:bodyPr/>
                    <a:lstStyle/>
                    <a:p>
                      <a:r>
                        <a:rPr sz="1400" b="0"/>
                        <a:t>Match generation and storage to demand</a:t>
                      </a:r>
                    </a:p>
                  </a:txBody>
                  <a:tcPr marL="54864" marR="54864" marT="27432" marB="27432"/>
                </a:tc>
                <a:extLst>
                  <a:ext uri="{0D108BD9-81ED-4DB2-BD59-A6C34878D82A}">
                    <a16:rowId xmlns:a16="http://schemas.microsoft.com/office/drawing/2014/main" val="10005"/>
                  </a:ext>
                </a:extLst>
              </a:tr>
            </a:tbl>
          </a:graphicData>
        </a:graphic>
      </p:graphicFrame>
      <p:sp>
        <p:nvSpPr>
          <p:cNvPr id="8" name="TextBox 7"/>
          <p:cNvSpPr txBox="1"/>
          <p:nvPr/>
        </p:nvSpPr>
        <p:spPr>
          <a:xfrm>
            <a:off x="5440680" y="5074920"/>
            <a:ext cx="6492240" cy="1097280"/>
          </a:xfrm>
          <a:prstGeom prst="rect">
            <a:avLst/>
          </a:prstGeom>
          <a:noFill/>
        </p:spPr>
        <p:txBody>
          <a:bodyPr wrap="square" lIns="45720" rIns="45720" anchor="t">
            <a:spAutoFit/>
          </a:bodyPr>
          <a:lstStyle/>
          <a:p>
            <a:pPr marL="0" indent="0">
              <a:buNone/>
            </a:pPr>
            <a:r>
              <a:rPr sz="1600" b="1">
                <a:solidFill>
                  <a:srgbClr val="04617B"/>
                </a:solidFill>
              </a:rPr>
              <a:t>Users (the platform's login roles):</a:t>
            </a:r>
          </a:p>
          <a:p>
            <a:pPr marL="0" indent="0">
              <a:buNone/>
            </a:pPr>
            <a:r>
              <a:rPr sz="1600"/>
              <a:t>Grid Planner  ·  Analyst  ·  Engineer  ·  Researcher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Commercialization Plan — Go-to-Market &amp; Competitive Advantage</a:t>
            </a:r>
          </a:p>
        </p:txBody>
      </p:sp>
      <p:sp>
        <p:nvSpPr>
          <p:cNvPr id="3" name="TextBox 2"/>
          <p:cNvSpPr txBox="1"/>
          <p:nvPr/>
        </p:nvSpPr>
        <p:spPr>
          <a:xfrm>
            <a:off x="365760" y="1143000"/>
            <a:ext cx="11430000" cy="365760"/>
          </a:xfrm>
          <a:prstGeom prst="rect">
            <a:avLst/>
          </a:prstGeom>
          <a:noFill/>
        </p:spPr>
        <p:txBody>
          <a:bodyPr wrap="square" lIns="45720" rIns="45720" anchor="t">
            <a:spAutoFit/>
          </a:bodyPr>
          <a:lstStyle/>
          <a:p>
            <a:pPr marL="0" indent="0">
              <a:buNone/>
            </a:pPr>
            <a:r>
              <a:rPr sz="1700" b="1">
                <a:solidFill>
                  <a:srgbClr val="0F6FC6"/>
                </a:solidFill>
              </a:rPr>
              <a:t>Go-to-market roadmap (phases; timing to be agreed with partners — assumption)</a:t>
            </a:r>
          </a:p>
        </p:txBody>
      </p:sp>
      <p:sp>
        <p:nvSpPr>
          <p:cNvPr id="4" name="Pentagon 3"/>
          <p:cNvSpPr/>
          <p:nvPr/>
        </p:nvSpPr>
        <p:spPr>
          <a:xfrm>
            <a:off x="365760" y="1600200"/>
            <a:ext cx="2971800" cy="1325880"/>
          </a:xfrm>
          <a:prstGeom prst="homePlate">
            <a:avLst/>
          </a:prstGeom>
          <a:solidFill>
            <a:srgbClr val="0F6FC6"/>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rPr>
              <a:t>1  Pilot</a:t>
            </a:r>
          </a:p>
          <a:p>
            <a:pPr algn="ctr"/>
            <a:r>
              <a:rPr sz="1500" b="0">
                <a:solidFill>
                  <a:srgbClr val="FFFFFF"/>
                </a:solidFill>
              </a:rPr>
              <a:t>One CEB region / area with real metered data</a:t>
            </a:r>
          </a:p>
        </p:txBody>
      </p:sp>
      <p:sp>
        <p:nvSpPr>
          <p:cNvPr id="5" name="Chevron 4"/>
          <p:cNvSpPr/>
          <p:nvPr/>
        </p:nvSpPr>
        <p:spPr>
          <a:xfrm>
            <a:off x="3200400" y="1600200"/>
            <a:ext cx="2971800" cy="1325880"/>
          </a:xfrm>
          <a:prstGeom prst="chevron">
            <a:avLst/>
          </a:prstGeom>
          <a:solidFill>
            <a:srgbClr val="009DD9"/>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rPr>
              <a:t>2  Validate</a:t>
            </a:r>
          </a:p>
          <a:p>
            <a:pPr algn="ctr"/>
            <a:r>
              <a:rPr sz="1500" b="0">
                <a:solidFill>
                  <a:srgbClr val="FFFFFF"/>
                </a:solidFill>
              </a:rPr>
              <a:t>Accuracy on real data + user feedback</a:t>
            </a:r>
          </a:p>
        </p:txBody>
      </p:sp>
      <p:sp>
        <p:nvSpPr>
          <p:cNvPr id="6" name="Chevron 5"/>
          <p:cNvSpPr/>
          <p:nvPr/>
        </p:nvSpPr>
        <p:spPr>
          <a:xfrm>
            <a:off x="6035040" y="1600200"/>
            <a:ext cx="2971800" cy="1325880"/>
          </a:xfrm>
          <a:prstGeom prst="chevron">
            <a:avLst/>
          </a:prstGeom>
          <a:solidFill>
            <a:srgbClr val="0BA8B0"/>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rPr>
              <a:t>3  Roll out</a:t>
            </a:r>
          </a:p>
          <a:p>
            <a:pPr algn="ctr"/>
            <a:r>
              <a:rPr sz="1500" b="0">
                <a:solidFill>
                  <a:srgbClr val="FFFFFF"/>
                </a:solidFill>
              </a:rPr>
              <a:t>Full CEB and LECO deployment</a:t>
            </a:r>
          </a:p>
        </p:txBody>
      </p:sp>
      <p:sp>
        <p:nvSpPr>
          <p:cNvPr id="7" name="Chevron 6"/>
          <p:cNvSpPr/>
          <p:nvPr/>
        </p:nvSpPr>
        <p:spPr>
          <a:xfrm>
            <a:off x="8869680" y="1600200"/>
            <a:ext cx="2971800" cy="1325880"/>
          </a:xfrm>
          <a:prstGeom prst="chevron">
            <a:avLst/>
          </a:prstGeom>
          <a:solidFill>
            <a:srgbClr val="0CA078"/>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rPr>
              <a:t>4  Expand</a:t>
            </a:r>
          </a:p>
          <a:p>
            <a:pPr algn="ctr"/>
            <a:r>
              <a:rPr sz="1500" b="0">
                <a:solidFill>
                  <a:srgbClr val="FFFFFF"/>
                </a:solidFill>
              </a:rPr>
              <a:t>Industrial consumers + other South Asian utilities</a:t>
            </a:r>
          </a:p>
        </p:txBody>
      </p:sp>
      <p:sp>
        <p:nvSpPr>
          <p:cNvPr id="8" name="TextBox 7"/>
          <p:cNvSpPr txBox="1"/>
          <p:nvPr/>
        </p:nvSpPr>
        <p:spPr>
          <a:xfrm>
            <a:off x="365760" y="3246120"/>
            <a:ext cx="11430000" cy="365760"/>
          </a:xfrm>
          <a:prstGeom prst="rect">
            <a:avLst/>
          </a:prstGeom>
          <a:noFill/>
        </p:spPr>
        <p:txBody>
          <a:bodyPr wrap="square" lIns="45720" rIns="45720" anchor="t">
            <a:spAutoFit/>
          </a:bodyPr>
          <a:lstStyle/>
          <a:p>
            <a:pPr marL="0" indent="0">
              <a:buNone/>
            </a:pPr>
            <a:r>
              <a:rPr sz="1800" b="1">
                <a:solidFill>
                  <a:srgbClr val="0F6FC6"/>
                </a:solidFill>
              </a:rPr>
              <a:t>Competitive advantage</a:t>
            </a:r>
          </a:p>
        </p:txBody>
      </p:sp>
      <p:sp>
        <p:nvSpPr>
          <p:cNvPr id="9" name="TextBox 8"/>
          <p:cNvSpPr txBox="1"/>
          <p:nvPr/>
        </p:nvSpPr>
        <p:spPr>
          <a:xfrm>
            <a:off x="365760" y="3657600"/>
            <a:ext cx="5760720" cy="2560320"/>
          </a:xfrm>
          <a:prstGeom prst="rect">
            <a:avLst/>
          </a:prstGeom>
          <a:noFill/>
        </p:spPr>
        <p:txBody>
          <a:bodyPr wrap="square" lIns="45720" rIns="45720" anchor="t">
            <a:spAutoFit/>
          </a:bodyPr>
          <a:lstStyle/>
          <a:p>
            <a:pPr marL="256032" indent="-228600">
              <a:spcAft>
                <a:spcPts val="600"/>
              </a:spcAft>
              <a:buChar char="•"/>
            </a:pPr>
            <a:r>
              <a:rPr sz="1700"/>
              <a:t>Integrated: behaviour + forecasting + explainability in one place</a:t>
            </a:r>
          </a:p>
          <a:p>
            <a:pPr marL="256032" indent="-228600">
              <a:spcAft>
                <a:spcPts val="600"/>
              </a:spcAft>
              <a:buChar char="•"/>
            </a:pPr>
            <a:r>
              <a:rPr sz="1700"/>
              <a:t>Explainable AI (SHAP, LIME) builds operator trust</a:t>
            </a:r>
          </a:p>
          <a:p>
            <a:pPr marL="256032" indent="-228600">
              <a:spcAft>
                <a:spcPts val="600"/>
              </a:spcAft>
              <a:buChar char="•"/>
            </a:pPr>
            <a:r>
              <a:rPr sz="1700"/>
              <a:t>Tuned and validated models, with honest uncertainty</a:t>
            </a:r>
          </a:p>
        </p:txBody>
      </p:sp>
      <p:sp>
        <p:nvSpPr>
          <p:cNvPr id="10" name="TextBox 9"/>
          <p:cNvSpPr txBox="1"/>
          <p:nvPr/>
        </p:nvSpPr>
        <p:spPr>
          <a:xfrm>
            <a:off x="6263640" y="3657600"/>
            <a:ext cx="5669280" cy="2560320"/>
          </a:xfrm>
          <a:prstGeom prst="rect">
            <a:avLst/>
          </a:prstGeom>
          <a:noFill/>
        </p:spPr>
        <p:txBody>
          <a:bodyPr wrap="square" lIns="45720" rIns="45720" anchor="t">
            <a:spAutoFit/>
          </a:bodyPr>
          <a:lstStyle/>
          <a:p>
            <a:pPr marL="256032" indent="-228600">
              <a:spcAft>
                <a:spcPts val="600"/>
              </a:spcAft>
              <a:buChar char="•"/>
            </a:pPr>
            <a:r>
              <a:rPr sz="1700"/>
              <a:t>Local context: Poya days, Sri Lankan public events, weather</a:t>
            </a:r>
          </a:p>
          <a:p>
            <a:pPr marL="256032" indent="-228600">
              <a:spcAft>
                <a:spcPts val="600"/>
              </a:spcAft>
              <a:buChar char="•"/>
            </a:pPr>
            <a:r>
              <a:rPr sz="1700"/>
              <a:t>Modular and web-based: add modules, cloud or on-premise</a:t>
            </a:r>
          </a:p>
          <a:p>
            <a:pPr marL="256032" indent="-228600">
              <a:spcAft>
                <a:spcPts val="600"/>
              </a:spcAft>
              <a:buChar char="•"/>
            </a:pPr>
            <a:r>
              <a:rPr sz="1700"/>
              <a:t>Built on open-source tools: no licence lock-in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Commercialization Plan — Business Model &amp; Pricing</a:t>
            </a:r>
          </a:p>
        </p:txBody>
      </p:sp>
      <p:sp>
        <p:nvSpPr>
          <p:cNvPr id="3" name="TextBox 2"/>
          <p:cNvSpPr txBox="1"/>
          <p:nvPr/>
        </p:nvSpPr>
        <p:spPr>
          <a:xfrm>
            <a:off x="365760" y="1143000"/>
            <a:ext cx="11430000" cy="365760"/>
          </a:xfrm>
          <a:prstGeom prst="rect">
            <a:avLst/>
          </a:prstGeom>
          <a:noFill/>
        </p:spPr>
        <p:txBody>
          <a:bodyPr wrap="square" lIns="45720" rIns="45720" anchor="t">
            <a:spAutoFit/>
          </a:bodyPr>
          <a:lstStyle/>
          <a:p>
            <a:pPr marL="0" indent="0">
              <a:buNone/>
            </a:pPr>
            <a:r>
              <a:rPr sz="1800" b="1">
                <a:solidFill>
                  <a:srgbClr val="0F6FC6"/>
                </a:solidFill>
              </a:rPr>
              <a:t>Software-as-a-Service (SaaS) subscription in three tiers</a:t>
            </a:r>
          </a:p>
        </p:txBody>
      </p:sp>
      <p:graphicFrame>
        <p:nvGraphicFramePr>
          <p:cNvPr id="4" name="Table 3"/>
          <p:cNvGraphicFramePr>
            <a:graphicFrameLocks noGrp="1"/>
          </p:cNvGraphicFramePr>
          <p:nvPr/>
        </p:nvGraphicFramePr>
        <p:xfrm>
          <a:off x="365760" y="1600200"/>
          <a:ext cx="11430000" cy="25146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502920">
                <a:tc>
                  <a:txBody>
                    <a:bodyPr/>
                    <a:lstStyle/>
                    <a:p>
                      <a:endParaRPr/>
                    </a:p>
                  </a:txBody>
                  <a:tcPr marL="54864" marR="54864" marT="27432" marB="27432"/>
                </a:tc>
                <a:tc>
                  <a:txBody>
                    <a:bodyPr/>
                    <a:lstStyle/>
                    <a:p>
                      <a:r>
                        <a:rPr sz="1600" b="1"/>
                        <a:t>Basic</a:t>
                      </a:r>
                    </a:p>
                  </a:txBody>
                  <a:tcPr marL="54864" marR="54864" marT="27432" marB="27432"/>
                </a:tc>
                <a:tc>
                  <a:txBody>
                    <a:bodyPr/>
                    <a:lstStyle/>
                    <a:p>
                      <a:r>
                        <a:rPr sz="1600" b="1"/>
                        <a:t>Professional</a:t>
                      </a:r>
                    </a:p>
                  </a:txBody>
                  <a:tcPr marL="54864" marR="54864" marT="27432" marB="27432"/>
                </a:tc>
                <a:tc>
                  <a:txBody>
                    <a:bodyPr/>
                    <a:lstStyle/>
                    <a:p>
                      <a:r>
                        <a:rPr sz="1600" b="1"/>
                        <a:t>Enterprise</a:t>
                      </a:r>
                    </a:p>
                  </a:txBody>
                  <a:tcPr marL="54864" marR="54864" marT="27432" marB="27432"/>
                </a:tc>
                <a:extLst>
                  <a:ext uri="{0D108BD9-81ED-4DB2-BD59-A6C34878D82A}">
                    <a16:rowId xmlns:a16="http://schemas.microsoft.com/office/drawing/2014/main" val="10000"/>
                  </a:ext>
                </a:extLst>
              </a:tr>
              <a:tr h="502920">
                <a:tc>
                  <a:txBody>
                    <a:bodyPr/>
                    <a:lstStyle/>
                    <a:p>
                      <a:r>
                        <a:rPr sz="1400" b="1"/>
                        <a:t>Includes</a:t>
                      </a:r>
                    </a:p>
                  </a:txBody>
                  <a:tcPr marL="54864" marR="54864" marT="27432" marB="27432"/>
                </a:tc>
                <a:tc>
                  <a:txBody>
                    <a:bodyPr/>
                    <a:lstStyle/>
                    <a:p>
                      <a:r>
                        <a:rPr sz="1400" b="0"/>
                        <a:t>Dashboard + behaviour labels, anomaly alerts</a:t>
                      </a:r>
                    </a:p>
                  </a:txBody>
                  <a:tcPr marL="54864" marR="54864" marT="27432" marB="27432"/>
                </a:tc>
                <a:tc>
                  <a:txBody>
                    <a:bodyPr/>
                    <a:lstStyle/>
                    <a:p>
                      <a:r>
                        <a:rPr sz="1400" b="0"/>
                        <a:t>Basic + demand forecasting + what-if scenarios</a:t>
                      </a:r>
                    </a:p>
                  </a:txBody>
                  <a:tcPr marL="54864" marR="54864" marT="27432" marB="27432"/>
                </a:tc>
                <a:tc>
                  <a:txBody>
                    <a:bodyPr/>
                    <a:lstStyle/>
                    <a:p>
                      <a:r>
                        <a:rPr sz="1400" b="0"/>
                        <a:t>Professional + Explainable AI, custom models, API access</a:t>
                      </a:r>
                    </a:p>
                  </a:txBody>
                  <a:tcPr marL="54864" marR="54864" marT="27432" marB="27432"/>
                </a:tc>
                <a:extLst>
                  <a:ext uri="{0D108BD9-81ED-4DB2-BD59-A6C34878D82A}">
                    <a16:rowId xmlns:a16="http://schemas.microsoft.com/office/drawing/2014/main" val="10001"/>
                  </a:ext>
                </a:extLst>
              </a:tr>
              <a:tr h="502920">
                <a:tc>
                  <a:txBody>
                    <a:bodyPr/>
                    <a:lstStyle/>
                    <a:p>
                      <a:r>
                        <a:rPr sz="1400" b="1"/>
                        <a:t>Deployment</a:t>
                      </a:r>
                    </a:p>
                  </a:txBody>
                  <a:tcPr marL="54864" marR="54864" marT="27432" marB="27432"/>
                </a:tc>
                <a:tc>
                  <a:txBody>
                    <a:bodyPr/>
                    <a:lstStyle/>
                    <a:p>
                      <a:r>
                        <a:rPr sz="1400" b="0"/>
                        <a:t>Cloud (web)</a:t>
                      </a:r>
                    </a:p>
                  </a:txBody>
                  <a:tcPr marL="54864" marR="54864" marT="27432" marB="27432"/>
                </a:tc>
                <a:tc>
                  <a:txBody>
                    <a:bodyPr/>
                    <a:lstStyle/>
                    <a:p>
                      <a:r>
                        <a:rPr sz="1400" b="0"/>
                        <a:t>Cloud (web)</a:t>
                      </a:r>
                    </a:p>
                  </a:txBody>
                  <a:tcPr marL="54864" marR="54864" marT="27432" marB="27432"/>
                </a:tc>
                <a:tc>
                  <a:txBody>
                    <a:bodyPr/>
                    <a:lstStyle/>
                    <a:p>
                      <a:r>
                        <a:rPr sz="1400" b="0"/>
                        <a:t>Cloud or on-premise for utilities</a:t>
                      </a:r>
                    </a:p>
                  </a:txBody>
                  <a:tcPr marL="54864" marR="54864" marT="27432" marB="27432"/>
                </a:tc>
                <a:extLst>
                  <a:ext uri="{0D108BD9-81ED-4DB2-BD59-A6C34878D82A}">
                    <a16:rowId xmlns:a16="http://schemas.microsoft.com/office/drawing/2014/main" val="10002"/>
                  </a:ext>
                </a:extLst>
              </a:tr>
              <a:tr h="502920">
                <a:tc>
                  <a:txBody>
                    <a:bodyPr/>
                    <a:lstStyle/>
                    <a:p>
                      <a:r>
                        <a:rPr sz="1400" b="1"/>
                        <a:t>Best for</a:t>
                      </a:r>
                    </a:p>
                  </a:txBody>
                  <a:tcPr marL="54864" marR="54864" marT="27432" marB="27432"/>
                </a:tc>
                <a:tc>
                  <a:txBody>
                    <a:bodyPr/>
                    <a:lstStyle/>
                    <a:p>
                      <a:r>
                        <a:rPr sz="1400" b="0"/>
                        <a:t>Analysts, consumers</a:t>
                      </a:r>
                    </a:p>
                  </a:txBody>
                  <a:tcPr marL="54864" marR="54864" marT="27432" marB="27432"/>
                </a:tc>
                <a:tc>
                  <a:txBody>
                    <a:bodyPr/>
                    <a:lstStyle/>
                    <a:p>
                      <a:r>
                        <a:rPr sz="1400" b="0"/>
                        <a:t>Planning teams, operators</a:t>
                      </a:r>
                    </a:p>
                  </a:txBody>
                  <a:tcPr marL="54864" marR="54864" marT="27432" marB="27432"/>
                </a:tc>
                <a:tc>
                  <a:txBody>
                    <a:bodyPr/>
                    <a:lstStyle/>
                    <a:p>
                      <a:r>
                        <a:rPr sz="1400" b="0"/>
                        <a:t>CEB, LECO, regulator</a:t>
                      </a:r>
                    </a:p>
                  </a:txBody>
                  <a:tcPr marL="54864" marR="54864" marT="27432" marB="27432"/>
                </a:tc>
                <a:extLst>
                  <a:ext uri="{0D108BD9-81ED-4DB2-BD59-A6C34878D82A}">
                    <a16:rowId xmlns:a16="http://schemas.microsoft.com/office/drawing/2014/main" val="10003"/>
                  </a:ext>
                </a:extLst>
              </a:tr>
              <a:tr h="502920">
                <a:tc>
                  <a:txBody>
                    <a:bodyPr/>
                    <a:lstStyle/>
                    <a:p>
                      <a:r>
                        <a:rPr sz="1400" b="1"/>
                        <a:t>Price</a:t>
                      </a:r>
                    </a:p>
                  </a:txBody>
                  <a:tcPr marL="54864" marR="54864" marT="27432" marB="27432"/>
                </a:tc>
                <a:tc>
                  <a:txBody>
                    <a:bodyPr/>
                    <a:lstStyle/>
                    <a:p>
                      <a:r>
                        <a:rPr sz="1400" b="0"/>
                        <a:t>Indicative: lowest tier</a:t>
                      </a:r>
                    </a:p>
                  </a:txBody>
                  <a:tcPr marL="54864" marR="54864" marT="27432" marB="27432"/>
                </a:tc>
                <a:tc>
                  <a:txBody>
                    <a:bodyPr/>
                    <a:lstStyle/>
                    <a:p>
                      <a:r>
                        <a:rPr sz="1400" b="0"/>
                        <a:t>Indicative: mid tier</a:t>
                      </a:r>
                    </a:p>
                  </a:txBody>
                  <a:tcPr marL="54864" marR="54864" marT="27432" marB="27432"/>
                </a:tc>
                <a:tc>
                  <a:txBody>
                    <a:bodyPr/>
                    <a:lstStyle/>
                    <a:p>
                      <a:r>
                        <a:rPr sz="1400" b="0"/>
                        <a:t>Indicative: quoted per utility</a:t>
                      </a:r>
                    </a:p>
                  </a:txBody>
                  <a:tcPr marL="54864" marR="54864" marT="27432" marB="27432"/>
                </a:tc>
                <a:extLst>
                  <a:ext uri="{0D108BD9-81ED-4DB2-BD59-A6C34878D82A}">
                    <a16:rowId xmlns:a16="http://schemas.microsoft.com/office/drawing/2014/main" val="10004"/>
                  </a:ext>
                </a:extLst>
              </a:tr>
            </a:tbl>
          </a:graphicData>
        </a:graphic>
      </p:graphicFrame>
      <p:sp>
        <p:nvSpPr>
          <p:cNvPr id="5" name="TextBox 4"/>
          <p:cNvSpPr txBox="1"/>
          <p:nvPr/>
        </p:nvSpPr>
        <p:spPr>
          <a:xfrm>
            <a:off x="365760" y="4343400"/>
            <a:ext cx="5760720" cy="365760"/>
          </a:xfrm>
          <a:prstGeom prst="rect">
            <a:avLst/>
          </a:prstGeom>
          <a:noFill/>
        </p:spPr>
        <p:txBody>
          <a:bodyPr wrap="square" lIns="45720" rIns="45720" anchor="t">
            <a:spAutoFit/>
          </a:bodyPr>
          <a:lstStyle/>
          <a:p>
            <a:pPr marL="0" indent="0">
              <a:buNone/>
            </a:pPr>
            <a:r>
              <a:rPr sz="1700" b="1">
                <a:solidFill>
                  <a:srgbClr val="0F6FC6"/>
                </a:solidFill>
              </a:rPr>
              <a:t>Additional revenue (services)</a:t>
            </a:r>
          </a:p>
        </p:txBody>
      </p:sp>
      <p:sp>
        <p:nvSpPr>
          <p:cNvPr id="6" name="TextBox 5"/>
          <p:cNvSpPr txBox="1"/>
          <p:nvPr/>
        </p:nvSpPr>
        <p:spPr>
          <a:xfrm>
            <a:off x="365760" y="4709160"/>
            <a:ext cx="5760720" cy="1463040"/>
          </a:xfrm>
          <a:prstGeom prst="rect">
            <a:avLst/>
          </a:prstGeom>
          <a:noFill/>
        </p:spPr>
        <p:txBody>
          <a:bodyPr wrap="square" lIns="45720" rIns="45720" anchor="t">
            <a:spAutoFit/>
          </a:bodyPr>
          <a:lstStyle/>
          <a:p>
            <a:pPr marL="256032" indent="-228600">
              <a:spcAft>
                <a:spcPts val="300"/>
              </a:spcAft>
              <a:buChar char="•"/>
            </a:pPr>
            <a:r>
              <a:rPr sz="1500"/>
              <a:t>One-time setup and data integration</a:t>
            </a:r>
          </a:p>
          <a:p>
            <a:pPr marL="256032" indent="-228600">
              <a:spcAft>
                <a:spcPts val="300"/>
              </a:spcAft>
              <a:buChar char="•"/>
            </a:pPr>
            <a:r>
              <a:rPr sz="1500"/>
              <a:t>User training workshops</a:t>
            </a:r>
          </a:p>
          <a:p>
            <a:pPr marL="256032" indent="-228600">
              <a:spcAft>
                <a:spcPts val="300"/>
              </a:spcAft>
              <a:buChar char="•"/>
            </a:pPr>
            <a:r>
              <a:rPr sz="1500"/>
              <a:t>Annual support and maintenance contract</a:t>
            </a:r>
          </a:p>
        </p:txBody>
      </p:sp>
      <p:sp>
        <p:nvSpPr>
          <p:cNvPr id="7" name="TextBox 6"/>
          <p:cNvSpPr txBox="1"/>
          <p:nvPr/>
        </p:nvSpPr>
        <p:spPr>
          <a:xfrm>
            <a:off x="6400800" y="4343400"/>
            <a:ext cx="5394960" cy="1737360"/>
          </a:xfrm>
          <a:prstGeom prst="rect">
            <a:avLst/>
          </a:prstGeom>
          <a:noFill/>
        </p:spPr>
        <p:txBody>
          <a:bodyPr wrap="square" lIns="45720" rIns="45720" anchor="t">
            <a:spAutoFit/>
          </a:bodyPr>
          <a:lstStyle/>
          <a:p>
            <a:pPr marL="0" indent="0">
              <a:buNone/>
            </a:pPr>
            <a:r>
              <a:rPr sz="1700" b="1">
                <a:solidFill>
                  <a:srgbClr val="C05000"/>
                </a:solidFill>
              </a:rPr>
              <a:t>Pricing note</a:t>
            </a:r>
          </a:p>
          <a:p>
            <a:pPr marL="0" indent="0">
              <a:buNone/>
            </a:pPr>
            <a:r>
              <a:rPr sz="1400">
                <a:solidFill>
                  <a:srgbClr val="C05000"/>
                </a:solidFill>
              </a:rPr>
              <a:t>All prices are indicative and must be validated with customers during the pilot (assumption). No market figures are claimed.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Commercialization Plan — Costs, Risks &amp; Mitigation</a:t>
            </a:r>
          </a:p>
        </p:txBody>
      </p:sp>
      <p:sp>
        <p:nvSpPr>
          <p:cNvPr id="3" name="TextBox 2"/>
          <p:cNvSpPr txBox="1"/>
          <p:nvPr/>
        </p:nvSpPr>
        <p:spPr>
          <a:xfrm>
            <a:off x="365760" y="1097280"/>
            <a:ext cx="7223760" cy="685800"/>
          </a:xfrm>
          <a:prstGeom prst="rect">
            <a:avLst/>
          </a:prstGeom>
          <a:noFill/>
        </p:spPr>
        <p:txBody>
          <a:bodyPr wrap="square" lIns="45720" rIns="45720" anchor="t">
            <a:spAutoFit/>
          </a:bodyPr>
          <a:lstStyle/>
          <a:p>
            <a:pPr marL="0" indent="0">
              <a:buNone/>
            </a:pPr>
            <a:r>
              <a:rPr sz="1400" b="1">
                <a:solidFill>
                  <a:srgbClr val="04617B"/>
                </a:solidFill>
              </a:rPr>
              <a:t>Main costs (to be estimated in the pilot — assumption):</a:t>
            </a:r>
          </a:p>
          <a:p>
            <a:pPr marL="0" indent="0">
              <a:buNone/>
            </a:pPr>
            <a:r>
              <a:rPr sz="1300"/>
              <a:t>hosting (cloud or on-premise) · development &amp; maintenance · data integration · user support</a:t>
            </a:r>
          </a:p>
        </p:txBody>
      </p:sp>
      <p:graphicFrame>
        <p:nvGraphicFramePr>
          <p:cNvPr id="4" name="Table 3"/>
          <p:cNvGraphicFramePr>
            <a:graphicFrameLocks noGrp="1"/>
          </p:cNvGraphicFramePr>
          <p:nvPr/>
        </p:nvGraphicFramePr>
        <p:xfrm>
          <a:off x="365760" y="1874519"/>
          <a:ext cx="7223760" cy="3950208"/>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658368">
                <a:tc>
                  <a:txBody>
                    <a:bodyPr/>
                    <a:lstStyle/>
                    <a:p>
                      <a:r>
                        <a:rPr sz="1600" b="1"/>
                        <a:t>Risk</a:t>
                      </a:r>
                    </a:p>
                  </a:txBody>
                  <a:tcPr marL="54864" marR="54864" marT="27432" marB="27432"/>
                </a:tc>
                <a:tc>
                  <a:txBody>
                    <a:bodyPr/>
                    <a:lstStyle/>
                    <a:p>
                      <a:r>
                        <a:rPr sz="1600" b="1"/>
                        <a:t>Mitigation</a:t>
                      </a:r>
                    </a:p>
                  </a:txBody>
                  <a:tcPr marL="54864" marR="54864" marT="27432" marB="27432"/>
                </a:tc>
                <a:extLst>
                  <a:ext uri="{0D108BD9-81ED-4DB2-BD59-A6C34878D82A}">
                    <a16:rowId xmlns:a16="http://schemas.microsoft.com/office/drawing/2014/main" val="10000"/>
                  </a:ext>
                </a:extLst>
              </a:tr>
              <a:tr h="658368">
                <a:tc>
                  <a:txBody>
                    <a:bodyPr/>
                    <a:lstStyle/>
                    <a:p>
                      <a:r>
                        <a:rPr sz="1500" b="0"/>
                        <a:t>Access to real utility data</a:t>
                      </a:r>
                    </a:p>
                  </a:txBody>
                  <a:tcPr marL="54864" marR="54864" marT="27432" marB="27432"/>
                </a:tc>
                <a:tc>
                  <a:txBody>
                    <a:bodyPr/>
                    <a:lstStyle/>
                    <a:p>
                      <a:r>
                        <a:rPr sz="1500" b="0"/>
                        <a:t>Start with one pilot area under a data-sharing agreement</a:t>
                      </a:r>
                    </a:p>
                  </a:txBody>
                  <a:tcPr marL="54864" marR="54864" marT="27432" marB="27432"/>
                </a:tc>
                <a:extLst>
                  <a:ext uri="{0D108BD9-81ED-4DB2-BD59-A6C34878D82A}">
                    <a16:rowId xmlns:a16="http://schemas.microsoft.com/office/drawing/2014/main" val="10001"/>
                  </a:ext>
                </a:extLst>
              </a:tr>
              <a:tr h="658368">
                <a:tc>
                  <a:txBody>
                    <a:bodyPr/>
                    <a:lstStyle/>
                    <a:p>
                      <a:r>
                        <a:rPr sz="1500" b="0"/>
                        <a:t>Data privacy &amp; security</a:t>
                      </a:r>
                    </a:p>
                  </a:txBody>
                  <a:tcPr marL="54864" marR="54864" marT="27432" marB="27432"/>
                </a:tc>
                <a:tc>
                  <a:txBody>
                    <a:bodyPr/>
                    <a:lstStyle/>
                    <a:p>
                      <a:r>
                        <a:rPr sz="1500" b="0"/>
                        <a:t>On-premise option; hashed passwords, signed sessions</a:t>
                      </a:r>
                    </a:p>
                  </a:txBody>
                  <a:tcPr marL="54864" marR="54864" marT="27432" marB="27432"/>
                </a:tc>
                <a:extLst>
                  <a:ext uri="{0D108BD9-81ED-4DB2-BD59-A6C34878D82A}">
                    <a16:rowId xmlns:a16="http://schemas.microsoft.com/office/drawing/2014/main" val="10002"/>
                  </a:ext>
                </a:extLst>
              </a:tr>
              <a:tr h="658368">
                <a:tc>
                  <a:txBody>
                    <a:bodyPr/>
                    <a:lstStyle/>
                    <a:p>
                      <a:r>
                        <a:rPr sz="1500" b="0"/>
                        <a:t>Regulatory approval</a:t>
                      </a:r>
                    </a:p>
                  </a:txBody>
                  <a:tcPr marL="54864" marR="54864" marT="27432" marB="27432"/>
                </a:tc>
                <a:tc>
                  <a:txBody>
                    <a:bodyPr/>
                    <a:lstStyle/>
                    <a:p>
                      <a:r>
                        <a:rPr sz="1500" b="0"/>
                        <a:t>Engage PUCSL early; explainable outputs for audit</a:t>
                      </a:r>
                    </a:p>
                  </a:txBody>
                  <a:tcPr marL="54864" marR="54864" marT="27432" marB="27432"/>
                </a:tc>
                <a:extLst>
                  <a:ext uri="{0D108BD9-81ED-4DB2-BD59-A6C34878D82A}">
                    <a16:rowId xmlns:a16="http://schemas.microsoft.com/office/drawing/2014/main" val="10003"/>
                  </a:ext>
                </a:extLst>
              </a:tr>
              <a:tr h="658368">
                <a:tc>
                  <a:txBody>
                    <a:bodyPr/>
                    <a:lstStyle/>
                    <a:p>
                      <a:r>
                        <a:rPr sz="1500" b="0"/>
                        <a:t>Model accuracy on real data</a:t>
                      </a:r>
                    </a:p>
                  </a:txBody>
                  <a:tcPr marL="54864" marR="54864" marT="27432" marB="27432"/>
                </a:tc>
                <a:tc>
                  <a:txBody>
                    <a:bodyPr/>
                    <a:lstStyle/>
                    <a:p>
                      <a:r>
                        <a:rPr sz="1500" b="0"/>
                        <a:t>Retrain and re-validate on pilot data before rollout</a:t>
                      </a:r>
                    </a:p>
                  </a:txBody>
                  <a:tcPr marL="54864" marR="54864" marT="27432" marB="27432"/>
                </a:tc>
                <a:extLst>
                  <a:ext uri="{0D108BD9-81ED-4DB2-BD59-A6C34878D82A}">
                    <a16:rowId xmlns:a16="http://schemas.microsoft.com/office/drawing/2014/main" val="10004"/>
                  </a:ext>
                </a:extLst>
              </a:tr>
              <a:tr h="658368">
                <a:tc>
                  <a:txBody>
                    <a:bodyPr/>
                    <a:lstStyle/>
                    <a:p>
                      <a:r>
                        <a:rPr sz="1500" b="0"/>
                        <a:t>User adoption</a:t>
                      </a:r>
                    </a:p>
                  </a:txBody>
                  <a:tcPr marL="54864" marR="54864" marT="27432" marB="27432"/>
                </a:tc>
                <a:tc>
                  <a:txBody>
                    <a:bodyPr/>
                    <a:lstStyle/>
                    <a:p>
                      <a:r>
                        <a:rPr sz="1500" b="0"/>
                        <a:t>Training, simple dashboard, ongoing support</a:t>
                      </a:r>
                    </a:p>
                  </a:txBody>
                  <a:tcPr marL="54864" marR="54864" marT="27432" marB="27432"/>
                </a:tc>
                <a:extLst>
                  <a:ext uri="{0D108BD9-81ED-4DB2-BD59-A6C34878D82A}">
                    <a16:rowId xmlns:a16="http://schemas.microsoft.com/office/drawing/2014/main" val="10005"/>
                  </a:ext>
                </a:extLst>
              </a:tr>
            </a:tbl>
          </a:graphicData>
        </a:graphic>
      </p:graphicFrame>
      <p:sp>
        <p:nvSpPr>
          <p:cNvPr id="5" name="TextBox 4"/>
          <p:cNvSpPr txBox="1"/>
          <p:nvPr/>
        </p:nvSpPr>
        <p:spPr>
          <a:xfrm>
            <a:off x="7818120" y="1097280"/>
            <a:ext cx="4114800" cy="365760"/>
          </a:xfrm>
          <a:prstGeom prst="rect">
            <a:avLst/>
          </a:prstGeom>
          <a:noFill/>
        </p:spPr>
        <p:txBody>
          <a:bodyPr wrap="square" lIns="45720" rIns="45720" anchor="t">
            <a:spAutoFit/>
          </a:bodyPr>
          <a:lstStyle/>
          <a:p>
            <a:pPr marL="0" indent="0">
              <a:buNone/>
            </a:pPr>
            <a:r>
              <a:rPr sz="1600" b="1">
                <a:solidFill>
                  <a:srgbClr val="0F6FC6"/>
                </a:solidFill>
              </a:rPr>
              <a:t>SWOT (summary)</a:t>
            </a:r>
          </a:p>
        </p:txBody>
      </p:sp>
      <p:sp>
        <p:nvSpPr>
          <p:cNvPr id="6" name="Rectangle 5"/>
          <p:cNvSpPr/>
          <p:nvPr/>
        </p:nvSpPr>
        <p:spPr>
          <a:xfrm>
            <a:off x="7818120" y="1554480"/>
            <a:ext cx="2011680" cy="1984248"/>
          </a:xfrm>
          <a:prstGeom prst="rect">
            <a:avLst/>
          </a:prstGeom>
          <a:solidFill>
            <a:srgbClr val="0F6FC6"/>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FFFFFF"/>
                </a:solidFill>
              </a:rPr>
              <a:t>Strengths</a:t>
            </a:r>
          </a:p>
          <a:p>
            <a:pPr algn="ctr"/>
            <a:r>
              <a:rPr sz="1400" b="0">
                <a:solidFill>
                  <a:srgbClr val="FFFFFF"/>
                </a:solidFill>
              </a:rPr>
              <a:t>Integrated, explainable, local context</a:t>
            </a:r>
          </a:p>
        </p:txBody>
      </p:sp>
      <p:sp>
        <p:nvSpPr>
          <p:cNvPr id="7" name="Rectangle 6"/>
          <p:cNvSpPr/>
          <p:nvPr/>
        </p:nvSpPr>
        <p:spPr>
          <a:xfrm>
            <a:off x="9893808" y="1554480"/>
            <a:ext cx="2011680" cy="1984248"/>
          </a:xfrm>
          <a:prstGeom prst="rect">
            <a:avLst/>
          </a:prstGeom>
          <a:solidFill>
            <a:srgbClr val="04617B"/>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FFFFFF"/>
                </a:solidFill>
              </a:rPr>
              <a:t>Weaknesses</a:t>
            </a:r>
          </a:p>
          <a:p>
            <a:pPr algn="ctr"/>
            <a:r>
              <a:rPr sz="1400" b="0">
                <a:solidFill>
                  <a:srgbClr val="FFFFFF"/>
                </a:solidFill>
              </a:rPr>
              <a:t>Validated on synthetic data so far</a:t>
            </a:r>
          </a:p>
        </p:txBody>
      </p:sp>
      <p:sp>
        <p:nvSpPr>
          <p:cNvPr id="8" name="Rectangle 7"/>
          <p:cNvSpPr/>
          <p:nvPr/>
        </p:nvSpPr>
        <p:spPr>
          <a:xfrm>
            <a:off x="7818120" y="3630168"/>
            <a:ext cx="2011680" cy="1984248"/>
          </a:xfrm>
          <a:prstGeom prst="rect">
            <a:avLst/>
          </a:prstGeom>
          <a:solidFill>
            <a:srgbClr val="0CA078"/>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FFFFFF"/>
                </a:solidFill>
              </a:rPr>
              <a:t>Opportunities</a:t>
            </a:r>
          </a:p>
          <a:p>
            <a:pPr algn="ctr"/>
            <a:r>
              <a:rPr sz="1400" b="0">
                <a:solidFill>
                  <a:srgbClr val="FFFFFF"/>
                </a:solidFill>
              </a:rPr>
              <a:t>Grid planning needs; solar &amp; battery growth</a:t>
            </a:r>
          </a:p>
        </p:txBody>
      </p:sp>
      <p:sp>
        <p:nvSpPr>
          <p:cNvPr id="9" name="Rectangle 8"/>
          <p:cNvSpPr/>
          <p:nvPr/>
        </p:nvSpPr>
        <p:spPr>
          <a:xfrm>
            <a:off x="9893808" y="3630168"/>
            <a:ext cx="2011680" cy="1984248"/>
          </a:xfrm>
          <a:prstGeom prst="rect">
            <a:avLst/>
          </a:prstGeom>
          <a:solidFill>
            <a:srgbClr val="C05000"/>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FFFFFF"/>
                </a:solidFill>
              </a:rPr>
              <a:t>Threats</a:t>
            </a:r>
          </a:p>
          <a:p>
            <a:pPr algn="ctr"/>
            <a:r>
              <a:rPr sz="1400" b="0">
                <a:solidFill>
                  <a:srgbClr val="FFFFFF"/>
                </a:solidFill>
              </a:rPr>
              <a:t>Data access, established vendors, budgets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Technologies &amp; Integrated System</a:t>
            </a:r>
          </a:p>
        </p:txBody>
      </p:sp>
      <p:graphicFrame>
        <p:nvGraphicFramePr>
          <p:cNvPr id="3" name="Table 2"/>
          <p:cNvGraphicFramePr>
            <a:graphicFrameLocks noGrp="1"/>
          </p:cNvGraphicFramePr>
          <p:nvPr/>
        </p:nvGraphicFramePr>
        <p:xfrm>
          <a:off x="365760" y="1188720"/>
          <a:ext cx="6035040" cy="301752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502920">
                <a:tc>
                  <a:txBody>
                    <a:bodyPr/>
                    <a:lstStyle/>
                    <a:p>
                      <a:r>
                        <a:rPr sz="1400" b="1"/>
                        <a:t>Layer</a:t>
                      </a:r>
                    </a:p>
                  </a:txBody>
                  <a:tcPr marL="54864" marR="54864" marT="27432" marB="27432"/>
                </a:tc>
                <a:tc>
                  <a:txBody>
                    <a:bodyPr/>
                    <a:lstStyle/>
                    <a:p>
                      <a:r>
                        <a:rPr sz="1400" b="1"/>
                        <a:t>Technologies</a:t>
                      </a:r>
                    </a:p>
                  </a:txBody>
                  <a:tcPr marL="54864" marR="54864" marT="27432" marB="27432"/>
                </a:tc>
                <a:extLst>
                  <a:ext uri="{0D108BD9-81ED-4DB2-BD59-A6C34878D82A}">
                    <a16:rowId xmlns:a16="http://schemas.microsoft.com/office/drawing/2014/main" val="10000"/>
                  </a:ext>
                </a:extLst>
              </a:tr>
              <a:tr h="502920">
                <a:tc>
                  <a:txBody>
                    <a:bodyPr/>
                    <a:lstStyle/>
                    <a:p>
                      <a:r>
                        <a:rPr sz="1300" b="0"/>
                        <a:t>Frontend (all 4 apps)</a:t>
                      </a:r>
                    </a:p>
                  </a:txBody>
                  <a:tcPr marL="54864" marR="54864" marT="27432" marB="27432"/>
                </a:tc>
                <a:tc>
                  <a:txBody>
                    <a:bodyPr/>
                    <a:lstStyle/>
                    <a:p>
                      <a:r>
                        <a:rPr sz="1300" b="0"/>
                        <a:t>React + Vite; Recharts charts; Tailwind CSS (scenarios); React Router (XAI)</a:t>
                      </a:r>
                    </a:p>
                  </a:txBody>
                  <a:tcPr marL="54864" marR="54864" marT="27432" marB="27432"/>
                </a:tc>
                <a:extLst>
                  <a:ext uri="{0D108BD9-81ED-4DB2-BD59-A6C34878D82A}">
                    <a16:rowId xmlns:a16="http://schemas.microsoft.com/office/drawing/2014/main" val="10001"/>
                  </a:ext>
                </a:extLst>
              </a:tr>
              <a:tr h="502920">
                <a:tc>
                  <a:txBody>
                    <a:bodyPr/>
                    <a:lstStyle/>
                    <a:p>
                      <a:r>
                        <a:rPr sz="1300" b="0"/>
                        <a:t>Backend (all 4 apps)</a:t>
                      </a:r>
                    </a:p>
                  </a:txBody>
                  <a:tcPr marL="54864" marR="54864" marT="27432" marB="27432"/>
                </a:tc>
                <a:tc>
                  <a:txBody>
                    <a:bodyPr/>
                    <a:lstStyle/>
                    <a:p>
                      <a:r>
                        <a:rPr sz="1300" b="0"/>
                        <a:t>Python FastAPI + Uvicorn REST APIs, one virtual environment per component</a:t>
                      </a:r>
                    </a:p>
                  </a:txBody>
                  <a:tcPr marL="54864" marR="54864" marT="27432" marB="27432"/>
                </a:tc>
                <a:extLst>
                  <a:ext uri="{0D108BD9-81ED-4DB2-BD59-A6C34878D82A}">
                    <a16:rowId xmlns:a16="http://schemas.microsoft.com/office/drawing/2014/main" val="10002"/>
                  </a:ext>
                </a:extLst>
              </a:tr>
              <a:tr h="502920">
                <a:tc>
                  <a:txBody>
                    <a:bodyPr/>
                    <a:lstStyle/>
                    <a:p>
                      <a:r>
                        <a:rPr sz="1300" b="0"/>
                        <a:t>Machine learning</a:t>
                      </a:r>
                    </a:p>
                  </a:txBody>
                  <a:tcPr marL="54864" marR="54864" marT="27432" marB="27432"/>
                </a:tc>
                <a:tc>
                  <a:txBody>
                    <a:bodyPr/>
                    <a:lstStyle/>
                    <a:p>
                      <a:r>
                        <a:rPr sz="1300" b="0"/>
                        <a:t>scikit-learn, XGBoost, TensorFlow / Keras, Optuna, SHAP, LIME</a:t>
                      </a:r>
                    </a:p>
                  </a:txBody>
                  <a:tcPr marL="54864" marR="54864" marT="27432" marB="27432"/>
                </a:tc>
                <a:extLst>
                  <a:ext uri="{0D108BD9-81ED-4DB2-BD59-A6C34878D82A}">
                    <a16:rowId xmlns:a16="http://schemas.microsoft.com/office/drawing/2014/main" val="10003"/>
                  </a:ext>
                </a:extLst>
              </a:tr>
              <a:tr h="502920">
                <a:tc>
                  <a:txBody>
                    <a:bodyPr/>
                    <a:lstStyle/>
                    <a:p>
                      <a:r>
                        <a:rPr sz="1300" b="0"/>
                        <a:t>Data &amp; evidence</a:t>
                      </a:r>
                    </a:p>
                  </a:txBody>
                  <a:tcPr marL="54864" marR="54864" marT="27432" marB="27432"/>
                </a:tc>
                <a:tc>
                  <a:txBody>
                    <a:bodyPr/>
                    <a:lstStyle/>
                    <a:p>
                      <a:r>
                        <a:rPr sz="1300" b="0"/>
                        <a:t>pandas, NumPy, Jupyter notebooks, saved JSON / CSV results</a:t>
                      </a:r>
                    </a:p>
                  </a:txBody>
                  <a:tcPr marL="54864" marR="54864" marT="27432" marB="27432"/>
                </a:tc>
                <a:extLst>
                  <a:ext uri="{0D108BD9-81ED-4DB2-BD59-A6C34878D82A}">
                    <a16:rowId xmlns:a16="http://schemas.microsoft.com/office/drawing/2014/main" val="10004"/>
                  </a:ext>
                </a:extLst>
              </a:tr>
              <a:tr h="502920">
                <a:tc>
                  <a:txBody>
                    <a:bodyPr/>
                    <a:lstStyle/>
                    <a:p>
                      <a:r>
                        <a:rPr sz="1300" b="0"/>
                        <a:t>Integration</a:t>
                      </a:r>
                    </a:p>
                  </a:txBody>
                  <a:tcPr marL="54864" marR="54864" marT="27432" marB="27432"/>
                </a:tc>
                <a:tc>
                  <a:txBody>
                    <a:bodyPr/>
                    <a:lstStyle/>
                    <a:p>
                      <a:r>
                        <a:rPr sz="1300" b="0"/>
                        <a:t>start-all.py launcher; iframes; LIME deep link; login (PBKDF2 hashes, signed token)</a:t>
                      </a:r>
                    </a:p>
                  </a:txBody>
                  <a:tcPr marL="54864" marR="54864" marT="27432" marB="27432"/>
                </a:tc>
                <a:extLst>
                  <a:ext uri="{0D108BD9-81ED-4DB2-BD59-A6C34878D82A}">
                    <a16:rowId xmlns:a16="http://schemas.microsoft.com/office/drawing/2014/main" val="10005"/>
                  </a:ext>
                </a:extLst>
              </a:tr>
            </a:tbl>
          </a:graphicData>
        </a:graphic>
      </p:graphicFrame>
      <p:pic>
        <p:nvPicPr>
          <p:cNvPr id="4" name="Picture 3" descr="bi_07_lime_inside_bi.png"/>
          <p:cNvPicPr>
            <a:picLocks noChangeAspect="1"/>
          </p:cNvPicPr>
          <p:nvPr/>
        </p:nvPicPr>
        <p:blipFill>
          <a:blip r:embed="rId3"/>
          <a:stretch>
            <a:fillRect/>
          </a:stretch>
        </p:blipFill>
        <p:spPr>
          <a:xfrm>
            <a:off x="6629400" y="1195863"/>
            <a:ext cx="5257800" cy="2957512"/>
          </a:xfrm>
          <a:prstGeom prst="rect">
            <a:avLst/>
          </a:prstGeom>
          <a:ln w="9525">
            <a:solidFill>
              <a:srgbClr val="BFBFBF"/>
            </a:solidFill>
          </a:ln>
        </p:spPr>
      </p:pic>
      <p:sp>
        <p:nvSpPr>
          <p:cNvPr id="5" name="TextBox 4"/>
          <p:cNvSpPr txBox="1"/>
          <p:nvPr/>
        </p:nvSpPr>
        <p:spPr>
          <a:xfrm>
            <a:off x="6629400" y="4224528"/>
            <a:ext cx="5257800" cy="320040"/>
          </a:xfrm>
          <a:prstGeom prst="rect">
            <a:avLst/>
          </a:prstGeom>
          <a:noFill/>
        </p:spPr>
        <p:txBody>
          <a:bodyPr wrap="square" lIns="45720" rIns="45720" anchor="t">
            <a:spAutoFit/>
          </a:bodyPr>
          <a:lstStyle/>
          <a:p>
            <a:pPr marL="0" indent="0">
              <a:buNone/>
            </a:pPr>
            <a:r>
              <a:rPr sz="1200">
                <a:solidFill>
                  <a:srgbClr val="404040"/>
                </a:solidFill>
              </a:rPr>
              <a:t>LIME explanation for 2025-01-25 opened inside the BI dashboard</a:t>
            </a:r>
          </a:p>
        </p:txBody>
      </p:sp>
      <p:pic>
        <p:nvPicPr>
          <p:cNvPr id="6" name="Picture 5" descr="bi_02_login.png"/>
          <p:cNvPicPr>
            <a:picLocks noChangeAspect="1"/>
          </p:cNvPicPr>
          <p:nvPr/>
        </p:nvPicPr>
        <p:blipFill>
          <a:blip r:embed="rId4"/>
          <a:stretch>
            <a:fillRect/>
          </a:stretch>
        </p:blipFill>
        <p:spPr>
          <a:xfrm>
            <a:off x="6629400" y="4583430"/>
            <a:ext cx="2560320" cy="1440179"/>
          </a:xfrm>
          <a:prstGeom prst="rect">
            <a:avLst/>
          </a:prstGeom>
          <a:ln w="9525">
            <a:solidFill>
              <a:srgbClr val="BFBFBF"/>
            </a:solidFill>
          </a:ln>
        </p:spPr>
      </p:pic>
      <p:pic>
        <p:nvPicPr>
          <p:cNvPr id="7" name="Picture 6" descr="bi_03_dashboard.png"/>
          <p:cNvPicPr>
            <a:picLocks noChangeAspect="1"/>
          </p:cNvPicPr>
          <p:nvPr/>
        </p:nvPicPr>
        <p:blipFill>
          <a:blip r:embed="rId5"/>
          <a:stretch>
            <a:fillRect/>
          </a:stretch>
        </p:blipFill>
        <p:spPr>
          <a:xfrm>
            <a:off x="9326880" y="4583430"/>
            <a:ext cx="2560320" cy="1440179"/>
          </a:xfrm>
          <a:prstGeom prst="rect">
            <a:avLst/>
          </a:prstGeom>
          <a:ln w="9525">
            <a:solidFill>
              <a:srgbClr val="BFBFBF"/>
            </a:solid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Behaviour Intelligence — Methodology &amp; Models</a:t>
            </a:r>
          </a:p>
        </p:txBody>
      </p:sp>
      <p:sp>
        <p:nvSpPr>
          <p:cNvPr id="3" name="TextBox 2"/>
          <p:cNvSpPr txBox="1"/>
          <p:nvPr/>
        </p:nvSpPr>
        <p:spPr>
          <a:xfrm>
            <a:off x="365760" y="1188720"/>
            <a:ext cx="5669280" cy="365760"/>
          </a:xfrm>
          <a:prstGeom prst="rect">
            <a:avLst/>
          </a:prstGeom>
          <a:noFill/>
        </p:spPr>
        <p:txBody>
          <a:bodyPr wrap="square" lIns="45720" rIns="45720" anchor="t">
            <a:spAutoFit/>
          </a:bodyPr>
          <a:lstStyle/>
          <a:p>
            <a:pPr marL="0" indent="0">
              <a:buNone/>
            </a:pPr>
            <a:r>
              <a:rPr sz="1800" b="1">
                <a:solidFill>
                  <a:srgbClr val="0F6FC6"/>
                </a:solidFill>
              </a:rPr>
              <a:t>Pipeline</a:t>
            </a:r>
          </a:p>
        </p:txBody>
      </p:sp>
      <p:sp>
        <p:nvSpPr>
          <p:cNvPr id="4" name="TextBox 3"/>
          <p:cNvSpPr txBox="1"/>
          <p:nvPr/>
        </p:nvSpPr>
        <p:spPr>
          <a:xfrm>
            <a:off x="365760" y="1572768"/>
            <a:ext cx="5669280" cy="2377440"/>
          </a:xfrm>
          <a:prstGeom prst="rect">
            <a:avLst/>
          </a:prstGeom>
          <a:noFill/>
        </p:spPr>
        <p:txBody>
          <a:bodyPr wrap="square" lIns="45720" rIns="45720" anchor="t">
            <a:spAutoFit/>
          </a:bodyPr>
          <a:lstStyle/>
          <a:p>
            <a:pPr marL="256032" indent="-228600">
              <a:spcAft>
                <a:spcPts val="400"/>
              </a:spcAft>
              <a:buChar char="•"/>
            </a:pPr>
            <a:r>
              <a:rPr sz="1500"/>
              <a:t>15-min load → 3×IQR cleaning → 1,977 daily profiles (96 slots)</a:t>
            </a:r>
          </a:p>
          <a:p>
            <a:pPr marL="256032" indent="-228600">
              <a:spcAft>
                <a:spcPts val="400"/>
              </a:spcAft>
              <a:buChar char="•"/>
            </a:pPr>
            <a:r>
              <a:rPr sz="1500"/>
              <a:t>StandardScaler → K-Means groups days into regimes</a:t>
            </a:r>
          </a:p>
          <a:p>
            <a:pPr marL="256032" indent="-228600">
              <a:spcAft>
                <a:spcPts val="400"/>
              </a:spcAft>
              <a:buChar char="•"/>
            </a:pPr>
            <a:r>
              <a:rPr sz="1500"/>
              <a:t>DBSCAN density check; Isolation Forest flags anomalies</a:t>
            </a:r>
          </a:p>
          <a:p>
            <a:pPr marL="256032" indent="-228600">
              <a:spcAft>
                <a:spcPts val="400"/>
              </a:spcAft>
              <a:buChar char="•"/>
            </a:pPr>
            <a:r>
              <a:rPr sz="1500"/>
              <a:t>Rules label Normal / Low / Peak / Abnormal + risk</a:t>
            </a:r>
          </a:p>
          <a:p>
            <a:pPr marL="256032" indent="-228600">
              <a:spcAft>
                <a:spcPts val="400"/>
              </a:spcAft>
              <a:buChar char="•"/>
            </a:pPr>
            <a:r>
              <a:rPr sz="1500"/>
              <a:t>Future date: month + weekday history, Laplace-smoothed</a:t>
            </a:r>
          </a:p>
        </p:txBody>
      </p:sp>
      <p:sp>
        <p:nvSpPr>
          <p:cNvPr id="5" name="TextBox 4"/>
          <p:cNvSpPr txBox="1"/>
          <p:nvPr/>
        </p:nvSpPr>
        <p:spPr>
          <a:xfrm>
            <a:off x="365760" y="4023360"/>
            <a:ext cx="5669280" cy="365760"/>
          </a:xfrm>
          <a:prstGeom prst="rect">
            <a:avLst/>
          </a:prstGeom>
          <a:noFill/>
        </p:spPr>
        <p:txBody>
          <a:bodyPr wrap="square" lIns="45720" rIns="45720" anchor="t">
            <a:spAutoFit/>
          </a:bodyPr>
          <a:lstStyle/>
          <a:p>
            <a:pPr marL="0" indent="0">
              <a:buNone/>
            </a:pPr>
            <a:r>
              <a:rPr sz="1800" b="1">
                <a:solidFill>
                  <a:srgbClr val="0F6FC6"/>
                </a:solidFill>
              </a:rPr>
              <a:t>Why these models</a:t>
            </a:r>
          </a:p>
        </p:txBody>
      </p:sp>
      <p:sp>
        <p:nvSpPr>
          <p:cNvPr id="6" name="TextBox 5"/>
          <p:cNvSpPr txBox="1"/>
          <p:nvPr/>
        </p:nvSpPr>
        <p:spPr>
          <a:xfrm>
            <a:off x="365760" y="4407408"/>
            <a:ext cx="5669280" cy="1828800"/>
          </a:xfrm>
          <a:prstGeom prst="rect">
            <a:avLst/>
          </a:prstGeom>
          <a:noFill/>
        </p:spPr>
        <p:txBody>
          <a:bodyPr wrap="square" lIns="45720" rIns="45720" anchor="t">
            <a:spAutoFit/>
          </a:bodyPr>
          <a:lstStyle/>
          <a:p>
            <a:pPr marL="256032" indent="-228600">
              <a:spcAft>
                <a:spcPts val="400"/>
              </a:spcAft>
              <a:buChar char="•"/>
            </a:pPr>
            <a:r>
              <a:rPr sz="1500"/>
              <a:t>No labels exist, so unsupervised models are needed</a:t>
            </a:r>
          </a:p>
          <a:p>
            <a:pPr marL="256032" indent="-228600">
              <a:spcAft>
                <a:spcPts val="400"/>
              </a:spcAft>
              <a:buChar char="•"/>
            </a:pPr>
            <a:r>
              <a:rPr sz="1500"/>
              <a:t>K-Means: best on all 3 cluster indices, simple to explain</a:t>
            </a:r>
          </a:p>
          <a:p>
            <a:pPr marL="256032" indent="-228600">
              <a:spcAft>
                <a:spcPts val="400"/>
              </a:spcAft>
              <a:buChar char="•"/>
            </a:pPr>
            <a:r>
              <a:rPr sz="1500"/>
              <a:t>Isolation Forest: no labels, gives a score per day</a:t>
            </a:r>
          </a:p>
          <a:p>
            <a:pPr marL="256032" indent="-228600">
              <a:spcAft>
                <a:spcPts val="400"/>
              </a:spcAft>
              <a:buChar char="•"/>
            </a:pPr>
            <a:r>
              <a:rPr sz="1500"/>
              <a:t>Rules on top keep every label explainable</a:t>
            </a:r>
          </a:p>
        </p:txBody>
      </p:sp>
      <p:pic>
        <p:nvPicPr>
          <p:cNvPr id="7" name="Picture 6" descr="bi_09_cluster_meaning.png"/>
          <p:cNvPicPr>
            <a:picLocks noChangeAspect="1"/>
          </p:cNvPicPr>
          <p:nvPr/>
        </p:nvPicPr>
        <p:blipFill>
          <a:blip r:embed="rId3"/>
          <a:stretch>
            <a:fillRect/>
          </a:stretch>
        </p:blipFill>
        <p:spPr>
          <a:xfrm>
            <a:off x="6263640" y="1189005"/>
            <a:ext cx="5623560" cy="3163252"/>
          </a:xfrm>
          <a:prstGeom prst="rect">
            <a:avLst/>
          </a:prstGeom>
          <a:ln w="9525">
            <a:solidFill>
              <a:srgbClr val="BFBFBF"/>
            </a:solidFill>
          </a:ln>
        </p:spPr>
      </p:pic>
      <p:sp>
        <p:nvSpPr>
          <p:cNvPr id="8" name="TextBox 7"/>
          <p:cNvSpPr txBox="1"/>
          <p:nvPr/>
        </p:nvSpPr>
        <p:spPr>
          <a:xfrm>
            <a:off x="6263640" y="4407408"/>
            <a:ext cx="5623560" cy="320040"/>
          </a:xfrm>
          <a:prstGeom prst="rect">
            <a:avLst/>
          </a:prstGeom>
          <a:noFill/>
        </p:spPr>
        <p:txBody>
          <a:bodyPr wrap="square" lIns="45720" rIns="45720" anchor="t">
            <a:spAutoFit/>
          </a:bodyPr>
          <a:lstStyle/>
          <a:p>
            <a:pPr marL="0" indent="0">
              <a:buNone/>
            </a:pPr>
            <a:r>
              <a:rPr sz="1200">
                <a:solidFill>
                  <a:srgbClr val="404040"/>
                </a:solidFill>
              </a:rPr>
              <a:t>Cluster 0 = weekday pattern (1,396 days); Cluster 1 = weekend / low pattern (581 days)</a:t>
            </a:r>
          </a:p>
        </p:txBody>
      </p:sp>
      <p:sp>
        <p:nvSpPr>
          <p:cNvPr id="9"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IT22545176</a:t>
            </a:r>
            <a:r>
              <a:rPr lang="en-US" sz="1800" dirty="0">
                <a:solidFill>
                  <a:schemeClr val="tx1"/>
                </a:solidFill>
              </a:rPr>
              <a:t>   |   </a:t>
            </a:r>
            <a:r>
              <a:rPr lang="en-US" sz="1800" b="1" dirty="0">
                <a:solidFill>
                  <a:schemeClr val="tx1"/>
                </a:solidFill>
              </a:rPr>
              <a:t>Thanujan T   </a:t>
            </a:r>
            <a:r>
              <a:rPr lang="en-US" sz="1800" dirty="0">
                <a:solidFill>
                  <a:schemeClr val="tx1"/>
                </a:solidFill>
              </a:rPr>
              <a:t>|   </a:t>
            </a:r>
            <a:r>
              <a:rPr lang="en-US" sz="1800" b="0" dirty="0">
                <a:solidFill>
                  <a:schemeClr val="tx1"/>
                </a:solidFill>
              </a:rPr>
              <a:t>R26-IT-010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Behaviour Intelligence — Parameters &amp; Fine-Tuning</a:t>
            </a:r>
          </a:p>
        </p:txBody>
      </p:sp>
      <p:sp>
        <p:nvSpPr>
          <p:cNvPr id="3" name="TextBox 2"/>
          <p:cNvSpPr txBox="1"/>
          <p:nvPr/>
        </p:nvSpPr>
        <p:spPr>
          <a:xfrm>
            <a:off x="365760" y="1188720"/>
            <a:ext cx="5120640" cy="3657600"/>
          </a:xfrm>
          <a:prstGeom prst="rect">
            <a:avLst/>
          </a:prstGeom>
          <a:noFill/>
        </p:spPr>
        <p:txBody>
          <a:bodyPr wrap="square" lIns="45720" rIns="45720" anchor="t">
            <a:spAutoFit/>
          </a:bodyPr>
          <a:lstStyle/>
          <a:p>
            <a:pPr marL="256032" indent="-228600">
              <a:spcAft>
                <a:spcPts val="500"/>
              </a:spcAft>
              <a:buChar char="•"/>
            </a:pPr>
            <a:r>
              <a:rPr sz="1500"/>
              <a:t>Principle: choose without labels, then validate on ground truth</a:t>
            </a:r>
          </a:p>
          <a:p>
            <a:pPr marL="256032" indent="-228600">
              <a:spcAft>
                <a:spcPts val="500"/>
              </a:spcAft>
              <a:buChar char="•"/>
            </a:pPr>
            <a:r>
              <a:rPr sz="1500"/>
              <a:t>k = 2: silhouette 0.473, Davies–Bouldin 0.837, Calinski–Harabasz 1,367 all agree</a:t>
            </a:r>
          </a:p>
          <a:p>
            <a:pPr marL="256032" indent="-228600">
              <a:spcAft>
                <a:spcPts val="500"/>
              </a:spcAft>
              <a:buChar char="•"/>
            </a:pPr>
            <a:r>
              <a:rPr sz="1500"/>
              <a:t>DBSCAN eps from k-distance knee (4.42), min_samples 8</a:t>
            </a:r>
          </a:p>
          <a:p>
            <a:pPr marL="256032" indent="-228600">
              <a:spcAft>
                <a:spcPts val="500"/>
              </a:spcAft>
              <a:buChar char="•"/>
            </a:pPr>
            <a:r>
              <a:rPr sz="1500"/>
              <a:t>Isolation Forest: 60-setting grid × 20 bootstrap refits</a:t>
            </a:r>
          </a:p>
          <a:p>
            <a:pPr marL="256032" indent="-228600">
              <a:spcAft>
                <a:spcPts val="500"/>
              </a:spcAft>
              <a:buChar char="•"/>
            </a:pPr>
            <a:r>
              <a:rPr sz="1500"/>
              <a:t>contamination 0.03 most stable; trees and max_samples make no difference</a:t>
            </a:r>
          </a:p>
        </p:txBody>
      </p:sp>
      <p:sp>
        <p:nvSpPr>
          <p:cNvPr id="4" name="TextBox 3"/>
          <p:cNvSpPr txBox="1"/>
          <p:nvPr/>
        </p:nvSpPr>
        <p:spPr>
          <a:xfrm>
            <a:off x="365760" y="4800600"/>
            <a:ext cx="5120640" cy="1371600"/>
          </a:xfrm>
          <a:prstGeom prst="rect">
            <a:avLst/>
          </a:prstGeom>
          <a:noFill/>
        </p:spPr>
        <p:txBody>
          <a:bodyPr wrap="square" lIns="45720" rIns="45720" anchor="t">
            <a:spAutoFit/>
          </a:bodyPr>
          <a:lstStyle/>
          <a:p>
            <a:pPr marL="0" indent="0">
              <a:buNone/>
            </a:pPr>
            <a:r>
              <a:rPr sz="1300">
                <a:solidFill>
                  <a:srgbClr val="C05000"/>
                </a:solidFill>
              </a:rPr>
              <a:t>Honest note: 0.03 equals the injected anomaly rate; two threshold-free methods (contamination='auto', largest score gap) find the same 60 days.</a:t>
            </a:r>
          </a:p>
        </p:txBody>
      </p:sp>
      <p:pic>
        <p:nvPicPr>
          <p:cNvPr id="5" name="Picture 4" descr="F01_kmeans_k_tuning.png"/>
          <p:cNvPicPr>
            <a:picLocks noChangeAspect="1"/>
          </p:cNvPicPr>
          <p:nvPr/>
        </p:nvPicPr>
        <p:blipFill>
          <a:blip r:embed="rId3"/>
          <a:stretch>
            <a:fillRect/>
          </a:stretch>
        </p:blipFill>
        <p:spPr>
          <a:xfrm>
            <a:off x="5669280" y="1423159"/>
            <a:ext cx="6263640" cy="1405640"/>
          </a:xfrm>
          <a:prstGeom prst="rect">
            <a:avLst/>
          </a:prstGeom>
        </p:spPr>
      </p:pic>
      <p:pic>
        <p:nvPicPr>
          <p:cNvPr id="6" name="Picture 5" descr="F05_isolation_forest_tuning.png"/>
          <p:cNvPicPr>
            <a:picLocks noChangeAspect="1"/>
          </p:cNvPicPr>
          <p:nvPr/>
        </p:nvPicPr>
        <p:blipFill>
          <a:blip r:embed="rId4"/>
          <a:stretch>
            <a:fillRect/>
          </a:stretch>
        </p:blipFill>
        <p:spPr>
          <a:xfrm>
            <a:off x="5669280" y="3530325"/>
            <a:ext cx="6263640" cy="1946189"/>
          </a:xfrm>
          <a:prstGeom prst="rect">
            <a:avLst/>
          </a:prstGeom>
        </p:spPr>
      </p:pic>
      <p:sp>
        <p:nvSpPr>
          <p:cNvPr id="7" name="TextBox 6"/>
          <p:cNvSpPr txBox="1"/>
          <p:nvPr/>
        </p:nvSpPr>
        <p:spPr>
          <a:xfrm>
            <a:off x="5669280" y="5852160"/>
            <a:ext cx="6263640" cy="320040"/>
          </a:xfrm>
          <a:prstGeom prst="rect">
            <a:avLst/>
          </a:prstGeom>
          <a:noFill/>
        </p:spPr>
        <p:txBody>
          <a:bodyPr wrap="square" lIns="45720" rIns="45720" anchor="t">
            <a:spAutoFit/>
          </a:bodyPr>
          <a:lstStyle/>
          <a:p>
            <a:pPr marL="0" indent="0">
              <a:buNone/>
            </a:pPr>
            <a:r>
              <a:rPr sz="1200">
                <a:solidFill>
                  <a:srgbClr val="404040"/>
                </a:solidFill>
              </a:rPr>
              <a:t>Notebook 07 and the dashboard's Tuning &amp; Validation page</a:t>
            </a:r>
          </a:p>
        </p:txBody>
      </p:sp>
      <p:sp>
        <p:nvSpPr>
          <p:cNvPr id="8"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IT22545176</a:t>
            </a:r>
            <a:r>
              <a:rPr lang="en-US" sz="1800" dirty="0">
                <a:solidFill>
                  <a:schemeClr val="tx1"/>
                </a:solidFill>
              </a:rPr>
              <a:t>   |   </a:t>
            </a:r>
            <a:r>
              <a:rPr lang="en-US" sz="1800" b="1" dirty="0">
                <a:solidFill>
                  <a:schemeClr val="tx1"/>
                </a:solidFill>
              </a:rPr>
              <a:t>Thanujan T   </a:t>
            </a:r>
            <a:r>
              <a:rPr lang="en-US" sz="1800" dirty="0">
                <a:solidFill>
                  <a:schemeClr val="tx1"/>
                </a:solidFill>
              </a:rPr>
              <a:t>|   </a:t>
            </a:r>
            <a:r>
              <a:rPr lang="en-US" sz="1800" b="0" dirty="0">
                <a:solidFill>
                  <a:schemeClr val="tx1"/>
                </a:solidFill>
              </a:rPr>
              <a:t>R26-IT-010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Behaviour Intelligence — Model Comparison &amp; Results</a:t>
            </a:r>
          </a:p>
        </p:txBody>
      </p:sp>
      <p:graphicFrame>
        <p:nvGraphicFramePr>
          <p:cNvPr id="3" name="Table 2"/>
          <p:cNvGraphicFramePr>
            <a:graphicFrameLocks noGrp="1"/>
          </p:cNvGraphicFramePr>
          <p:nvPr/>
        </p:nvGraphicFramePr>
        <p:xfrm>
          <a:off x="365760" y="1188720"/>
          <a:ext cx="6675120" cy="3005328"/>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20624">
                <a:tc>
                  <a:txBody>
                    <a:bodyPr/>
                    <a:lstStyle/>
                    <a:p>
                      <a:r>
                        <a:rPr sz="1400" b="1"/>
                        <a:t>Model</a:t>
                      </a:r>
                    </a:p>
                  </a:txBody>
                  <a:tcPr marL="54864" marR="54864" marT="27432" marB="27432"/>
                </a:tc>
                <a:tc>
                  <a:txBody>
                    <a:bodyPr/>
                    <a:lstStyle/>
                    <a:p>
                      <a:r>
                        <a:rPr sz="1400" b="1"/>
                        <a:t>Role</a:t>
                      </a:r>
                    </a:p>
                  </a:txBody>
                  <a:tcPr marL="54864" marR="54864" marT="27432" marB="27432"/>
                </a:tc>
                <a:tc>
                  <a:txBody>
                    <a:bodyPr/>
                    <a:lstStyle/>
                    <a:p>
                      <a:r>
                        <a:rPr sz="1400" b="1"/>
                        <a:t>Result</a:t>
                      </a:r>
                    </a:p>
                  </a:txBody>
                  <a:tcPr marL="54864" marR="54864" marT="27432" marB="27432"/>
                </a:tc>
                <a:extLst>
                  <a:ext uri="{0D108BD9-81ED-4DB2-BD59-A6C34878D82A}">
                    <a16:rowId xmlns:a16="http://schemas.microsoft.com/office/drawing/2014/main" val="10000"/>
                  </a:ext>
                </a:extLst>
              </a:tr>
              <a:tr h="420624">
                <a:tc>
                  <a:txBody>
                    <a:bodyPr/>
                    <a:lstStyle/>
                    <a:p>
                      <a:r>
                        <a:rPr sz="1300" b="0"/>
                        <a:t>K-Means (k = 2)</a:t>
                      </a:r>
                    </a:p>
                  </a:txBody>
                  <a:tcPr marL="54864" marR="54864" marT="27432" marB="27432"/>
                </a:tc>
                <a:tc>
                  <a:txBody>
                    <a:bodyPr/>
                    <a:lstStyle/>
                    <a:p>
                      <a:r>
                        <a:rPr sz="1300" b="0"/>
                        <a:t>chosen</a:t>
                      </a:r>
                    </a:p>
                  </a:txBody>
                  <a:tcPr marL="54864" marR="54864" marT="27432" marB="27432"/>
                </a:tc>
                <a:tc>
                  <a:txBody>
                    <a:bodyPr/>
                    <a:lstStyle/>
                    <a:p>
                      <a:r>
                        <a:rPr sz="1300" b="0"/>
                        <a:t>ARI 0.965 vs weekday / weekend (1.0 without anomaly days)</a:t>
                      </a:r>
                    </a:p>
                  </a:txBody>
                  <a:tcPr marL="54864" marR="54864" marT="27432" marB="27432"/>
                </a:tc>
                <a:extLst>
                  <a:ext uri="{0D108BD9-81ED-4DB2-BD59-A6C34878D82A}">
                    <a16:rowId xmlns:a16="http://schemas.microsoft.com/office/drawing/2014/main" val="10001"/>
                  </a:ext>
                </a:extLst>
              </a:tr>
              <a:tr h="420624">
                <a:tc>
                  <a:txBody>
                    <a:bodyPr/>
                    <a:lstStyle/>
                    <a:p>
                      <a:r>
                        <a:rPr sz="1300" b="0"/>
                        <a:t>Ward clustering</a:t>
                      </a:r>
                    </a:p>
                  </a:txBody>
                  <a:tcPr marL="54864" marR="54864" marT="27432" marB="27432"/>
                </a:tc>
                <a:tc>
                  <a:txBody>
                    <a:bodyPr/>
                    <a:lstStyle/>
                    <a:p>
                      <a:r>
                        <a:rPr sz="1300" b="0"/>
                        <a:t>comparison</a:t>
                      </a:r>
                    </a:p>
                  </a:txBody>
                  <a:tcPr marL="54864" marR="54864" marT="27432" marB="27432"/>
                </a:tc>
                <a:tc>
                  <a:txBody>
                    <a:bodyPr/>
                    <a:lstStyle/>
                    <a:p>
                      <a:r>
                        <a:rPr sz="1300" b="0"/>
                        <a:t>also best at k = 2; ARI 0.957 with K-Means</a:t>
                      </a:r>
                    </a:p>
                  </a:txBody>
                  <a:tcPr marL="54864" marR="54864" marT="27432" marB="27432"/>
                </a:tc>
                <a:extLst>
                  <a:ext uri="{0D108BD9-81ED-4DB2-BD59-A6C34878D82A}">
                    <a16:rowId xmlns:a16="http://schemas.microsoft.com/office/drawing/2014/main" val="10002"/>
                  </a:ext>
                </a:extLst>
              </a:tr>
              <a:tr h="420624">
                <a:tc>
                  <a:txBody>
                    <a:bodyPr/>
                    <a:lstStyle/>
                    <a:p>
                      <a:r>
                        <a:rPr sz="1300" b="0"/>
                        <a:t>Gaussian Mixture</a:t>
                      </a:r>
                    </a:p>
                  </a:txBody>
                  <a:tcPr marL="54864" marR="54864" marT="27432" marB="27432"/>
                </a:tc>
                <a:tc>
                  <a:txBody>
                    <a:bodyPr/>
                    <a:lstStyle/>
                    <a:p>
                      <a:r>
                        <a:rPr sz="1300" b="0"/>
                        <a:t>rejected</a:t>
                      </a:r>
                    </a:p>
                  </a:txBody>
                  <a:tcPr marL="54864" marR="54864" marT="27432" marB="27432"/>
                </a:tc>
                <a:tc>
                  <a:txBody>
                    <a:bodyPr/>
                    <a:lstStyle/>
                    <a:p>
                      <a:r>
                        <a:rPr sz="1300" b="0"/>
                        <a:t>small group of 37 days, 36 of them anomalies</a:t>
                      </a:r>
                    </a:p>
                  </a:txBody>
                  <a:tcPr marL="54864" marR="54864" marT="27432" marB="27432"/>
                </a:tc>
                <a:extLst>
                  <a:ext uri="{0D108BD9-81ED-4DB2-BD59-A6C34878D82A}">
                    <a16:rowId xmlns:a16="http://schemas.microsoft.com/office/drawing/2014/main" val="10003"/>
                  </a:ext>
                </a:extLst>
              </a:tr>
              <a:tr h="420624">
                <a:tc>
                  <a:txBody>
                    <a:bodyPr/>
                    <a:lstStyle/>
                    <a:p>
                      <a:r>
                        <a:rPr sz="1300" b="0"/>
                        <a:t>DBSCAN</a:t>
                      </a:r>
                    </a:p>
                  </a:txBody>
                  <a:tcPr marL="54864" marR="54864" marT="27432" marB="27432"/>
                </a:tc>
                <a:tc>
                  <a:txBody>
                    <a:bodyPr/>
                    <a:lstStyle/>
                    <a:p>
                      <a:r>
                        <a:rPr sz="1300" b="0"/>
                        <a:t>density check</a:t>
                      </a:r>
                    </a:p>
                  </a:txBody>
                  <a:tcPr marL="54864" marR="54864" marT="27432" marB="27432"/>
                </a:tc>
                <a:tc>
                  <a:txBody>
                    <a:bodyPr/>
                    <a:lstStyle/>
                    <a:p>
                      <a:r>
                        <a:rPr sz="1300" b="0"/>
                        <a:t>1 cluster + 60 noise days = the 60 anomalies</a:t>
                      </a:r>
                    </a:p>
                  </a:txBody>
                  <a:tcPr marL="54864" marR="54864" marT="27432" marB="27432"/>
                </a:tc>
                <a:extLst>
                  <a:ext uri="{0D108BD9-81ED-4DB2-BD59-A6C34878D82A}">
                    <a16:rowId xmlns:a16="http://schemas.microsoft.com/office/drawing/2014/main" val="10004"/>
                  </a:ext>
                </a:extLst>
              </a:tr>
              <a:tr h="420624">
                <a:tc>
                  <a:txBody>
                    <a:bodyPr/>
                    <a:lstStyle/>
                    <a:p>
                      <a:r>
                        <a:rPr sz="1300" b="0"/>
                        <a:t>Isolation Forest</a:t>
                      </a:r>
                    </a:p>
                  </a:txBody>
                  <a:tcPr marL="54864" marR="54864" marT="27432" marB="27432"/>
                </a:tc>
                <a:tc>
                  <a:txBody>
                    <a:bodyPr/>
                    <a:lstStyle/>
                    <a:p>
                      <a:r>
                        <a:rPr sz="1300" b="0"/>
                        <a:t>chosen</a:t>
                      </a:r>
                    </a:p>
                  </a:txBody>
                  <a:tcPr marL="54864" marR="54864" marT="27432" marB="27432"/>
                </a:tc>
                <a:tc>
                  <a:txBody>
                    <a:bodyPr/>
                    <a:lstStyle/>
                    <a:p>
                      <a:r>
                        <a:rPr sz="1300" b="0"/>
                        <a:t>60 days flagged; precision = recall = F1 = 1.00</a:t>
                      </a:r>
                    </a:p>
                  </a:txBody>
                  <a:tcPr marL="54864" marR="54864" marT="27432" marB="27432"/>
                </a:tc>
                <a:extLst>
                  <a:ext uri="{0D108BD9-81ED-4DB2-BD59-A6C34878D82A}">
                    <a16:rowId xmlns:a16="http://schemas.microsoft.com/office/drawing/2014/main" val="10005"/>
                  </a:ext>
                </a:extLst>
              </a:tr>
              <a:tr h="420624">
                <a:tc>
                  <a:txBody>
                    <a:bodyPr/>
                    <a:lstStyle/>
                    <a:p>
                      <a:r>
                        <a:rPr sz="1300" b="0"/>
                        <a:t>LOF / One-Class SVM</a:t>
                      </a:r>
                    </a:p>
                  </a:txBody>
                  <a:tcPr marL="54864" marR="54864" marT="27432" marB="27432"/>
                </a:tc>
                <a:tc>
                  <a:txBody>
                    <a:bodyPr/>
                    <a:lstStyle/>
                    <a:p>
                      <a:r>
                        <a:rPr sz="1300" b="0"/>
                        <a:t>comparison</a:t>
                      </a:r>
                    </a:p>
                  </a:txBody>
                  <a:tcPr marL="54864" marR="54864" marT="27432" marB="27432"/>
                </a:tc>
                <a:tc>
                  <a:txBody>
                    <a:bodyPr/>
                    <a:lstStyle/>
                    <a:p>
                      <a:r>
                        <a:rPr sz="1300" b="0"/>
                        <a:t>LOF same 60 days; OCSVM P 0.40, R 0.50 (default gamma)</a:t>
                      </a:r>
                    </a:p>
                  </a:txBody>
                  <a:tcPr marL="54864" marR="54864" marT="27432" marB="27432"/>
                </a:tc>
                <a:extLst>
                  <a:ext uri="{0D108BD9-81ED-4DB2-BD59-A6C34878D82A}">
                    <a16:rowId xmlns:a16="http://schemas.microsoft.com/office/drawing/2014/main" val="10006"/>
                  </a:ext>
                </a:extLst>
              </a:tr>
            </a:tbl>
          </a:graphicData>
        </a:graphic>
      </p:graphicFrame>
      <p:sp>
        <p:nvSpPr>
          <p:cNvPr id="4" name="TextBox 3"/>
          <p:cNvSpPr txBox="1"/>
          <p:nvPr/>
        </p:nvSpPr>
        <p:spPr>
          <a:xfrm>
            <a:off x="365760" y="4343400"/>
            <a:ext cx="6675120" cy="1737360"/>
          </a:xfrm>
          <a:prstGeom prst="rect">
            <a:avLst/>
          </a:prstGeom>
          <a:noFill/>
        </p:spPr>
        <p:txBody>
          <a:bodyPr wrap="square" lIns="45720" rIns="45720" anchor="t">
            <a:spAutoFit/>
          </a:bodyPr>
          <a:lstStyle/>
          <a:p>
            <a:pPr marL="256032" indent="-228600">
              <a:spcAft>
                <a:spcPts val="400"/>
              </a:spcAft>
              <a:buChar char="•"/>
            </a:pPr>
            <a:r>
              <a:rPr sz="1500"/>
              <a:t>Labels: Normal 1,279 · Low 465 · Peak 212 · Abnormal 21</a:t>
            </a:r>
          </a:p>
          <a:p>
            <a:pPr marL="256032" indent="-228600">
              <a:spcAft>
                <a:spcPts val="400"/>
              </a:spcAft>
              <a:buChar char="•"/>
            </a:pPr>
            <a:r>
              <a:rPr sz="1500"/>
              <a:t>60 anomaly days = 21 Abnormal + 39 Peak (high-peak anomalies)</a:t>
            </a:r>
          </a:p>
          <a:p>
            <a:pPr marL="256032" indent="-228600">
              <a:spcAft>
                <a:spcPts val="400"/>
              </a:spcAft>
              <a:buChar char="•"/>
            </a:pPr>
            <a:r>
              <a:rPr sz="1500"/>
              <a:t>Future label back-test: 83.5% vs 62.4% majority baseline</a:t>
            </a:r>
          </a:p>
        </p:txBody>
      </p:sp>
      <p:pic>
        <p:nvPicPr>
          <p:cNvPr id="5" name="Picture 4" descr="F07_detector_comparison.png"/>
          <p:cNvPicPr>
            <a:picLocks noChangeAspect="1"/>
          </p:cNvPicPr>
          <p:nvPr/>
        </p:nvPicPr>
        <p:blipFill>
          <a:blip r:embed="rId3"/>
          <a:stretch>
            <a:fillRect/>
          </a:stretch>
        </p:blipFill>
        <p:spPr>
          <a:xfrm>
            <a:off x="7223760" y="1535901"/>
            <a:ext cx="4709160" cy="1683077"/>
          </a:xfrm>
          <a:prstGeom prst="rect">
            <a:avLst/>
          </a:prstGeom>
        </p:spPr>
      </p:pic>
      <p:pic>
        <p:nvPicPr>
          <p:cNvPr id="6" name="Picture 5" descr="F09_prediction_backtest.png"/>
          <p:cNvPicPr>
            <a:picLocks noChangeAspect="1"/>
          </p:cNvPicPr>
          <p:nvPr/>
        </p:nvPicPr>
        <p:blipFill>
          <a:blip r:embed="rId4"/>
          <a:stretch>
            <a:fillRect/>
          </a:stretch>
        </p:blipFill>
        <p:spPr>
          <a:xfrm>
            <a:off x="7223760" y="3838817"/>
            <a:ext cx="4709160" cy="1832124"/>
          </a:xfrm>
          <a:prstGeom prst="rect">
            <a:avLst/>
          </a:prstGeom>
        </p:spPr>
      </p:pic>
      <p:sp>
        <p:nvSpPr>
          <p:cNvPr id="7"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IT22545176</a:t>
            </a:r>
            <a:r>
              <a:rPr lang="en-US" sz="1800" dirty="0">
                <a:solidFill>
                  <a:schemeClr val="tx1"/>
                </a:solidFill>
              </a:rPr>
              <a:t>   |   </a:t>
            </a:r>
            <a:r>
              <a:rPr lang="en-US" sz="1800" b="1" dirty="0">
                <a:solidFill>
                  <a:schemeClr val="tx1"/>
                </a:solidFill>
              </a:rPr>
              <a:t>Thanujan T   </a:t>
            </a:r>
            <a:r>
              <a:rPr lang="en-US" sz="1800" dirty="0">
                <a:solidFill>
                  <a:schemeClr val="tx1"/>
                </a:solidFill>
              </a:rPr>
              <a:t>|   </a:t>
            </a:r>
            <a:r>
              <a:rPr lang="en-US" sz="1800" b="0" dirty="0">
                <a:solidFill>
                  <a:schemeClr val="tx1"/>
                </a:solidFill>
              </a:rPr>
              <a:t>R26-IT-010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Addressing PP2 Feedback — Thanujan</a:t>
            </a:r>
          </a:p>
        </p:txBody>
      </p:sp>
      <p:graphicFrame>
        <p:nvGraphicFramePr>
          <p:cNvPr id="3" name="Table 2"/>
          <p:cNvGraphicFramePr>
            <a:graphicFrameLocks noGrp="1"/>
          </p:cNvGraphicFramePr>
          <p:nvPr/>
        </p:nvGraphicFramePr>
        <p:xfrm>
          <a:off x="365760" y="1280160"/>
          <a:ext cx="11430000" cy="4343400"/>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868680">
                <a:tc>
                  <a:txBody>
                    <a:bodyPr/>
                    <a:lstStyle/>
                    <a:p>
                      <a:r>
                        <a:rPr sz="1900" b="1"/>
                        <a:t>PP2 comment</a:t>
                      </a:r>
                    </a:p>
                  </a:txBody>
                  <a:tcPr marL="54864" marR="54864" marT="27432" marB="27432"/>
                </a:tc>
                <a:tc>
                  <a:txBody>
                    <a:bodyPr/>
                    <a:lstStyle/>
                    <a:p>
                      <a:r>
                        <a:rPr sz="1900" b="1"/>
                        <a:t>What was done</a:t>
                      </a:r>
                    </a:p>
                  </a:txBody>
                  <a:tcPr marL="54864" marR="54864" marT="27432" marB="27432"/>
                </a:tc>
                <a:tc>
                  <a:txBody>
                    <a:bodyPr/>
                    <a:lstStyle/>
                    <a:p>
                      <a:r>
                        <a:rPr sz="1900" b="1"/>
                        <a:t>Evidence</a:t>
                      </a:r>
                    </a:p>
                  </a:txBody>
                  <a:tcPr marL="54864" marR="54864" marT="27432" marB="27432"/>
                </a:tc>
                <a:extLst>
                  <a:ext uri="{0D108BD9-81ED-4DB2-BD59-A6C34878D82A}">
                    <a16:rowId xmlns:a16="http://schemas.microsoft.com/office/drawing/2014/main" val="10000"/>
                  </a:ext>
                </a:extLst>
              </a:tr>
              <a:tr h="868680">
                <a:tc>
                  <a:txBody>
                    <a:bodyPr/>
                    <a:lstStyle/>
                    <a:p>
                      <a:r>
                        <a:rPr sz="1800" b="0"/>
                        <a:t>Moderate idea about clustering</a:t>
                      </a:r>
                    </a:p>
                  </a:txBody>
                  <a:tcPr marL="54864" marR="54864" marT="27432" marB="27432"/>
                </a:tc>
                <a:tc>
                  <a:txBody>
                    <a:bodyPr/>
                    <a:lstStyle/>
                    <a:p>
                      <a:r>
                        <a:rPr sz="1800" b="0"/>
                        <a:t>Compared K-Means, Ward, GMM and DBSCAN; explained what each cluster means</a:t>
                      </a:r>
                    </a:p>
                  </a:txBody>
                  <a:tcPr marL="54864" marR="54864" marT="27432" marB="27432"/>
                </a:tc>
                <a:tc>
                  <a:txBody>
                    <a:bodyPr/>
                    <a:lstStyle/>
                    <a:p>
                      <a:r>
                        <a:rPr sz="1800" b="0"/>
                        <a:t>Weekday 1,396 / weekend 581 days; ARI 0.965; Ward ARI 0.957</a:t>
                      </a:r>
                    </a:p>
                  </a:txBody>
                  <a:tcPr marL="54864" marR="54864" marT="27432" marB="27432"/>
                </a:tc>
                <a:extLst>
                  <a:ext uri="{0D108BD9-81ED-4DB2-BD59-A6C34878D82A}">
                    <a16:rowId xmlns:a16="http://schemas.microsoft.com/office/drawing/2014/main" val="10001"/>
                  </a:ext>
                </a:extLst>
              </a:tr>
              <a:tr h="868680">
                <a:tc>
                  <a:txBody>
                    <a:bodyPr/>
                    <a:lstStyle/>
                    <a:p>
                      <a:r>
                        <a:rPr sz="1800" b="0"/>
                        <a:t>Why the models were selected</a:t>
                      </a:r>
                    </a:p>
                  </a:txBody>
                  <a:tcPr marL="54864" marR="54864" marT="27432" marB="27432"/>
                </a:tc>
                <a:tc>
                  <a:txBody>
                    <a:bodyPr/>
                    <a:lstStyle/>
                    <a:p>
                      <a:r>
                        <a:rPr sz="1800" b="0"/>
                        <a:t>Unsupervised selection by indices and stability, then ground-truth validation</a:t>
                      </a:r>
                    </a:p>
                  </a:txBody>
                  <a:tcPr marL="54864" marR="54864" marT="27432" marB="27432"/>
                </a:tc>
                <a:tc>
                  <a:txBody>
                    <a:bodyPr/>
                    <a:lstStyle/>
                    <a:p>
                      <a:r>
                        <a:rPr sz="1800" b="0"/>
                        <a:t>All 3 indices pick k = 2; Isolation Forest P = R = F1 = 1.00</a:t>
                      </a:r>
                    </a:p>
                  </a:txBody>
                  <a:tcPr marL="54864" marR="54864" marT="27432" marB="27432"/>
                </a:tc>
                <a:extLst>
                  <a:ext uri="{0D108BD9-81ED-4DB2-BD59-A6C34878D82A}">
                    <a16:rowId xmlns:a16="http://schemas.microsoft.com/office/drawing/2014/main" val="10002"/>
                  </a:ext>
                </a:extLst>
              </a:tr>
              <a:tr h="868680">
                <a:tc>
                  <a:txBody>
                    <a:bodyPr/>
                    <a:lstStyle/>
                    <a:p>
                      <a:r>
                        <a:rPr sz="1800" b="0"/>
                        <a:t>Parameters used, and why</a:t>
                      </a:r>
                    </a:p>
                  </a:txBody>
                  <a:tcPr marL="54864" marR="54864" marT="27432" marB="27432"/>
                </a:tc>
                <a:tc>
                  <a:txBody>
                    <a:bodyPr/>
                    <a:lstStyle/>
                    <a:p>
                      <a:r>
                        <a:rPr sz="1800" b="0"/>
                        <a:t>Final parameter table: value, how chosen, evidence, reason</a:t>
                      </a:r>
                    </a:p>
                  </a:txBody>
                  <a:tcPr marL="54864" marR="54864" marT="27432" marB="27432"/>
                </a:tc>
                <a:tc>
                  <a:txBody>
                    <a:bodyPr/>
                    <a:lstStyle/>
                    <a:p>
                      <a:r>
                        <a:rPr sz="1800" b="0"/>
                        <a:t>18 parameters documented (notebook 07, table T13)</a:t>
                      </a:r>
                    </a:p>
                  </a:txBody>
                  <a:tcPr marL="54864" marR="54864" marT="27432" marB="27432"/>
                </a:tc>
                <a:extLst>
                  <a:ext uri="{0D108BD9-81ED-4DB2-BD59-A6C34878D82A}">
                    <a16:rowId xmlns:a16="http://schemas.microsoft.com/office/drawing/2014/main" val="10003"/>
                  </a:ext>
                </a:extLst>
              </a:tr>
              <a:tr h="868680">
                <a:tc>
                  <a:txBody>
                    <a:bodyPr/>
                    <a:lstStyle/>
                    <a:p>
                      <a:r>
                        <a:rPr sz="1800" b="0"/>
                        <a:t>Need fine-tuning</a:t>
                      </a:r>
                    </a:p>
                  </a:txBody>
                  <a:tcPr marL="54864" marR="54864" marT="27432" marB="27432"/>
                </a:tc>
                <a:tc>
                  <a:txBody>
                    <a:bodyPr/>
                    <a:lstStyle/>
                    <a:p>
                      <a:r>
                        <a:rPr sz="1800" b="0"/>
                        <a:t>Grid searches for k, eps, contamination, trees, max_samples, thresholds</a:t>
                      </a:r>
                    </a:p>
                  </a:txBody>
                  <a:tcPr marL="54864" marR="54864" marT="27432" marB="27432"/>
                </a:tc>
                <a:tc>
                  <a:txBody>
                    <a:bodyPr/>
                    <a:lstStyle/>
                    <a:p>
                      <a:r>
                        <a:rPr sz="1800" b="0"/>
                        <a:t>60-setting Isolation Forest grid × 20 refits; threshold ±5 sensitivity</a:t>
                      </a:r>
                    </a:p>
                  </a:txBody>
                  <a:tcPr marL="54864" marR="54864" marT="27432" marB="27432"/>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IT22545176</a:t>
            </a:r>
            <a:r>
              <a:rPr lang="en-US" sz="1800" dirty="0">
                <a:solidFill>
                  <a:schemeClr val="tx1"/>
                </a:solidFill>
              </a:rPr>
              <a:t>   |   </a:t>
            </a:r>
            <a:r>
              <a:rPr lang="en-US" sz="1800" b="1" dirty="0">
                <a:solidFill>
                  <a:schemeClr val="tx1"/>
                </a:solidFill>
              </a:rPr>
              <a:t>Thanujan T   </a:t>
            </a:r>
            <a:r>
              <a:rPr lang="en-US" sz="1800" dirty="0">
                <a:solidFill>
                  <a:schemeClr val="tx1"/>
                </a:solidFill>
              </a:rPr>
              <a:t>|   </a:t>
            </a:r>
            <a:r>
              <a:rPr lang="en-US" sz="1800" b="0" dirty="0">
                <a:solidFill>
                  <a:schemeClr val="tx1"/>
                </a:solidFill>
              </a:rPr>
              <a:t>R26-IT-010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Neural Forecasting — Models &amp; Architecture</a:t>
            </a:r>
          </a:p>
        </p:txBody>
      </p:sp>
      <p:sp>
        <p:nvSpPr>
          <p:cNvPr id="3" name="TextBox 2"/>
          <p:cNvSpPr txBox="1"/>
          <p:nvPr/>
        </p:nvSpPr>
        <p:spPr>
          <a:xfrm>
            <a:off x="365760" y="1188720"/>
            <a:ext cx="5760720" cy="3657600"/>
          </a:xfrm>
          <a:prstGeom prst="rect">
            <a:avLst/>
          </a:prstGeom>
          <a:noFill/>
        </p:spPr>
        <p:txBody>
          <a:bodyPr wrap="square" lIns="45720" rIns="45720" anchor="t">
            <a:spAutoFit/>
          </a:bodyPr>
          <a:lstStyle/>
          <a:p>
            <a:pPr marL="256032" indent="-228600">
              <a:spcAft>
                <a:spcPts val="500"/>
              </a:spcAft>
              <a:buChar char="•"/>
            </a:pPr>
            <a:r>
              <a:rPr sz="1500"/>
              <a:t>Input: last 24 hours = 96 steps × 20 features</a:t>
            </a:r>
          </a:p>
          <a:p>
            <a:pPr marL="256032" indent="-228600">
              <a:spcAft>
                <a:spcPts val="500"/>
              </a:spcAft>
              <a:buChar char="•"/>
            </a:pPr>
            <a:r>
              <a:rPr sz="1500"/>
              <a:t>Features: weather, cyclic calendar, Poya / public events, load lags</a:t>
            </a:r>
          </a:p>
          <a:p>
            <a:pPr marL="256032" indent="-228600">
              <a:spcAft>
                <a:spcPts val="500"/>
              </a:spcAft>
              <a:buChar char="•"/>
            </a:pPr>
            <a:r>
              <a:rPr sz="1500"/>
              <a:t>7 models: CNN, LSTM, Transformer, CNN-LSTM, CNN-Transformer (+ MC Dropout)</a:t>
            </a:r>
          </a:p>
          <a:p>
            <a:pPr marL="256032" indent="-228600">
              <a:spcAft>
                <a:spcPts val="500"/>
              </a:spcAft>
              <a:buChar char="•"/>
            </a:pPr>
            <a:r>
              <a:rPr sz="1500"/>
              <a:t>CNN finds short patterns; LSTM / attention learn longer patterns</a:t>
            </a:r>
          </a:p>
          <a:p>
            <a:pPr marL="256032" indent="-228600">
              <a:spcAft>
                <a:spcPts val="500"/>
              </a:spcAft>
              <a:buChar char="•"/>
            </a:pPr>
            <a:r>
              <a:rPr sz="1500"/>
              <a:t>Output: the next 15-minute load (kW), one step ahead</a:t>
            </a:r>
          </a:p>
        </p:txBody>
      </p:sp>
      <p:sp>
        <p:nvSpPr>
          <p:cNvPr id="4" name="TextBox 3"/>
          <p:cNvSpPr txBox="1"/>
          <p:nvPr/>
        </p:nvSpPr>
        <p:spPr>
          <a:xfrm>
            <a:off x="365760" y="4206240"/>
            <a:ext cx="5760720" cy="365760"/>
          </a:xfrm>
          <a:prstGeom prst="rect">
            <a:avLst/>
          </a:prstGeom>
          <a:noFill/>
        </p:spPr>
        <p:txBody>
          <a:bodyPr wrap="square" lIns="45720" rIns="45720" anchor="t">
            <a:spAutoFit/>
          </a:bodyPr>
          <a:lstStyle/>
          <a:p>
            <a:pPr marL="0" indent="0">
              <a:buNone/>
            </a:pPr>
            <a:r>
              <a:rPr sz="1700" b="1">
                <a:solidFill>
                  <a:srgbClr val="0F6FC6"/>
                </a:solidFill>
              </a:rPr>
              <a:t>Default model CNN-LSTM-B</a:t>
            </a:r>
          </a:p>
        </p:txBody>
      </p:sp>
      <p:sp>
        <p:nvSpPr>
          <p:cNvPr id="5" name="TextBox 4"/>
          <p:cNvSpPr txBox="1"/>
          <p:nvPr/>
        </p:nvSpPr>
        <p:spPr>
          <a:xfrm>
            <a:off x="365760" y="4572000"/>
            <a:ext cx="5760720" cy="1554480"/>
          </a:xfrm>
          <a:prstGeom prst="rect">
            <a:avLst/>
          </a:prstGeom>
          <a:noFill/>
        </p:spPr>
        <p:txBody>
          <a:bodyPr wrap="square" lIns="45720" rIns="45720" anchor="t">
            <a:spAutoFit/>
          </a:bodyPr>
          <a:lstStyle/>
          <a:p>
            <a:pPr marL="0" indent="0">
              <a:buNone/>
            </a:pPr>
            <a:r>
              <a:rPr sz="1400"/>
              <a:t>Conv1D 64 → Conv1D 32 (causal) → LSTM 128 → LSTM 64 → Dense 64 → Dropout 0.2 → 1 output</a:t>
            </a:r>
          </a:p>
          <a:p>
            <a:pPr marL="0" indent="0">
              <a:buNone/>
            </a:pPr>
            <a:r>
              <a:rPr sz="1400">
                <a:solidFill>
                  <a:srgbClr val="404040"/>
                </a:solidFill>
              </a:rPr>
              <a:t>146,145 parameters</a:t>
            </a:r>
          </a:p>
        </p:txBody>
      </p:sp>
      <p:pic>
        <p:nvPicPr>
          <p:cNvPr id="6" name="Picture 5" descr="nn_04_library.png"/>
          <p:cNvPicPr>
            <a:picLocks noChangeAspect="1"/>
          </p:cNvPicPr>
          <p:nvPr/>
        </p:nvPicPr>
        <p:blipFill>
          <a:blip r:embed="rId3"/>
          <a:stretch>
            <a:fillRect/>
          </a:stretch>
        </p:blipFill>
        <p:spPr>
          <a:xfrm>
            <a:off x="6309360" y="1189005"/>
            <a:ext cx="5623560" cy="3163252"/>
          </a:xfrm>
          <a:prstGeom prst="rect">
            <a:avLst/>
          </a:prstGeom>
          <a:ln w="9525">
            <a:solidFill>
              <a:srgbClr val="BFBFBF"/>
            </a:solidFill>
          </a:ln>
        </p:spPr>
      </p:pic>
      <p:sp>
        <p:nvSpPr>
          <p:cNvPr id="7" name="TextBox 6"/>
          <p:cNvSpPr txBox="1"/>
          <p:nvPr/>
        </p:nvSpPr>
        <p:spPr>
          <a:xfrm>
            <a:off x="6309360" y="4407408"/>
            <a:ext cx="5623560" cy="320040"/>
          </a:xfrm>
          <a:prstGeom prst="rect">
            <a:avLst/>
          </a:prstGeom>
          <a:noFill/>
        </p:spPr>
        <p:txBody>
          <a:bodyPr wrap="square" lIns="45720" rIns="45720" anchor="t">
            <a:spAutoFit/>
          </a:bodyPr>
          <a:lstStyle/>
          <a:p>
            <a:pPr marL="0" indent="0">
              <a:buNone/>
            </a:pPr>
            <a:r>
              <a:rPr sz="1200">
                <a:solidFill>
                  <a:srgbClr val="404040"/>
                </a:solidFill>
              </a:rPr>
              <a:t>Model library: all 7 models with the same 96 × 20 input contract</a:t>
            </a:r>
          </a:p>
        </p:txBody>
      </p:sp>
      <p:sp>
        <p:nvSpPr>
          <p:cNvPr id="8"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IT22069740</a:t>
            </a:r>
            <a:r>
              <a:rPr lang="en-US" sz="1800" dirty="0">
                <a:solidFill>
                  <a:schemeClr val="tx1"/>
                </a:solidFill>
              </a:rPr>
              <a:t>   |   </a:t>
            </a:r>
            <a:r>
              <a:rPr lang="en-US" sz="1800" b="1" dirty="0">
                <a:solidFill>
                  <a:schemeClr val="tx1"/>
                </a:solidFill>
              </a:rPr>
              <a:t>Janahan R   </a:t>
            </a:r>
            <a:r>
              <a:rPr lang="en-US" sz="1800" dirty="0">
                <a:solidFill>
                  <a:schemeClr val="tx1"/>
                </a:solidFill>
              </a:rPr>
              <a:t>|   </a:t>
            </a:r>
            <a:r>
              <a:rPr lang="en-US" sz="1800" b="0" dirty="0">
                <a:solidFill>
                  <a:schemeClr val="tx1"/>
                </a:solidFill>
              </a:rPr>
              <a:t>R26-IT-010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Neural Forecasting — Training Parameters &amp; Optimisation</a:t>
            </a:r>
          </a:p>
        </p:txBody>
      </p:sp>
      <p:graphicFrame>
        <p:nvGraphicFramePr>
          <p:cNvPr id="3" name="Table 2"/>
          <p:cNvGraphicFramePr>
            <a:graphicFrameLocks noGrp="1"/>
          </p:cNvGraphicFramePr>
          <p:nvPr/>
        </p:nvGraphicFramePr>
        <p:xfrm>
          <a:off x="365760" y="1188720"/>
          <a:ext cx="6675120" cy="3590544"/>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384048">
                <a:tc>
                  <a:txBody>
                    <a:bodyPr/>
                    <a:lstStyle/>
                    <a:p>
                      <a:r>
                        <a:rPr sz="1400" b="1"/>
                        <a:t>Parameter</a:t>
                      </a:r>
                    </a:p>
                  </a:txBody>
                  <a:tcPr marL="54864" marR="54864" marT="27432" marB="27432"/>
                </a:tc>
                <a:tc>
                  <a:txBody>
                    <a:bodyPr/>
                    <a:lstStyle/>
                    <a:p>
                      <a:r>
                        <a:rPr sz="1400" b="1"/>
                        <a:t>Value</a:t>
                      </a:r>
                    </a:p>
                  </a:txBody>
                  <a:tcPr marL="54864" marR="54864" marT="27432" marB="27432"/>
                </a:tc>
                <a:tc>
                  <a:txBody>
                    <a:bodyPr/>
                    <a:lstStyle/>
                    <a:p>
                      <a:r>
                        <a:rPr sz="1400" b="1"/>
                        <a:t>Why</a:t>
                      </a:r>
                    </a:p>
                  </a:txBody>
                  <a:tcPr marL="54864" marR="54864" marT="27432" marB="27432"/>
                </a:tc>
                <a:extLst>
                  <a:ext uri="{0D108BD9-81ED-4DB2-BD59-A6C34878D82A}">
                    <a16:rowId xmlns:a16="http://schemas.microsoft.com/office/drawing/2014/main" val="10000"/>
                  </a:ext>
                </a:extLst>
              </a:tr>
              <a:tr h="384048">
                <a:tc>
                  <a:txBody>
                    <a:bodyPr/>
                    <a:lstStyle/>
                    <a:p>
                      <a:r>
                        <a:rPr sz="1300" b="0"/>
                        <a:t>Lookback</a:t>
                      </a:r>
                    </a:p>
                  </a:txBody>
                  <a:tcPr marL="54864" marR="54864" marT="27432" marB="27432"/>
                </a:tc>
                <a:tc>
                  <a:txBody>
                    <a:bodyPr/>
                    <a:lstStyle/>
                    <a:p>
                      <a:r>
                        <a:rPr sz="1300" b="0"/>
                        <a:t>96 steps</a:t>
                      </a:r>
                    </a:p>
                  </a:txBody>
                  <a:tcPr marL="54864" marR="54864" marT="27432" marB="27432"/>
                </a:tc>
                <a:tc>
                  <a:txBody>
                    <a:bodyPr/>
                    <a:lstStyle/>
                    <a:p>
                      <a:r>
                        <a:rPr sz="1300" b="0"/>
                        <a:t>one full day of 15-min readings</a:t>
                      </a:r>
                    </a:p>
                  </a:txBody>
                  <a:tcPr marL="54864" marR="54864" marT="27432" marB="27432"/>
                </a:tc>
                <a:extLst>
                  <a:ext uri="{0D108BD9-81ED-4DB2-BD59-A6C34878D82A}">
                    <a16:rowId xmlns:a16="http://schemas.microsoft.com/office/drawing/2014/main" val="10001"/>
                  </a:ext>
                </a:extLst>
              </a:tr>
              <a:tr h="384048">
                <a:tc>
                  <a:txBody>
                    <a:bodyPr/>
                    <a:lstStyle/>
                    <a:p>
                      <a:r>
                        <a:rPr sz="1300" b="0"/>
                        <a:t>Split</a:t>
                      </a:r>
                    </a:p>
                  </a:txBody>
                  <a:tcPr marL="54864" marR="54864" marT="27432" marB="27432"/>
                </a:tc>
                <a:tc>
                  <a:txBody>
                    <a:bodyPr/>
                    <a:lstStyle/>
                    <a:p>
                      <a:r>
                        <a:rPr sz="1300" b="0"/>
                        <a:t>80 / 10 / 10, chronological</a:t>
                      </a:r>
                    </a:p>
                  </a:txBody>
                  <a:tcPr marL="54864" marR="54864" marT="27432" marB="27432"/>
                </a:tc>
                <a:tc>
                  <a:txBody>
                    <a:bodyPr/>
                    <a:lstStyle/>
                    <a:p>
                      <a:r>
                        <a:rPr sz="1300" b="0"/>
                        <a:t>no future data leaks into training</a:t>
                      </a:r>
                    </a:p>
                  </a:txBody>
                  <a:tcPr marL="54864" marR="54864" marT="27432" marB="27432"/>
                </a:tc>
                <a:extLst>
                  <a:ext uri="{0D108BD9-81ED-4DB2-BD59-A6C34878D82A}">
                    <a16:rowId xmlns:a16="http://schemas.microsoft.com/office/drawing/2014/main" val="10002"/>
                  </a:ext>
                </a:extLst>
              </a:tr>
              <a:tr h="384048">
                <a:tc>
                  <a:txBody>
                    <a:bodyPr/>
                    <a:lstStyle/>
                    <a:p>
                      <a:r>
                        <a:rPr sz="1300" b="0"/>
                        <a:t>Optimiser</a:t>
                      </a:r>
                    </a:p>
                  </a:txBody>
                  <a:tcPr marL="54864" marR="54864" marT="27432" marB="27432"/>
                </a:tc>
                <a:tc>
                  <a:txBody>
                    <a:bodyPr/>
                    <a:lstStyle/>
                    <a:p>
                      <a:r>
                        <a:rPr sz="1300" b="0"/>
                        <a:t>Adam, learning rate 0.001</a:t>
                      </a:r>
                    </a:p>
                  </a:txBody>
                  <a:tcPr marL="54864" marR="54864" marT="27432" marB="27432"/>
                </a:tc>
                <a:tc>
                  <a:txBody>
                    <a:bodyPr/>
                    <a:lstStyle/>
                    <a:p>
                      <a:r>
                        <a:rPr sz="1300" b="0"/>
                        <a:t>stable default for deep nets</a:t>
                      </a:r>
                    </a:p>
                  </a:txBody>
                  <a:tcPr marL="54864" marR="54864" marT="27432" marB="27432"/>
                </a:tc>
                <a:extLst>
                  <a:ext uri="{0D108BD9-81ED-4DB2-BD59-A6C34878D82A}">
                    <a16:rowId xmlns:a16="http://schemas.microsoft.com/office/drawing/2014/main" val="10003"/>
                  </a:ext>
                </a:extLst>
              </a:tr>
              <a:tr h="384048">
                <a:tc>
                  <a:txBody>
                    <a:bodyPr/>
                    <a:lstStyle/>
                    <a:p>
                      <a:r>
                        <a:rPr sz="1300" b="0"/>
                        <a:t>Loss</a:t>
                      </a:r>
                    </a:p>
                  </a:txBody>
                  <a:tcPr marL="54864" marR="54864" marT="27432" marB="27432"/>
                </a:tc>
                <a:tc>
                  <a:txBody>
                    <a:bodyPr/>
                    <a:lstStyle/>
                    <a:p>
                      <a:r>
                        <a:rPr sz="1300" b="0"/>
                        <a:t>MAE</a:t>
                      </a:r>
                    </a:p>
                  </a:txBody>
                  <a:tcPr marL="54864" marR="54864" marT="27432" marB="27432"/>
                </a:tc>
                <a:tc>
                  <a:txBody>
                    <a:bodyPr/>
                    <a:lstStyle/>
                    <a:p>
                      <a:r>
                        <a:rPr sz="1300" b="0"/>
                        <a:t>robust to demand spikes</a:t>
                      </a:r>
                    </a:p>
                  </a:txBody>
                  <a:tcPr marL="54864" marR="54864" marT="27432" marB="27432"/>
                </a:tc>
                <a:extLst>
                  <a:ext uri="{0D108BD9-81ED-4DB2-BD59-A6C34878D82A}">
                    <a16:rowId xmlns:a16="http://schemas.microsoft.com/office/drawing/2014/main" val="10004"/>
                  </a:ext>
                </a:extLst>
              </a:tr>
              <a:tr h="384048">
                <a:tc>
                  <a:txBody>
                    <a:bodyPr/>
                    <a:lstStyle/>
                    <a:p>
                      <a:r>
                        <a:rPr sz="1300" b="0"/>
                        <a:t>Batch size / epochs</a:t>
                      </a:r>
                    </a:p>
                  </a:txBody>
                  <a:tcPr marL="54864" marR="54864" marT="27432" marB="27432"/>
                </a:tc>
                <a:tc>
                  <a:txBody>
                    <a:bodyPr/>
                    <a:lstStyle/>
                    <a:p>
                      <a:r>
                        <a:rPr sz="1300" b="0"/>
                        <a:t>128 / up to 50</a:t>
                      </a:r>
                    </a:p>
                  </a:txBody>
                  <a:tcPr marL="54864" marR="54864" marT="27432" marB="27432"/>
                </a:tc>
                <a:tc>
                  <a:txBody>
                    <a:bodyPr/>
                    <a:lstStyle/>
                    <a:p>
                      <a:r>
                        <a:rPr sz="1300" b="0"/>
                        <a:t>early stopping decides</a:t>
                      </a:r>
                    </a:p>
                  </a:txBody>
                  <a:tcPr marL="54864" marR="54864" marT="27432" marB="27432"/>
                </a:tc>
                <a:extLst>
                  <a:ext uri="{0D108BD9-81ED-4DB2-BD59-A6C34878D82A}">
                    <a16:rowId xmlns:a16="http://schemas.microsoft.com/office/drawing/2014/main" val="10005"/>
                  </a:ext>
                </a:extLst>
              </a:tr>
              <a:tr h="384048">
                <a:tc>
                  <a:txBody>
                    <a:bodyPr/>
                    <a:lstStyle/>
                    <a:p>
                      <a:r>
                        <a:rPr sz="1300" b="0"/>
                        <a:t>Early stopping</a:t>
                      </a:r>
                    </a:p>
                  </a:txBody>
                  <a:tcPr marL="54864" marR="54864" marT="27432" marB="27432"/>
                </a:tc>
                <a:tc>
                  <a:txBody>
                    <a:bodyPr/>
                    <a:lstStyle/>
                    <a:p>
                      <a:r>
                        <a:rPr sz="1300" b="0"/>
                        <a:t>patience 15, restore best</a:t>
                      </a:r>
                    </a:p>
                  </a:txBody>
                  <a:tcPr marL="54864" marR="54864" marT="27432" marB="27432"/>
                </a:tc>
                <a:tc>
                  <a:txBody>
                    <a:bodyPr/>
                    <a:lstStyle/>
                    <a:p>
                      <a:r>
                        <a:rPr sz="1300" b="0"/>
                        <a:t>stops before over-fitting</a:t>
                      </a:r>
                    </a:p>
                  </a:txBody>
                  <a:tcPr marL="54864" marR="54864" marT="27432" marB="27432"/>
                </a:tc>
                <a:extLst>
                  <a:ext uri="{0D108BD9-81ED-4DB2-BD59-A6C34878D82A}">
                    <a16:rowId xmlns:a16="http://schemas.microsoft.com/office/drawing/2014/main" val="10006"/>
                  </a:ext>
                </a:extLst>
              </a:tr>
              <a:tr h="384048">
                <a:tc>
                  <a:txBody>
                    <a:bodyPr/>
                    <a:lstStyle/>
                    <a:p>
                      <a:r>
                        <a:rPr sz="1300" b="0"/>
                        <a:t>Learning-rate schedule</a:t>
                      </a:r>
                    </a:p>
                  </a:txBody>
                  <a:tcPr marL="54864" marR="54864" marT="27432" marB="27432"/>
                </a:tc>
                <a:tc>
                  <a:txBody>
                    <a:bodyPr/>
                    <a:lstStyle/>
                    <a:p>
                      <a:r>
                        <a:rPr sz="1300" b="0"/>
                        <a:t>×0.5 after 8 flat epochs, min 1e-5</a:t>
                      </a:r>
                    </a:p>
                  </a:txBody>
                  <a:tcPr marL="54864" marR="54864" marT="27432" marB="27432"/>
                </a:tc>
                <a:tc>
                  <a:txBody>
                    <a:bodyPr/>
                    <a:lstStyle/>
                    <a:p>
                      <a:r>
                        <a:rPr sz="1300" b="0"/>
                        <a:t>finer steps near the optimum</a:t>
                      </a:r>
                    </a:p>
                  </a:txBody>
                  <a:tcPr marL="54864" marR="54864" marT="27432" marB="27432"/>
                </a:tc>
                <a:extLst>
                  <a:ext uri="{0D108BD9-81ED-4DB2-BD59-A6C34878D82A}">
                    <a16:rowId xmlns:a16="http://schemas.microsoft.com/office/drawing/2014/main" val="10007"/>
                  </a:ext>
                </a:extLst>
              </a:tr>
              <a:tr h="384048">
                <a:tc>
                  <a:txBody>
                    <a:bodyPr/>
                    <a:lstStyle/>
                    <a:p>
                      <a:r>
                        <a:rPr sz="1300" b="0"/>
                        <a:t>Dropout</a:t>
                      </a:r>
                    </a:p>
                  </a:txBody>
                  <a:tcPr marL="54864" marR="54864" marT="27432" marB="27432"/>
                </a:tc>
                <a:tc>
                  <a:txBody>
                    <a:bodyPr/>
                    <a:lstStyle/>
                    <a:p>
                      <a:r>
                        <a:rPr sz="1300" b="0"/>
                        <a:t>0.2</a:t>
                      </a:r>
                    </a:p>
                  </a:txBody>
                  <a:tcPr marL="54864" marR="54864" marT="27432" marB="27432"/>
                </a:tc>
                <a:tc>
                  <a:txBody>
                    <a:bodyPr/>
                    <a:lstStyle/>
                    <a:p>
                      <a:r>
                        <a:rPr sz="1300" b="0"/>
                        <a:t>regularisation; MC sampling</a:t>
                      </a:r>
                    </a:p>
                  </a:txBody>
                  <a:tcPr marL="54864" marR="54864" marT="27432" marB="27432"/>
                </a:tc>
                <a:extLst>
                  <a:ext uri="{0D108BD9-81ED-4DB2-BD59-A6C34878D82A}">
                    <a16:rowId xmlns:a16="http://schemas.microsoft.com/office/drawing/2014/main" val="10008"/>
                  </a:ext>
                </a:extLst>
              </a:tr>
            </a:tbl>
          </a:graphicData>
        </a:graphic>
      </p:graphicFrame>
      <p:sp>
        <p:nvSpPr>
          <p:cNvPr id="4" name="TextBox 3"/>
          <p:cNvSpPr txBox="1"/>
          <p:nvPr/>
        </p:nvSpPr>
        <p:spPr>
          <a:xfrm>
            <a:off x="365760" y="4800600"/>
            <a:ext cx="6675120" cy="1280160"/>
          </a:xfrm>
          <a:prstGeom prst="rect">
            <a:avLst/>
          </a:prstGeom>
          <a:noFill/>
        </p:spPr>
        <p:txBody>
          <a:bodyPr wrap="square" lIns="45720" rIns="45720" anchor="t">
            <a:spAutoFit/>
          </a:bodyPr>
          <a:lstStyle/>
          <a:p>
            <a:pPr marL="0" indent="0">
              <a:buNone/>
            </a:pPr>
            <a:r>
              <a:rPr sz="1300">
                <a:solidFill>
                  <a:srgbClr val="C05000"/>
                </a:solidFill>
              </a:rPr>
              <a:t>[CHECK] Was any automated hyperparameter search (grid / Optuna) run? None is recorded in the model folders; confirm with Janahan.</a:t>
            </a:r>
          </a:p>
        </p:txBody>
      </p:sp>
      <p:pic>
        <p:nvPicPr>
          <p:cNvPr id="5" name="Picture 4" descr="training_curves.png"/>
          <p:cNvPicPr>
            <a:picLocks noChangeAspect="1"/>
          </p:cNvPicPr>
          <p:nvPr/>
        </p:nvPicPr>
        <p:blipFill>
          <a:blip r:embed="rId3"/>
          <a:stretch>
            <a:fillRect/>
          </a:stretch>
        </p:blipFill>
        <p:spPr>
          <a:xfrm>
            <a:off x="7223760" y="1527048"/>
            <a:ext cx="4709160" cy="1883664"/>
          </a:xfrm>
          <a:prstGeom prst="rect">
            <a:avLst/>
          </a:prstGeom>
        </p:spPr>
      </p:pic>
      <p:sp>
        <p:nvSpPr>
          <p:cNvPr id="6" name="TextBox 5"/>
          <p:cNvSpPr txBox="1"/>
          <p:nvPr/>
        </p:nvSpPr>
        <p:spPr>
          <a:xfrm>
            <a:off x="7223760" y="3703320"/>
            <a:ext cx="4709160" cy="320040"/>
          </a:xfrm>
          <a:prstGeom prst="rect">
            <a:avLst/>
          </a:prstGeom>
          <a:noFill/>
        </p:spPr>
        <p:txBody>
          <a:bodyPr wrap="square" lIns="45720" rIns="45720" anchor="t">
            <a:spAutoFit/>
          </a:bodyPr>
          <a:lstStyle/>
          <a:p>
            <a:pPr marL="0" indent="0">
              <a:buNone/>
            </a:pPr>
            <a:r>
              <a:rPr sz="1200">
                <a:solidFill>
                  <a:srgbClr val="404040"/>
                </a:solidFill>
              </a:rPr>
              <a:t>CNN-LSTM-B training curves (train vs validation MAE)</a:t>
            </a:r>
          </a:p>
        </p:txBody>
      </p:sp>
      <p:sp>
        <p:nvSpPr>
          <p:cNvPr id="7"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IT22069740</a:t>
            </a:r>
            <a:r>
              <a:rPr lang="en-US" sz="1800" dirty="0">
                <a:solidFill>
                  <a:schemeClr val="tx1"/>
                </a:solidFill>
              </a:rPr>
              <a:t>   |   </a:t>
            </a:r>
            <a:r>
              <a:rPr lang="en-US" sz="1800" b="1" dirty="0">
                <a:solidFill>
                  <a:schemeClr val="tx1"/>
                </a:solidFill>
              </a:rPr>
              <a:t>Janahan R   </a:t>
            </a:r>
            <a:r>
              <a:rPr lang="en-US" sz="1800" dirty="0">
                <a:solidFill>
                  <a:schemeClr val="tx1"/>
                </a:solidFill>
              </a:rPr>
              <a:t>|   </a:t>
            </a:r>
            <a:r>
              <a:rPr lang="en-US" sz="1800" b="0" dirty="0">
                <a:solidFill>
                  <a:schemeClr val="tx1"/>
                </a:solidFill>
              </a:rPr>
              <a:t>R26-IT-010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Neural Forecasting — Model Comparison</a:t>
            </a:r>
          </a:p>
        </p:txBody>
      </p:sp>
      <p:pic>
        <p:nvPicPr>
          <p:cNvPr id="3" name="Picture 2" descr="janahan_model_comparison.png"/>
          <p:cNvPicPr>
            <a:picLocks noChangeAspect="1"/>
          </p:cNvPicPr>
          <p:nvPr/>
        </p:nvPicPr>
        <p:blipFill>
          <a:blip r:embed="rId3"/>
          <a:stretch>
            <a:fillRect/>
          </a:stretch>
        </p:blipFill>
        <p:spPr>
          <a:xfrm>
            <a:off x="365760" y="1191463"/>
            <a:ext cx="7315200" cy="2691993"/>
          </a:xfrm>
          <a:prstGeom prst="rect">
            <a:avLst/>
          </a:prstGeom>
        </p:spPr>
      </p:pic>
      <p:pic>
        <p:nvPicPr>
          <p:cNvPr id="4" name="Picture 3" descr="absolute_error_boxplot.png"/>
          <p:cNvPicPr>
            <a:picLocks noChangeAspect="1"/>
          </p:cNvPicPr>
          <p:nvPr/>
        </p:nvPicPr>
        <p:blipFill>
          <a:blip r:embed="rId4"/>
          <a:stretch>
            <a:fillRect/>
          </a:stretch>
        </p:blipFill>
        <p:spPr>
          <a:xfrm>
            <a:off x="7863840" y="1520190"/>
            <a:ext cx="4069080" cy="2034540"/>
          </a:xfrm>
          <a:prstGeom prst="rect">
            <a:avLst/>
          </a:prstGeom>
        </p:spPr>
      </p:pic>
      <p:sp>
        <p:nvSpPr>
          <p:cNvPr id="5" name="TextBox 4"/>
          <p:cNvSpPr txBox="1"/>
          <p:nvPr/>
        </p:nvSpPr>
        <p:spPr>
          <a:xfrm>
            <a:off x="365760" y="4069080"/>
            <a:ext cx="11521440" cy="2103120"/>
          </a:xfrm>
          <a:prstGeom prst="rect">
            <a:avLst/>
          </a:prstGeom>
          <a:noFill/>
        </p:spPr>
        <p:txBody>
          <a:bodyPr wrap="square" lIns="45720" rIns="45720" anchor="t">
            <a:spAutoFit/>
          </a:bodyPr>
          <a:lstStyle/>
          <a:p>
            <a:pPr marL="256032" indent="-228600">
              <a:spcAft>
                <a:spcPts val="400"/>
              </a:spcAft>
              <a:buChar char="•"/>
            </a:pPr>
            <a:r>
              <a:rPr sz="1500"/>
              <a:t>Hybrid models win: CNN-Transformer MC MAE 20.46 kW, CNN-LSTM-B 20.52 kW</a:t>
            </a:r>
          </a:p>
          <a:p>
            <a:pPr marL="256032" indent="-228600">
              <a:spcAft>
                <a:spcPts val="400"/>
              </a:spcAft>
              <a:buChar char="•"/>
            </a:pPr>
            <a:r>
              <a:rPr sz="1500"/>
              <a:t>Their difference is not significant (p = 0.90), so the simpler CNN-LSTM-B is the default</a:t>
            </a:r>
          </a:p>
          <a:p>
            <a:pPr marL="256032" indent="-228600">
              <a:spcAft>
                <a:spcPts val="400"/>
              </a:spcAft>
              <a:buChar char="•"/>
            </a:pPr>
            <a:r>
              <a:rPr sz="1500"/>
              <a:t>Both are clearly better than LSTM, Transformer and CNN alone (p ≈ 0.001)</a:t>
            </a:r>
          </a:p>
          <a:p>
            <a:pPr marL="256032" indent="-228600">
              <a:spcAft>
                <a:spcPts val="400"/>
              </a:spcAft>
              <a:buChar char="•"/>
            </a:pPr>
            <a:r>
              <a:rPr sz="1500"/>
              <a:t>CNN-LSTM MC is not ranked: its prediction file was not saved</a:t>
            </a:r>
          </a:p>
        </p:txBody>
      </p:sp>
      <p:sp>
        <p:nvSpPr>
          <p:cNvPr id="6"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IT22069740</a:t>
            </a:r>
            <a:r>
              <a:rPr lang="en-US" sz="1800" dirty="0">
                <a:solidFill>
                  <a:schemeClr val="tx1"/>
                </a:solidFill>
              </a:rPr>
              <a:t>   |   </a:t>
            </a:r>
            <a:r>
              <a:rPr lang="en-US" sz="1800" b="1" dirty="0">
                <a:solidFill>
                  <a:schemeClr val="tx1"/>
                </a:solidFill>
              </a:rPr>
              <a:t>Janahan R   </a:t>
            </a:r>
            <a:r>
              <a:rPr lang="en-US" sz="1800" dirty="0">
                <a:solidFill>
                  <a:schemeClr val="tx1"/>
                </a:solidFill>
              </a:rPr>
              <a:t>|   </a:t>
            </a:r>
            <a:r>
              <a:rPr lang="en-US" sz="1800" b="0" dirty="0">
                <a:solidFill>
                  <a:schemeClr val="tx1"/>
                </a:solidFill>
              </a:rPr>
              <a:t>R26-IT-010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Addressing PP2 Feedback — Janahan</a:t>
            </a:r>
          </a:p>
        </p:txBody>
      </p:sp>
      <p:graphicFrame>
        <p:nvGraphicFramePr>
          <p:cNvPr id="3" name="Table 2"/>
          <p:cNvGraphicFramePr>
            <a:graphicFrameLocks noGrp="1"/>
          </p:cNvGraphicFramePr>
          <p:nvPr/>
        </p:nvGraphicFramePr>
        <p:xfrm>
          <a:off x="365760" y="1280160"/>
          <a:ext cx="11430000" cy="3474720"/>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868680">
                <a:tc>
                  <a:txBody>
                    <a:bodyPr/>
                    <a:lstStyle/>
                    <a:p>
                      <a:r>
                        <a:rPr sz="1900" b="1"/>
                        <a:t>PP2 comment</a:t>
                      </a:r>
                    </a:p>
                  </a:txBody>
                  <a:tcPr marL="54864" marR="54864" marT="27432" marB="27432"/>
                </a:tc>
                <a:tc>
                  <a:txBody>
                    <a:bodyPr/>
                    <a:lstStyle/>
                    <a:p>
                      <a:r>
                        <a:rPr sz="1900" b="1"/>
                        <a:t>What was done</a:t>
                      </a:r>
                    </a:p>
                  </a:txBody>
                  <a:tcPr marL="54864" marR="54864" marT="27432" marB="27432"/>
                </a:tc>
                <a:tc>
                  <a:txBody>
                    <a:bodyPr/>
                    <a:lstStyle/>
                    <a:p>
                      <a:r>
                        <a:rPr sz="1900" b="1"/>
                        <a:t>Evidence</a:t>
                      </a:r>
                    </a:p>
                  </a:txBody>
                  <a:tcPr marL="54864" marR="54864" marT="27432" marB="27432"/>
                </a:tc>
                <a:extLst>
                  <a:ext uri="{0D108BD9-81ED-4DB2-BD59-A6C34878D82A}">
                    <a16:rowId xmlns:a16="http://schemas.microsoft.com/office/drawing/2014/main" val="10000"/>
                  </a:ext>
                </a:extLst>
              </a:tr>
              <a:tr h="868680">
                <a:tc>
                  <a:txBody>
                    <a:bodyPr/>
                    <a:lstStyle/>
                    <a:p>
                      <a:r>
                        <a:rPr sz="1800" b="0"/>
                        <a:t>Moderate idea on models used</a:t>
                      </a:r>
                    </a:p>
                  </a:txBody>
                  <a:tcPr marL="54864" marR="54864" marT="27432" marB="27432"/>
                </a:tc>
                <a:tc>
                  <a:txBody>
                    <a:bodyPr/>
                    <a:lstStyle/>
                    <a:p>
                      <a:r>
                        <a:rPr sz="1800" b="0"/>
                        <a:t>7 architectures explained with the same 96 × 20 input and one-step output</a:t>
                      </a:r>
                    </a:p>
                  </a:txBody>
                  <a:tcPr marL="54864" marR="54864" marT="27432" marB="27432"/>
                </a:tc>
                <a:tc>
                  <a:txBody>
                    <a:bodyPr/>
                    <a:lstStyle/>
                    <a:p>
                      <a:r>
                        <a:rPr sz="1800" b="0"/>
                        <a:t>Model library + architecture of the default CNN-LSTM-B</a:t>
                      </a:r>
                    </a:p>
                  </a:txBody>
                  <a:tcPr marL="54864" marR="54864" marT="27432" marB="27432"/>
                </a:tc>
                <a:extLst>
                  <a:ext uri="{0D108BD9-81ED-4DB2-BD59-A6C34878D82A}">
                    <a16:rowId xmlns:a16="http://schemas.microsoft.com/office/drawing/2014/main" val="10001"/>
                  </a:ext>
                </a:extLst>
              </a:tr>
              <a:tr h="868680">
                <a:tc>
                  <a:txBody>
                    <a:bodyPr/>
                    <a:lstStyle/>
                    <a:p>
                      <a:r>
                        <a:rPr sz="1800" b="0"/>
                        <a:t>Clear, specific idea on parameter considerations</a:t>
                      </a:r>
                    </a:p>
                  </a:txBody>
                  <a:tcPr marL="54864" marR="54864" marT="27432" marB="27432"/>
                </a:tc>
                <a:tc>
                  <a:txBody>
                    <a:bodyPr/>
                    <a:lstStyle/>
                    <a:p>
                      <a:r>
                        <a:rPr sz="1800" b="0"/>
                        <a:t>Each training setting documented with its reason</a:t>
                      </a:r>
                    </a:p>
                  </a:txBody>
                  <a:tcPr marL="54864" marR="54864" marT="27432" marB="27432"/>
                </a:tc>
                <a:tc>
                  <a:txBody>
                    <a:bodyPr/>
                    <a:lstStyle/>
                    <a:p>
                      <a:r>
                        <a:rPr sz="1800" b="0"/>
                        <a:t>Lookback 96, Adam 0.001, MAE loss, batch 128, dropout 0.2</a:t>
                      </a:r>
                    </a:p>
                  </a:txBody>
                  <a:tcPr marL="54864" marR="54864" marT="27432" marB="27432"/>
                </a:tc>
                <a:extLst>
                  <a:ext uri="{0D108BD9-81ED-4DB2-BD59-A6C34878D82A}">
                    <a16:rowId xmlns:a16="http://schemas.microsoft.com/office/drawing/2014/main" val="10002"/>
                  </a:ext>
                </a:extLst>
              </a:tr>
              <a:tr h="868680">
                <a:tc>
                  <a:txBody>
                    <a:bodyPr/>
                    <a:lstStyle/>
                    <a:p>
                      <a:r>
                        <a:rPr sz="1800" b="0"/>
                        <a:t>Elaborate on optimisation</a:t>
                      </a:r>
                    </a:p>
                  </a:txBody>
                  <a:tcPr marL="54864" marR="54864" marT="27432" marB="27432"/>
                </a:tc>
                <a:tc>
                  <a:txBody>
                    <a:bodyPr/>
                    <a:lstStyle/>
                    <a:p>
                      <a:r>
                        <a:rPr sz="1800" b="0"/>
                        <a:t>Early stopping, learning-rate schedule, best checkpoint; MC Dropout calibration</a:t>
                      </a:r>
                    </a:p>
                  </a:txBody>
                  <a:tcPr marL="54864" marR="54864" marT="27432" marB="27432"/>
                </a:tc>
                <a:tc>
                  <a:txBody>
                    <a:bodyPr/>
                    <a:lstStyle/>
                    <a:p>
                      <a:r>
                        <a:rPr sz="1800" b="0"/>
                        <a:t>6-model ranking with significance tests; 95% band covers 96.3%</a:t>
                      </a:r>
                    </a:p>
                  </a:txBody>
                  <a:tcPr marL="54864" marR="54864" marT="27432" marB="27432"/>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IT22069740</a:t>
            </a:r>
            <a:r>
              <a:rPr lang="en-US" sz="1800" dirty="0">
                <a:solidFill>
                  <a:schemeClr val="tx1"/>
                </a:solidFill>
              </a:rPr>
              <a:t>   |   </a:t>
            </a:r>
            <a:r>
              <a:rPr lang="en-US" sz="1800" b="1" dirty="0">
                <a:solidFill>
                  <a:schemeClr val="tx1"/>
                </a:solidFill>
              </a:rPr>
              <a:t>Janahan R   </a:t>
            </a:r>
            <a:r>
              <a:rPr lang="en-US" sz="1800" dirty="0">
                <a:solidFill>
                  <a:schemeClr val="tx1"/>
                </a:solidFill>
              </a:rPr>
              <a:t>|   </a:t>
            </a:r>
            <a:r>
              <a:rPr lang="en-US" sz="1800" b="0" dirty="0">
                <a:solidFill>
                  <a:schemeClr val="tx1"/>
                </a:solidFill>
              </a:rPr>
              <a:t>R26-IT-010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Demand Forecasting — Models &amp; Why</a:t>
            </a:r>
          </a:p>
        </p:txBody>
      </p:sp>
      <p:sp>
        <p:nvSpPr>
          <p:cNvPr id="3" name="TextBox 2"/>
          <p:cNvSpPr txBox="1"/>
          <p:nvPr/>
        </p:nvSpPr>
        <p:spPr>
          <a:xfrm>
            <a:off x="365760" y="1188720"/>
            <a:ext cx="5394960" cy="4206240"/>
          </a:xfrm>
          <a:prstGeom prst="rect">
            <a:avLst/>
          </a:prstGeom>
          <a:noFill/>
        </p:spPr>
        <p:txBody>
          <a:bodyPr wrap="square" lIns="45720" rIns="45720" anchor="t">
            <a:spAutoFit/>
          </a:bodyPr>
          <a:lstStyle/>
          <a:p>
            <a:pPr marL="256032" indent="-228600">
              <a:spcAft>
                <a:spcPts val="500"/>
              </a:spcAft>
              <a:buChar char="•"/>
            </a:pPr>
            <a:r>
              <a:rPr sz="1500"/>
              <a:t>13 inputs: weather, economy, calendar (incl. Poya days)</a:t>
            </a:r>
          </a:p>
          <a:p>
            <a:pPr marL="256032" indent="-228600">
              <a:spcAft>
                <a:spcPts val="500"/>
              </a:spcAft>
              <a:buChar char="•"/>
            </a:pPr>
            <a:r>
              <a:rPr sz="1500"/>
              <a:t>Same 80/20 split for all: 151,910 train / 37,978 test rows</a:t>
            </a:r>
          </a:p>
          <a:p>
            <a:pPr marL="256032" indent="-228600">
              <a:spcAft>
                <a:spcPts val="500"/>
              </a:spcAft>
              <a:buChar char="•"/>
            </a:pPr>
            <a:r>
              <a:rPr sz="1500"/>
              <a:t>Linear Regression, Random Forest, Gradient Boosting compared</a:t>
            </a:r>
          </a:p>
          <a:p>
            <a:pPr marL="256032" indent="-228600">
              <a:spcAft>
                <a:spcPts val="500"/>
              </a:spcAft>
              <a:buChar char="•"/>
            </a:pPr>
            <a:r>
              <a:rPr sz="1500"/>
              <a:t>Gradient Boosting captures curved effects (air-conditioning above ~26 °C)</a:t>
            </a:r>
          </a:p>
          <a:p>
            <a:pPr marL="256032" indent="-228600">
              <a:spcAft>
                <a:spcPts val="500"/>
              </a:spcAft>
              <a:buChar char="•"/>
            </a:pPr>
            <a:r>
              <a:rPr sz="1500"/>
              <a:t>Best R² and MAE, so it was tuned and deployed</a:t>
            </a:r>
          </a:p>
        </p:txBody>
      </p:sp>
      <p:sp>
        <p:nvSpPr>
          <p:cNvPr id="4" name="TextBox 3"/>
          <p:cNvSpPr txBox="1"/>
          <p:nvPr/>
        </p:nvSpPr>
        <p:spPr>
          <a:xfrm>
            <a:off x="365760" y="4663440"/>
            <a:ext cx="5394960" cy="1280160"/>
          </a:xfrm>
          <a:prstGeom prst="rect">
            <a:avLst/>
          </a:prstGeom>
          <a:noFill/>
        </p:spPr>
        <p:txBody>
          <a:bodyPr wrap="square" lIns="45720" rIns="45720" anchor="t">
            <a:spAutoFit/>
          </a:bodyPr>
          <a:lstStyle/>
          <a:p>
            <a:pPr marL="0" indent="0">
              <a:buNone/>
            </a:pPr>
            <a:r>
              <a:rPr sz="1400">
                <a:solidFill>
                  <a:srgbClr val="404040"/>
                </a:solidFill>
              </a:rPr>
              <a:t>Hour of day is the strongest input, then day of week, price and temperature.</a:t>
            </a:r>
          </a:p>
        </p:txBody>
      </p:sp>
      <p:pic>
        <p:nvPicPr>
          <p:cNvPr id="5" name="Picture 4" descr="1_cell14_3.png"/>
          <p:cNvPicPr>
            <a:picLocks noChangeAspect="1"/>
          </p:cNvPicPr>
          <p:nvPr/>
        </p:nvPicPr>
        <p:blipFill>
          <a:blip r:embed="rId3"/>
          <a:stretch>
            <a:fillRect/>
          </a:stretch>
        </p:blipFill>
        <p:spPr>
          <a:xfrm>
            <a:off x="5946753" y="1188720"/>
            <a:ext cx="5983013" cy="2514600"/>
          </a:xfrm>
          <a:prstGeom prst="rect">
            <a:avLst/>
          </a:prstGeom>
        </p:spPr>
      </p:pic>
      <p:pic>
        <p:nvPicPr>
          <p:cNvPr id="6" name="Picture 5" descr="1_cell24_5.png"/>
          <p:cNvPicPr>
            <a:picLocks noChangeAspect="1"/>
          </p:cNvPicPr>
          <p:nvPr/>
        </p:nvPicPr>
        <p:blipFill>
          <a:blip r:embed="rId4"/>
          <a:stretch>
            <a:fillRect/>
          </a:stretch>
        </p:blipFill>
        <p:spPr>
          <a:xfrm>
            <a:off x="6835140" y="3794760"/>
            <a:ext cx="4206240" cy="2377440"/>
          </a:xfrm>
          <a:prstGeom prst="rect">
            <a:avLst/>
          </a:prstGeom>
        </p:spPr>
      </p:pic>
      <p:sp>
        <p:nvSpPr>
          <p:cNvPr id="7"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IT22630216</a:t>
            </a:r>
            <a:r>
              <a:rPr lang="en-US" sz="1800" dirty="0">
                <a:solidFill>
                  <a:schemeClr val="tx1"/>
                </a:solidFill>
              </a:rPr>
              <a:t>   |   </a:t>
            </a:r>
            <a:r>
              <a:rPr lang="en-US" sz="1800" b="1" dirty="0">
                <a:solidFill>
                  <a:schemeClr val="tx1"/>
                </a:solidFill>
              </a:rPr>
              <a:t>Dewmini D.M.D.P   </a:t>
            </a:r>
            <a:r>
              <a:rPr lang="en-US" sz="1800" dirty="0">
                <a:solidFill>
                  <a:schemeClr val="tx1"/>
                </a:solidFill>
              </a:rPr>
              <a:t>|   </a:t>
            </a:r>
            <a:r>
              <a:rPr lang="en-US" sz="1800" b="0" dirty="0">
                <a:solidFill>
                  <a:schemeClr val="tx1"/>
                </a:solidFill>
              </a:rPr>
              <a:t>R26-IT-010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Demand Forecasting — Parameters &amp; Optuna Optimisation</a:t>
            </a:r>
          </a:p>
        </p:txBody>
      </p:sp>
      <p:graphicFrame>
        <p:nvGraphicFramePr>
          <p:cNvPr id="3" name="Table 2"/>
          <p:cNvGraphicFramePr>
            <a:graphicFrameLocks noGrp="1"/>
          </p:cNvGraphicFramePr>
          <p:nvPr/>
        </p:nvGraphicFramePr>
        <p:xfrm>
          <a:off x="365760" y="1188720"/>
          <a:ext cx="5669280" cy="2688336"/>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84048">
                <a:tc>
                  <a:txBody>
                    <a:bodyPr/>
                    <a:lstStyle/>
                    <a:p>
                      <a:r>
                        <a:rPr sz="1400" b="1"/>
                        <a:t>Hyperparameter</a:t>
                      </a:r>
                    </a:p>
                  </a:txBody>
                  <a:tcPr marL="54864" marR="54864" marT="27432" marB="27432"/>
                </a:tc>
                <a:tc>
                  <a:txBody>
                    <a:bodyPr/>
                    <a:lstStyle/>
                    <a:p>
                      <a:r>
                        <a:rPr sz="1400" b="1"/>
                        <a:t>Search range</a:t>
                      </a:r>
                    </a:p>
                  </a:txBody>
                  <a:tcPr marL="54864" marR="54864" marT="27432" marB="27432"/>
                </a:tc>
                <a:tc>
                  <a:txBody>
                    <a:bodyPr/>
                    <a:lstStyle/>
                    <a:p>
                      <a:r>
                        <a:rPr sz="1400" b="1"/>
                        <a:t>Chosen</a:t>
                      </a:r>
                    </a:p>
                  </a:txBody>
                  <a:tcPr marL="54864" marR="54864" marT="27432" marB="27432"/>
                </a:tc>
                <a:extLst>
                  <a:ext uri="{0D108BD9-81ED-4DB2-BD59-A6C34878D82A}">
                    <a16:rowId xmlns:a16="http://schemas.microsoft.com/office/drawing/2014/main" val="10000"/>
                  </a:ext>
                </a:extLst>
              </a:tr>
              <a:tr h="384048">
                <a:tc>
                  <a:txBody>
                    <a:bodyPr/>
                    <a:lstStyle/>
                    <a:p>
                      <a:r>
                        <a:rPr sz="1300" b="0"/>
                        <a:t>n_estimators</a:t>
                      </a:r>
                    </a:p>
                  </a:txBody>
                  <a:tcPr marL="54864" marR="54864" marT="27432" marB="27432"/>
                </a:tc>
                <a:tc>
                  <a:txBody>
                    <a:bodyPr/>
                    <a:lstStyle/>
                    <a:p>
                      <a:r>
                        <a:rPr sz="1300" b="0"/>
                        <a:t>100 – 300 (step 50)</a:t>
                      </a:r>
                    </a:p>
                  </a:txBody>
                  <a:tcPr marL="54864" marR="54864" marT="27432" marB="27432"/>
                </a:tc>
                <a:tc>
                  <a:txBody>
                    <a:bodyPr/>
                    <a:lstStyle/>
                    <a:p>
                      <a:r>
                        <a:rPr sz="1300" b="0"/>
                        <a:t>250</a:t>
                      </a:r>
                    </a:p>
                  </a:txBody>
                  <a:tcPr marL="54864" marR="54864" marT="27432" marB="27432"/>
                </a:tc>
                <a:extLst>
                  <a:ext uri="{0D108BD9-81ED-4DB2-BD59-A6C34878D82A}">
                    <a16:rowId xmlns:a16="http://schemas.microsoft.com/office/drawing/2014/main" val="10001"/>
                  </a:ext>
                </a:extLst>
              </a:tr>
              <a:tr h="384048">
                <a:tc>
                  <a:txBody>
                    <a:bodyPr/>
                    <a:lstStyle/>
                    <a:p>
                      <a:r>
                        <a:rPr sz="1300" b="0"/>
                        <a:t>max_depth</a:t>
                      </a:r>
                    </a:p>
                  </a:txBody>
                  <a:tcPr marL="54864" marR="54864" marT="27432" marB="27432"/>
                </a:tc>
                <a:tc>
                  <a:txBody>
                    <a:bodyPr/>
                    <a:lstStyle/>
                    <a:p>
                      <a:r>
                        <a:rPr sz="1300" b="0"/>
                        <a:t>3 – 7</a:t>
                      </a:r>
                    </a:p>
                  </a:txBody>
                  <a:tcPr marL="54864" marR="54864" marT="27432" marB="27432"/>
                </a:tc>
                <a:tc>
                  <a:txBody>
                    <a:bodyPr/>
                    <a:lstStyle/>
                    <a:p>
                      <a:r>
                        <a:rPr sz="1300" b="0"/>
                        <a:t>3</a:t>
                      </a:r>
                    </a:p>
                  </a:txBody>
                  <a:tcPr marL="54864" marR="54864" marT="27432" marB="27432"/>
                </a:tc>
                <a:extLst>
                  <a:ext uri="{0D108BD9-81ED-4DB2-BD59-A6C34878D82A}">
                    <a16:rowId xmlns:a16="http://schemas.microsoft.com/office/drawing/2014/main" val="10002"/>
                  </a:ext>
                </a:extLst>
              </a:tr>
              <a:tr h="384048">
                <a:tc>
                  <a:txBody>
                    <a:bodyPr/>
                    <a:lstStyle/>
                    <a:p>
                      <a:r>
                        <a:rPr sz="1300" b="0"/>
                        <a:t>learning_rate</a:t>
                      </a:r>
                    </a:p>
                  </a:txBody>
                  <a:tcPr marL="54864" marR="54864" marT="27432" marB="27432"/>
                </a:tc>
                <a:tc>
                  <a:txBody>
                    <a:bodyPr/>
                    <a:lstStyle/>
                    <a:p>
                      <a:r>
                        <a:rPr sz="1300" b="0"/>
                        <a:t>0.03 – 0.2 (log)</a:t>
                      </a:r>
                    </a:p>
                  </a:txBody>
                  <a:tcPr marL="54864" marR="54864" marT="27432" marB="27432"/>
                </a:tc>
                <a:tc>
                  <a:txBody>
                    <a:bodyPr/>
                    <a:lstStyle/>
                    <a:p>
                      <a:r>
                        <a:rPr sz="1300" b="0"/>
                        <a:t>0.0984</a:t>
                      </a:r>
                    </a:p>
                  </a:txBody>
                  <a:tcPr marL="54864" marR="54864" marT="27432" marB="27432"/>
                </a:tc>
                <a:extLst>
                  <a:ext uri="{0D108BD9-81ED-4DB2-BD59-A6C34878D82A}">
                    <a16:rowId xmlns:a16="http://schemas.microsoft.com/office/drawing/2014/main" val="10003"/>
                  </a:ext>
                </a:extLst>
              </a:tr>
              <a:tr h="384048">
                <a:tc>
                  <a:txBody>
                    <a:bodyPr/>
                    <a:lstStyle/>
                    <a:p>
                      <a:r>
                        <a:rPr sz="1300" b="0"/>
                        <a:t>subsample</a:t>
                      </a:r>
                    </a:p>
                  </a:txBody>
                  <a:tcPr marL="54864" marR="54864" marT="27432" marB="27432"/>
                </a:tc>
                <a:tc>
                  <a:txBody>
                    <a:bodyPr/>
                    <a:lstStyle/>
                    <a:p>
                      <a:r>
                        <a:rPr sz="1300" b="0"/>
                        <a:t>0.6 – 1.0</a:t>
                      </a:r>
                    </a:p>
                  </a:txBody>
                  <a:tcPr marL="54864" marR="54864" marT="27432" marB="27432"/>
                </a:tc>
                <a:tc>
                  <a:txBody>
                    <a:bodyPr/>
                    <a:lstStyle/>
                    <a:p>
                      <a:r>
                        <a:rPr sz="1300" b="0"/>
                        <a:t>0.860</a:t>
                      </a:r>
                    </a:p>
                  </a:txBody>
                  <a:tcPr marL="54864" marR="54864" marT="27432" marB="27432"/>
                </a:tc>
                <a:extLst>
                  <a:ext uri="{0D108BD9-81ED-4DB2-BD59-A6C34878D82A}">
                    <a16:rowId xmlns:a16="http://schemas.microsoft.com/office/drawing/2014/main" val="10004"/>
                  </a:ext>
                </a:extLst>
              </a:tr>
              <a:tr h="384048">
                <a:tc>
                  <a:txBody>
                    <a:bodyPr/>
                    <a:lstStyle/>
                    <a:p>
                      <a:r>
                        <a:rPr sz="1300" b="0"/>
                        <a:t>min_samples_leaf</a:t>
                      </a:r>
                    </a:p>
                  </a:txBody>
                  <a:tcPr marL="54864" marR="54864" marT="27432" marB="27432"/>
                </a:tc>
                <a:tc>
                  <a:txBody>
                    <a:bodyPr/>
                    <a:lstStyle/>
                    <a:p>
                      <a:r>
                        <a:rPr sz="1300" b="0"/>
                        <a:t>5 – 80 (log)</a:t>
                      </a:r>
                    </a:p>
                  </a:txBody>
                  <a:tcPr marL="54864" marR="54864" marT="27432" marB="27432"/>
                </a:tc>
                <a:tc>
                  <a:txBody>
                    <a:bodyPr/>
                    <a:lstStyle/>
                    <a:p>
                      <a:r>
                        <a:rPr sz="1300" b="0"/>
                        <a:t>39</a:t>
                      </a:r>
                    </a:p>
                  </a:txBody>
                  <a:tcPr marL="54864" marR="54864" marT="27432" marB="27432"/>
                </a:tc>
                <a:extLst>
                  <a:ext uri="{0D108BD9-81ED-4DB2-BD59-A6C34878D82A}">
                    <a16:rowId xmlns:a16="http://schemas.microsoft.com/office/drawing/2014/main" val="10005"/>
                  </a:ext>
                </a:extLst>
              </a:tr>
              <a:tr h="384048">
                <a:tc>
                  <a:txBody>
                    <a:bodyPr/>
                    <a:lstStyle/>
                    <a:p>
                      <a:r>
                        <a:rPr sz="1300" b="0"/>
                        <a:t>max_features</a:t>
                      </a:r>
                    </a:p>
                  </a:txBody>
                  <a:tcPr marL="54864" marR="54864" marT="27432" marB="27432"/>
                </a:tc>
                <a:tc>
                  <a:txBody>
                    <a:bodyPr/>
                    <a:lstStyle/>
                    <a:p>
                      <a:r>
                        <a:rPr sz="1300" b="0"/>
                        <a:t>0.5 – 1.0</a:t>
                      </a:r>
                    </a:p>
                  </a:txBody>
                  <a:tcPr marL="54864" marR="54864" marT="27432" marB="27432"/>
                </a:tc>
                <a:tc>
                  <a:txBody>
                    <a:bodyPr/>
                    <a:lstStyle/>
                    <a:p>
                      <a:r>
                        <a:rPr sz="1300" b="0"/>
                        <a:t>0.869</a:t>
                      </a:r>
                    </a:p>
                  </a:txBody>
                  <a:tcPr marL="54864" marR="54864" marT="27432" marB="27432"/>
                </a:tc>
                <a:extLst>
                  <a:ext uri="{0D108BD9-81ED-4DB2-BD59-A6C34878D82A}">
                    <a16:rowId xmlns:a16="http://schemas.microsoft.com/office/drawing/2014/main" val="10006"/>
                  </a:ext>
                </a:extLst>
              </a:tr>
            </a:tbl>
          </a:graphicData>
        </a:graphic>
      </p:graphicFrame>
      <p:sp>
        <p:nvSpPr>
          <p:cNvPr id="4" name="TextBox 3"/>
          <p:cNvSpPr txBox="1"/>
          <p:nvPr/>
        </p:nvSpPr>
        <p:spPr>
          <a:xfrm>
            <a:off x="365760" y="4023360"/>
            <a:ext cx="5669280" cy="2194560"/>
          </a:xfrm>
          <a:prstGeom prst="rect">
            <a:avLst/>
          </a:prstGeom>
          <a:noFill/>
        </p:spPr>
        <p:txBody>
          <a:bodyPr wrap="square" lIns="45720" rIns="45720" anchor="t">
            <a:spAutoFit/>
          </a:bodyPr>
          <a:lstStyle/>
          <a:p>
            <a:pPr marL="256032" indent="-228600">
              <a:spcAft>
                <a:spcPts val="400"/>
              </a:spcAft>
              <a:buChar char="•"/>
            </a:pPr>
            <a:r>
              <a:rPr sz="1500"/>
              <a:t>Optuna TPE, 20 trials, 3-fold CV on training data only</a:t>
            </a:r>
          </a:p>
          <a:p>
            <a:pPr marL="256032" indent="-228600">
              <a:spcAft>
                <a:spcPts val="400"/>
              </a:spcAft>
              <a:buChar char="•"/>
            </a:pPr>
            <a:r>
              <a:rPr sz="1500"/>
              <a:t>Cross-validated RMSE 118.09 → 116.65 kW</a:t>
            </a:r>
          </a:p>
          <a:p>
            <a:pPr marL="256032" indent="-228600">
              <a:spcAft>
                <a:spcPts val="400"/>
              </a:spcAft>
              <a:buChar char="•"/>
            </a:pPr>
            <a:r>
              <a:rPr sz="1500"/>
              <a:t>Honest: test score unchanged (R² 0.825 → 0.824); tuned model is shallower</a:t>
            </a:r>
          </a:p>
        </p:txBody>
      </p:sp>
      <p:pic>
        <p:nvPicPr>
          <p:cNvPr id="5" name="Picture 4" descr="1_cell12_2.png"/>
          <p:cNvPicPr>
            <a:picLocks noChangeAspect="1"/>
          </p:cNvPicPr>
          <p:nvPr/>
        </p:nvPicPr>
        <p:blipFill>
          <a:blip r:embed="rId3"/>
          <a:stretch>
            <a:fillRect/>
          </a:stretch>
        </p:blipFill>
        <p:spPr>
          <a:xfrm>
            <a:off x="6263640" y="1295892"/>
            <a:ext cx="5669280" cy="3168935"/>
          </a:xfrm>
          <a:prstGeom prst="rect">
            <a:avLst/>
          </a:prstGeom>
        </p:spPr>
      </p:pic>
      <p:sp>
        <p:nvSpPr>
          <p:cNvPr id="6" name="TextBox 5"/>
          <p:cNvSpPr txBox="1"/>
          <p:nvPr/>
        </p:nvSpPr>
        <p:spPr>
          <a:xfrm>
            <a:off x="6263640" y="4526280"/>
            <a:ext cx="5669280" cy="320040"/>
          </a:xfrm>
          <a:prstGeom prst="rect">
            <a:avLst/>
          </a:prstGeom>
          <a:noFill/>
        </p:spPr>
        <p:txBody>
          <a:bodyPr wrap="square" lIns="45720" rIns="45720" anchor="t">
            <a:spAutoFit/>
          </a:bodyPr>
          <a:lstStyle/>
          <a:p>
            <a:pPr marL="0" indent="0">
              <a:buNone/>
            </a:pPr>
            <a:r>
              <a:rPr sz="1200">
                <a:solidFill>
                  <a:srgbClr val="404040"/>
                </a:solidFill>
              </a:rPr>
              <a:t>Optuna search history (each dot = one trial)</a:t>
            </a:r>
          </a:p>
        </p:txBody>
      </p:sp>
      <p:sp>
        <p:nvSpPr>
          <p:cNvPr id="7"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IT22630216</a:t>
            </a:r>
            <a:r>
              <a:rPr lang="en-US" sz="1800" dirty="0">
                <a:solidFill>
                  <a:schemeClr val="tx1"/>
                </a:solidFill>
              </a:rPr>
              <a:t>   |   </a:t>
            </a:r>
            <a:r>
              <a:rPr lang="en-US" sz="1800" b="1" dirty="0">
                <a:solidFill>
                  <a:schemeClr val="tx1"/>
                </a:solidFill>
              </a:rPr>
              <a:t>Dewmini D.M.D.P   </a:t>
            </a:r>
            <a:r>
              <a:rPr lang="en-US" sz="1800" dirty="0">
                <a:solidFill>
                  <a:schemeClr val="tx1"/>
                </a:solidFill>
              </a:rPr>
              <a:t>|   </a:t>
            </a:r>
            <a:r>
              <a:rPr lang="en-US" sz="1800" b="0" dirty="0">
                <a:solidFill>
                  <a:schemeClr val="tx1"/>
                </a:solidFill>
              </a:rPr>
              <a:t>R26-IT-010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Demand Forecasting — Results, Uncertainty &amp; Scenarios</a:t>
            </a:r>
          </a:p>
        </p:txBody>
      </p:sp>
      <p:graphicFrame>
        <p:nvGraphicFramePr>
          <p:cNvPr id="3" name="Table 2"/>
          <p:cNvGraphicFramePr>
            <a:graphicFrameLocks noGrp="1"/>
          </p:cNvGraphicFramePr>
          <p:nvPr/>
        </p:nvGraphicFramePr>
        <p:xfrm>
          <a:off x="365760" y="1188720"/>
          <a:ext cx="4023360" cy="14630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65760">
                <a:tc>
                  <a:txBody>
                    <a:bodyPr/>
                    <a:lstStyle/>
                    <a:p>
                      <a:r>
                        <a:rPr sz="1400" b="1"/>
                        <a:t>Check</a:t>
                      </a:r>
                    </a:p>
                  </a:txBody>
                  <a:tcPr marL="54864" marR="54864" marT="27432" marB="27432"/>
                </a:tc>
                <a:tc>
                  <a:txBody>
                    <a:bodyPr/>
                    <a:lstStyle/>
                    <a:p>
                      <a:r>
                        <a:rPr sz="1400" b="1"/>
                        <a:t>R²</a:t>
                      </a:r>
                    </a:p>
                  </a:txBody>
                  <a:tcPr marL="54864" marR="54864" marT="27432" marB="27432"/>
                </a:tc>
                <a:tc>
                  <a:txBody>
                    <a:bodyPr/>
                    <a:lstStyle/>
                    <a:p>
                      <a:r>
                        <a:rPr sz="1400" b="1"/>
                        <a:t>MAE (kW)</a:t>
                      </a:r>
                    </a:p>
                  </a:txBody>
                  <a:tcPr marL="54864" marR="54864" marT="27432" marB="27432"/>
                </a:tc>
                <a:extLst>
                  <a:ext uri="{0D108BD9-81ED-4DB2-BD59-A6C34878D82A}">
                    <a16:rowId xmlns:a16="http://schemas.microsoft.com/office/drawing/2014/main" val="10000"/>
                  </a:ext>
                </a:extLst>
              </a:tr>
              <a:tr h="365760">
                <a:tc>
                  <a:txBody>
                    <a:bodyPr/>
                    <a:lstStyle/>
                    <a:p>
                      <a:r>
                        <a:rPr sz="1300" b="0"/>
                        <a:t>Train</a:t>
                      </a:r>
                    </a:p>
                  </a:txBody>
                  <a:tcPr marL="54864" marR="54864" marT="27432" marB="27432"/>
                </a:tc>
                <a:tc>
                  <a:txBody>
                    <a:bodyPr/>
                    <a:lstStyle/>
                    <a:p>
                      <a:r>
                        <a:rPr sz="1300" b="0"/>
                        <a:t>0.828</a:t>
                      </a:r>
                    </a:p>
                  </a:txBody>
                  <a:tcPr marL="54864" marR="54864" marT="27432" marB="27432"/>
                </a:tc>
                <a:tc>
                  <a:txBody>
                    <a:bodyPr/>
                    <a:lstStyle/>
                    <a:p>
                      <a:r>
                        <a:rPr sz="1300" b="0"/>
                        <a:t>91.1</a:t>
                      </a:r>
                    </a:p>
                  </a:txBody>
                  <a:tcPr marL="54864" marR="54864" marT="27432" marB="27432"/>
                </a:tc>
                <a:extLst>
                  <a:ext uri="{0D108BD9-81ED-4DB2-BD59-A6C34878D82A}">
                    <a16:rowId xmlns:a16="http://schemas.microsoft.com/office/drawing/2014/main" val="10001"/>
                  </a:ext>
                </a:extLst>
              </a:tr>
              <a:tr h="365760">
                <a:tc>
                  <a:txBody>
                    <a:bodyPr/>
                    <a:lstStyle/>
                    <a:p>
                      <a:r>
                        <a:rPr sz="1300" b="0"/>
                        <a:t>Test (unseen)</a:t>
                      </a:r>
                    </a:p>
                  </a:txBody>
                  <a:tcPr marL="54864" marR="54864" marT="27432" marB="27432"/>
                </a:tc>
                <a:tc>
                  <a:txBody>
                    <a:bodyPr/>
                    <a:lstStyle/>
                    <a:p>
                      <a:r>
                        <a:rPr sz="1300" b="0"/>
                        <a:t>0.824</a:t>
                      </a:r>
                    </a:p>
                  </a:txBody>
                  <a:tcPr marL="54864" marR="54864" marT="27432" marB="27432"/>
                </a:tc>
                <a:tc>
                  <a:txBody>
                    <a:bodyPr/>
                    <a:lstStyle/>
                    <a:p>
                      <a:r>
                        <a:rPr sz="1300" b="0"/>
                        <a:t>91.8</a:t>
                      </a:r>
                    </a:p>
                  </a:txBody>
                  <a:tcPr marL="54864" marR="54864" marT="27432" marB="27432"/>
                </a:tc>
                <a:extLst>
                  <a:ext uri="{0D108BD9-81ED-4DB2-BD59-A6C34878D82A}">
                    <a16:rowId xmlns:a16="http://schemas.microsoft.com/office/drawing/2014/main" val="10002"/>
                  </a:ext>
                </a:extLst>
              </a:tr>
              <a:tr h="365760">
                <a:tc>
                  <a:txBody>
                    <a:bodyPr/>
                    <a:lstStyle/>
                    <a:p>
                      <a:r>
                        <a:rPr sz="1300" b="0"/>
                        <a:t>Chronological test</a:t>
                      </a:r>
                    </a:p>
                  </a:txBody>
                  <a:tcPr marL="54864" marR="54864" marT="27432" marB="27432"/>
                </a:tc>
                <a:tc>
                  <a:txBody>
                    <a:bodyPr/>
                    <a:lstStyle/>
                    <a:p>
                      <a:r>
                        <a:rPr sz="1300" b="0"/>
                        <a:t>0.826</a:t>
                      </a:r>
                    </a:p>
                  </a:txBody>
                  <a:tcPr marL="54864" marR="54864" marT="27432" marB="27432"/>
                </a:tc>
                <a:tc>
                  <a:txBody>
                    <a:bodyPr/>
                    <a:lstStyle/>
                    <a:p>
                      <a:r>
                        <a:rPr sz="1300" b="0"/>
                        <a:t>91.7</a:t>
                      </a:r>
                    </a:p>
                  </a:txBody>
                  <a:tcPr marL="54864" marR="54864" marT="27432" marB="27432"/>
                </a:tc>
                <a:extLst>
                  <a:ext uri="{0D108BD9-81ED-4DB2-BD59-A6C34878D82A}">
                    <a16:rowId xmlns:a16="http://schemas.microsoft.com/office/drawing/2014/main" val="10003"/>
                  </a:ext>
                </a:extLst>
              </a:tr>
            </a:tbl>
          </a:graphicData>
        </a:graphic>
      </p:graphicFrame>
      <p:graphicFrame>
        <p:nvGraphicFramePr>
          <p:cNvPr id="4" name="Table 3"/>
          <p:cNvGraphicFramePr>
            <a:graphicFrameLocks noGrp="1"/>
          </p:cNvGraphicFramePr>
          <p:nvPr/>
        </p:nvGraphicFramePr>
        <p:xfrm>
          <a:off x="365760" y="2834640"/>
          <a:ext cx="4023360" cy="146304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65760">
                <a:tc>
                  <a:txBody>
                    <a:bodyPr/>
                    <a:lstStyle/>
                    <a:p>
                      <a:r>
                        <a:rPr sz="1400" b="1"/>
                        <a:t>Range</a:t>
                      </a:r>
                    </a:p>
                  </a:txBody>
                  <a:tcPr marL="54864" marR="54864" marT="27432" marB="27432"/>
                </a:tc>
                <a:tc>
                  <a:txBody>
                    <a:bodyPr/>
                    <a:lstStyle/>
                    <a:p>
                      <a:r>
                        <a:rPr sz="1400" b="1"/>
                        <a:t>Width</a:t>
                      </a:r>
                    </a:p>
                  </a:txBody>
                  <a:tcPr marL="54864" marR="54864" marT="27432" marB="27432"/>
                </a:tc>
                <a:tc>
                  <a:txBody>
                    <a:bodyPr/>
                    <a:lstStyle/>
                    <a:p>
                      <a:r>
                        <a:rPr sz="1400" b="1"/>
                        <a:t>Contained</a:t>
                      </a:r>
                    </a:p>
                  </a:txBody>
                  <a:tcPr marL="54864" marR="54864" marT="27432" marB="27432"/>
                </a:tc>
                <a:extLst>
                  <a:ext uri="{0D108BD9-81ED-4DB2-BD59-A6C34878D82A}">
                    <a16:rowId xmlns:a16="http://schemas.microsoft.com/office/drawing/2014/main" val="10000"/>
                  </a:ext>
                </a:extLst>
              </a:tr>
              <a:tr h="365760">
                <a:tc>
                  <a:txBody>
                    <a:bodyPr/>
                    <a:lstStyle/>
                    <a:p>
                      <a:r>
                        <a:rPr sz="1300" b="0"/>
                        <a:t>80%</a:t>
                      </a:r>
                    </a:p>
                  </a:txBody>
                  <a:tcPr marL="54864" marR="54864" marT="27432" marB="27432"/>
                </a:tc>
                <a:tc>
                  <a:txBody>
                    <a:bodyPr/>
                    <a:lstStyle/>
                    <a:p>
                      <a:r>
                        <a:rPr sz="1300" b="0"/>
                        <a:t>± 147 kW</a:t>
                      </a:r>
                    </a:p>
                  </a:txBody>
                  <a:tcPr marL="54864" marR="54864" marT="27432" marB="27432"/>
                </a:tc>
                <a:tc>
                  <a:txBody>
                    <a:bodyPr/>
                    <a:lstStyle/>
                    <a:p>
                      <a:r>
                        <a:rPr sz="1300" b="0"/>
                        <a:t>79.9%</a:t>
                      </a:r>
                    </a:p>
                  </a:txBody>
                  <a:tcPr marL="54864" marR="54864" marT="27432" marB="27432"/>
                </a:tc>
                <a:extLst>
                  <a:ext uri="{0D108BD9-81ED-4DB2-BD59-A6C34878D82A}">
                    <a16:rowId xmlns:a16="http://schemas.microsoft.com/office/drawing/2014/main" val="10001"/>
                  </a:ext>
                </a:extLst>
              </a:tr>
              <a:tr h="365760">
                <a:tc>
                  <a:txBody>
                    <a:bodyPr/>
                    <a:lstStyle/>
                    <a:p>
                      <a:r>
                        <a:rPr sz="1300" b="0"/>
                        <a:t>90%</a:t>
                      </a:r>
                    </a:p>
                  </a:txBody>
                  <a:tcPr marL="54864" marR="54864" marT="27432" marB="27432"/>
                </a:tc>
                <a:tc>
                  <a:txBody>
                    <a:bodyPr/>
                    <a:lstStyle/>
                    <a:p>
                      <a:r>
                        <a:rPr sz="1300" b="0"/>
                        <a:t>± 189 kW</a:t>
                      </a:r>
                    </a:p>
                  </a:txBody>
                  <a:tcPr marL="54864" marR="54864" marT="27432" marB="27432"/>
                </a:tc>
                <a:tc>
                  <a:txBody>
                    <a:bodyPr/>
                    <a:lstStyle/>
                    <a:p>
                      <a:r>
                        <a:rPr sz="1300" b="0"/>
                        <a:t>89.8%</a:t>
                      </a:r>
                    </a:p>
                  </a:txBody>
                  <a:tcPr marL="54864" marR="54864" marT="27432" marB="27432"/>
                </a:tc>
                <a:extLst>
                  <a:ext uri="{0D108BD9-81ED-4DB2-BD59-A6C34878D82A}">
                    <a16:rowId xmlns:a16="http://schemas.microsoft.com/office/drawing/2014/main" val="10002"/>
                  </a:ext>
                </a:extLst>
              </a:tr>
              <a:tr h="365760">
                <a:tc>
                  <a:txBody>
                    <a:bodyPr/>
                    <a:lstStyle/>
                    <a:p>
                      <a:r>
                        <a:rPr sz="1300" b="0"/>
                        <a:t>95%</a:t>
                      </a:r>
                    </a:p>
                  </a:txBody>
                  <a:tcPr marL="54864" marR="54864" marT="27432" marB="27432"/>
                </a:tc>
                <a:tc>
                  <a:txBody>
                    <a:bodyPr/>
                    <a:lstStyle/>
                    <a:p>
                      <a:r>
                        <a:rPr sz="1300" b="0"/>
                        <a:t>± 225 kW</a:t>
                      </a:r>
                    </a:p>
                  </a:txBody>
                  <a:tcPr marL="54864" marR="54864" marT="27432" marB="27432"/>
                </a:tc>
                <a:tc>
                  <a:txBody>
                    <a:bodyPr/>
                    <a:lstStyle/>
                    <a:p>
                      <a:r>
                        <a:rPr sz="1300" b="0"/>
                        <a:t>95.0%</a:t>
                      </a:r>
                    </a:p>
                  </a:txBody>
                  <a:tcPr marL="54864" marR="54864" marT="27432" marB="27432"/>
                </a:tc>
                <a:extLst>
                  <a:ext uri="{0D108BD9-81ED-4DB2-BD59-A6C34878D82A}">
                    <a16:rowId xmlns:a16="http://schemas.microsoft.com/office/drawing/2014/main" val="10003"/>
                  </a:ext>
                </a:extLst>
              </a:tr>
            </a:tbl>
          </a:graphicData>
        </a:graphic>
      </p:graphicFrame>
      <p:sp>
        <p:nvSpPr>
          <p:cNvPr id="5" name="TextBox 4"/>
          <p:cNvSpPr txBox="1"/>
          <p:nvPr/>
        </p:nvSpPr>
        <p:spPr>
          <a:xfrm>
            <a:off x="365760" y="4434840"/>
            <a:ext cx="4023360" cy="1737360"/>
          </a:xfrm>
          <a:prstGeom prst="rect">
            <a:avLst/>
          </a:prstGeom>
          <a:noFill/>
        </p:spPr>
        <p:txBody>
          <a:bodyPr wrap="square" lIns="45720" rIns="45720" anchor="t">
            <a:spAutoFit/>
          </a:bodyPr>
          <a:lstStyle/>
          <a:p>
            <a:pPr marL="256032" indent="-228600">
              <a:spcAft>
                <a:spcPts val="400"/>
              </a:spcAft>
              <a:buChar char="•"/>
            </a:pPr>
            <a:r>
              <a:rPr sz="1400"/>
              <a:t>Train ≈ test: no over-fitting</a:t>
            </a:r>
          </a:p>
          <a:p>
            <a:pPr marL="256032" indent="-228600">
              <a:spcAft>
                <a:spcPts val="400"/>
              </a:spcAft>
              <a:buChar char="•"/>
            </a:pPr>
            <a:r>
              <a:rPr sz="1400"/>
              <a:t>Split-conformal ranges hit their promised coverage</a:t>
            </a:r>
          </a:p>
        </p:txBody>
      </p:sp>
      <p:pic>
        <p:nvPicPr>
          <p:cNvPr id="6" name="Picture 5" descr="2_cell08_2.png"/>
          <p:cNvPicPr>
            <a:picLocks noChangeAspect="1"/>
          </p:cNvPicPr>
          <p:nvPr/>
        </p:nvPicPr>
        <p:blipFill>
          <a:blip r:embed="rId3"/>
          <a:stretch>
            <a:fillRect/>
          </a:stretch>
        </p:blipFill>
        <p:spPr>
          <a:xfrm>
            <a:off x="4572000" y="1213338"/>
            <a:ext cx="3291840" cy="2328203"/>
          </a:xfrm>
          <a:prstGeom prst="rect">
            <a:avLst/>
          </a:prstGeom>
        </p:spPr>
      </p:pic>
      <p:pic>
        <p:nvPicPr>
          <p:cNvPr id="7" name="Picture 6" descr="3_cell08_2.png"/>
          <p:cNvPicPr>
            <a:picLocks noChangeAspect="1"/>
          </p:cNvPicPr>
          <p:nvPr/>
        </p:nvPicPr>
        <p:blipFill>
          <a:blip r:embed="rId4"/>
          <a:stretch>
            <a:fillRect/>
          </a:stretch>
        </p:blipFill>
        <p:spPr>
          <a:xfrm>
            <a:off x="8001000" y="1367968"/>
            <a:ext cx="3931920" cy="2018943"/>
          </a:xfrm>
          <a:prstGeom prst="rect">
            <a:avLst/>
          </a:prstGeom>
        </p:spPr>
      </p:pic>
      <p:pic>
        <p:nvPicPr>
          <p:cNvPr id="8" name="Picture 7" descr="2_cell10_3.png"/>
          <p:cNvPicPr>
            <a:picLocks noChangeAspect="1"/>
          </p:cNvPicPr>
          <p:nvPr/>
        </p:nvPicPr>
        <p:blipFill>
          <a:blip r:embed="rId5"/>
          <a:stretch>
            <a:fillRect/>
          </a:stretch>
        </p:blipFill>
        <p:spPr>
          <a:xfrm>
            <a:off x="4572000" y="4017361"/>
            <a:ext cx="3657600" cy="1795077"/>
          </a:xfrm>
          <a:prstGeom prst="rect">
            <a:avLst/>
          </a:prstGeom>
        </p:spPr>
      </p:pic>
      <p:pic>
        <p:nvPicPr>
          <p:cNvPr id="9" name="Picture 8" descr="3_cell06_1.png"/>
          <p:cNvPicPr>
            <a:picLocks noChangeAspect="1"/>
          </p:cNvPicPr>
          <p:nvPr/>
        </p:nvPicPr>
        <p:blipFill>
          <a:blip r:embed="rId6"/>
          <a:stretch>
            <a:fillRect/>
          </a:stretch>
        </p:blipFill>
        <p:spPr>
          <a:xfrm>
            <a:off x="8366760" y="3983482"/>
            <a:ext cx="3566160" cy="1862834"/>
          </a:xfrm>
          <a:prstGeom prst="rect">
            <a:avLst/>
          </a:prstGeom>
        </p:spPr>
      </p:pic>
      <p:sp>
        <p:nvSpPr>
          <p:cNvPr id="10"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IT22630216</a:t>
            </a:r>
            <a:r>
              <a:rPr lang="en-US" sz="1800" dirty="0">
                <a:solidFill>
                  <a:schemeClr val="tx1"/>
                </a:solidFill>
              </a:rPr>
              <a:t>   |   </a:t>
            </a:r>
            <a:r>
              <a:rPr lang="en-US" sz="1800" b="1" dirty="0">
                <a:solidFill>
                  <a:schemeClr val="tx1"/>
                </a:solidFill>
              </a:rPr>
              <a:t>Dewmini D.M.D.P   </a:t>
            </a:r>
            <a:r>
              <a:rPr lang="en-US" sz="1800" dirty="0">
                <a:solidFill>
                  <a:schemeClr val="tx1"/>
                </a:solidFill>
              </a:rPr>
              <a:t>|   </a:t>
            </a:r>
            <a:r>
              <a:rPr lang="en-US" sz="1800" b="0" dirty="0">
                <a:solidFill>
                  <a:schemeClr val="tx1"/>
                </a:solidFill>
              </a:rPr>
              <a:t>R26-IT-010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Addressing PP2 Feedback — Dewmini</a:t>
            </a:r>
          </a:p>
        </p:txBody>
      </p:sp>
      <p:graphicFrame>
        <p:nvGraphicFramePr>
          <p:cNvPr id="3" name="Table 2"/>
          <p:cNvGraphicFramePr>
            <a:graphicFrameLocks noGrp="1"/>
          </p:cNvGraphicFramePr>
          <p:nvPr/>
        </p:nvGraphicFramePr>
        <p:xfrm>
          <a:off x="365760" y="1280160"/>
          <a:ext cx="11430000" cy="3474720"/>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868680">
                <a:tc>
                  <a:txBody>
                    <a:bodyPr/>
                    <a:lstStyle/>
                    <a:p>
                      <a:r>
                        <a:rPr sz="1900" b="1"/>
                        <a:t>PP2 comment</a:t>
                      </a:r>
                    </a:p>
                  </a:txBody>
                  <a:tcPr marL="54864" marR="54864" marT="27432" marB="27432"/>
                </a:tc>
                <a:tc>
                  <a:txBody>
                    <a:bodyPr/>
                    <a:lstStyle/>
                    <a:p>
                      <a:r>
                        <a:rPr sz="1900" b="1"/>
                        <a:t>What was done</a:t>
                      </a:r>
                    </a:p>
                  </a:txBody>
                  <a:tcPr marL="54864" marR="54864" marT="27432" marB="27432"/>
                </a:tc>
                <a:tc>
                  <a:txBody>
                    <a:bodyPr/>
                    <a:lstStyle/>
                    <a:p>
                      <a:r>
                        <a:rPr sz="1900" b="1"/>
                        <a:t>Evidence</a:t>
                      </a:r>
                    </a:p>
                  </a:txBody>
                  <a:tcPr marL="54864" marR="54864" marT="27432" marB="27432"/>
                </a:tc>
                <a:extLst>
                  <a:ext uri="{0D108BD9-81ED-4DB2-BD59-A6C34878D82A}">
                    <a16:rowId xmlns:a16="http://schemas.microsoft.com/office/drawing/2014/main" val="10000"/>
                  </a:ext>
                </a:extLst>
              </a:tr>
              <a:tr h="868680">
                <a:tc>
                  <a:txBody>
                    <a:bodyPr/>
                    <a:lstStyle/>
                    <a:p>
                      <a:r>
                        <a:rPr sz="1800" b="0"/>
                        <a:t>Lacks idea about the models used</a:t>
                      </a:r>
                    </a:p>
                  </a:txBody>
                  <a:tcPr marL="54864" marR="54864" marT="27432" marB="27432"/>
                </a:tc>
                <a:tc>
                  <a:txBody>
                    <a:bodyPr/>
                    <a:lstStyle/>
                    <a:p>
                      <a:r>
                        <a:rPr sz="1800" b="0"/>
                        <a:t>Explained each model family and why Gradient Boosting fits curved effects</a:t>
                      </a:r>
                    </a:p>
                  </a:txBody>
                  <a:tcPr marL="54864" marR="54864" marT="27432" marB="27432"/>
                </a:tc>
                <a:tc>
                  <a:txBody>
                    <a:bodyPr/>
                    <a:lstStyle/>
                    <a:p>
                      <a:r>
                        <a:rPr sz="1800" b="0"/>
                        <a:t>13 inputs; feature importance; train vs test check</a:t>
                      </a:r>
                    </a:p>
                  </a:txBody>
                  <a:tcPr marL="54864" marR="54864" marT="27432" marB="27432"/>
                </a:tc>
                <a:extLst>
                  <a:ext uri="{0D108BD9-81ED-4DB2-BD59-A6C34878D82A}">
                    <a16:rowId xmlns:a16="http://schemas.microsoft.com/office/drawing/2014/main" val="10001"/>
                  </a:ext>
                </a:extLst>
              </a:tr>
              <a:tr h="868680">
                <a:tc>
                  <a:txBody>
                    <a:bodyPr/>
                    <a:lstStyle/>
                    <a:p>
                      <a:r>
                        <a:rPr sz="1800" b="0"/>
                        <a:t>Needs consideration for parameter optimisation</a:t>
                      </a:r>
                    </a:p>
                  </a:txBody>
                  <a:tcPr marL="54864" marR="54864" marT="27432" marB="27432"/>
                </a:tc>
                <a:tc>
                  <a:txBody>
                    <a:bodyPr/>
                    <a:lstStyle/>
                    <a:p>
                      <a:r>
                        <a:rPr sz="1800" b="0"/>
                        <a:t>Optuna TPE over 6 hyperparameters, CV on training data only</a:t>
                      </a:r>
                    </a:p>
                  </a:txBody>
                  <a:tcPr marL="54864" marR="54864" marT="27432" marB="27432"/>
                </a:tc>
                <a:tc>
                  <a:txBody>
                    <a:bodyPr/>
                    <a:lstStyle/>
                    <a:p>
                      <a:r>
                        <a:rPr sz="1800" b="0"/>
                        <a:t>20 trials; CV RMSE 118.09 → 116.65 kW</a:t>
                      </a:r>
                    </a:p>
                  </a:txBody>
                  <a:tcPr marL="54864" marR="54864" marT="27432" marB="27432"/>
                </a:tc>
                <a:extLst>
                  <a:ext uri="{0D108BD9-81ED-4DB2-BD59-A6C34878D82A}">
                    <a16:rowId xmlns:a16="http://schemas.microsoft.com/office/drawing/2014/main" val="10002"/>
                  </a:ext>
                </a:extLst>
              </a:tr>
              <a:tr h="868680">
                <a:tc>
                  <a:txBody>
                    <a:bodyPr/>
                    <a:lstStyle/>
                    <a:p>
                      <a:r>
                        <a:rPr sz="1800" b="0"/>
                        <a:t>Needs a model comparison</a:t>
                      </a:r>
                    </a:p>
                  </a:txBody>
                  <a:tcPr marL="54864" marR="54864" marT="27432" marB="27432"/>
                </a:tc>
                <a:tc>
                  <a:txBody>
                    <a:bodyPr/>
                    <a:lstStyle/>
                    <a:p>
                      <a:r>
                        <a:rPr sz="1800" b="0"/>
                        <a:t>LR, RF and GB trained on the identical 80/20 split</a:t>
                      </a:r>
                    </a:p>
                  </a:txBody>
                  <a:tcPr marL="54864" marR="54864" marT="27432" marB="27432"/>
                </a:tc>
                <a:tc>
                  <a:txBody>
                    <a:bodyPr/>
                    <a:lstStyle/>
                    <a:p>
                      <a:r>
                        <a:rPr sz="1800" b="0"/>
                        <a:t>R² 0.438 / 0.777 / 0.824; MAE 160.1 / 102.9 / 91.8 kW</a:t>
                      </a:r>
                    </a:p>
                  </a:txBody>
                  <a:tcPr marL="54864" marR="54864" marT="27432" marB="27432"/>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IT22630216</a:t>
            </a:r>
            <a:r>
              <a:rPr lang="en-US" sz="1800" dirty="0">
                <a:solidFill>
                  <a:schemeClr val="tx1"/>
                </a:solidFill>
              </a:rPr>
              <a:t>   |   </a:t>
            </a:r>
            <a:r>
              <a:rPr lang="en-US" sz="1800" b="1" dirty="0">
                <a:solidFill>
                  <a:schemeClr val="tx1"/>
                </a:solidFill>
              </a:rPr>
              <a:t>Dewmini D.M.D.P   </a:t>
            </a:r>
            <a:r>
              <a:rPr lang="en-US" sz="1800" dirty="0">
                <a:solidFill>
                  <a:schemeClr val="tx1"/>
                </a:solidFill>
              </a:rPr>
              <a:t>|   </a:t>
            </a:r>
            <a:r>
              <a:rPr lang="en-US" sz="1800" b="0" dirty="0">
                <a:solidFill>
                  <a:schemeClr val="tx1"/>
                </a:solidFill>
              </a:rPr>
              <a:t>R26-IT-010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Explainable AI — Models &amp; XGBoost Architecture</a:t>
            </a:r>
          </a:p>
        </p:txBody>
      </p:sp>
      <p:sp>
        <p:nvSpPr>
          <p:cNvPr id="3" name="TextBox 2"/>
          <p:cNvSpPr txBox="1"/>
          <p:nvPr/>
        </p:nvSpPr>
        <p:spPr>
          <a:xfrm>
            <a:off x="365760" y="1143000"/>
            <a:ext cx="5760720" cy="1463040"/>
          </a:xfrm>
          <a:prstGeom prst="rect">
            <a:avLst/>
          </a:prstGeom>
          <a:noFill/>
        </p:spPr>
        <p:txBody>
          <a:bodyPr wrap="square" lIns="45720" rIns="45720" anchor="t">
            <a:spAutoFit/>
          </a:bodyPr>
          <a:lstStyle/>
          <a:p>
            <a:pPr marL="256032" indent="-228600">
              <a:spcAft>
                <a:spcPts val="300"/>
              </a:spcAft>
              <a:buChar char="•"/>
            </a:pPr>
            <a:r>
              <a:rPr sz="1500"/>
              <a:t>XGBoost: 12 inputs → 467 small trees → demand (kW)</a:t>
            </a:r>
          </a:p>
          <a:p>
            <a:pPr marL="256032" indent="-228600">
              <a:spcAft>
                <a:spcPts val="300"/>
              </a:spcAft>
              <a:buChar char="•"/>
            </a:pPr>
            <a:r>
              <a:rPr sz="1500"/>
              <a:t>Each new tree fixes the errors of the trees before it</a:t>
            </a:r>
          </a:p>
          <a:p>
            <a:pPr marL="256032" indent="-228600">
              <a:spcAft>
                <a:spcPts val="300"/>
              </a:spcAft>
              <a:buChar char="•"/>
            </a:pPr>
            <a:r>
              <a:rPr sz="1500"/>
              <a:t>Depth ≤ 3, learning rate 0.0231, Optuna (50 trials)</a:t>
            </a:r>
          </a:p>
        </p:txBody>
      </p:sp>
      <p:sp>
        <p:nvSpPr>
          <p:cNvPr id="4" name="TextBox 3"/>
          <p:cNvSpPr txBox="1"/>
          <p:nvPr/>
        </p:nvSpPr>
        <p:spPr>
          <a:xfrm>
            <a:off x="6263640" y="1143000"/>
            <a:ext cx="5669280" cy="1463040"/>
          </a:xfrm>
          <a:prstGeom prst="rect">
            <a:avLst/>
          </a:prstGeom>
          <a:noFill/>
        </p:spPr>
        <p:txBody>
          <a:bodyPr wrap="square" lIns="45720" rIns="45720" anchor="t">
            <a:spAutoFit/>
          </a:bodyPr>
          <a:lstStyle/>
          <a:p>
            <a:pPr marL="256032" indent="-228600">
              <a:spcAft>
                <a:spcPts val="300"/>
              </a:spcAft>
              <a:buChar char="•"/>
            </a:pPr>
            <a:r>
              <a:rPr sz="1500"/>
              <a:t>SHAP: exact share of each input in a prediction (TreeSHAP)</a:t>
            </a:r>
          </a:p>
          <a:p>
            <a:pPr marL="256032" indent="-228600">
              <a:spcAft>
                <a:spcPts val="300"/>
              </a:spcAft>
              <a:buChar char="•"/>
            </a:pPr>
            <a:r>
              <a:rPr sz="1500"/>
              <a:t>LIME: simple local rule from 1,000 nearby samples</a:t>
            </a:r>
          </a:p>
        </p:txBody>
      </p:sp>
      <p:pic>
        <p:nvPicPr>
          <p:cNvPr id="5" name="Picture 4" descr="xgboost_architecture.png"/>
          <p:cNvPicPr>
            <a:picLocks noChangeAspect="1"/>
          </p:cNvPicPr>
          <p:nvPr/>
        </p:nvPicPr>
        <p:blipFill>
          <a:blip r:embed="rId3"/>
          <a:stretch>
            <a:fillRect/>
          </a:stretch>
        </p:blipFill>
        <p:spPr>
          <a:xfrm>
            <a:off x="274320" y="2750779"/>
            <a:ext cx="11658600" cy="3276680"/>
          </a:xfrm>
          <a:prstGeom prst="rect">
            <a:avLst/>
          </a:prstGeom>
        </p:spPr>
      </p:pic>
      <p:sp>
        <p:nvSpPr>
          <p:cNvPr id="6"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IT22273062</a:t>
            </a:r>
            <a:r>
              <a:rPr lang="en-US" sz="1800" dirty="0">
                <a:solidFill>
                  <a:schemeClr val="tx1"/>
                </a:solidFill>
              </a:rPr>
              <a:t>   |   </a:t>
            </a:r>
            <a:r>
              <a:rPr lang="en-US" sz="1800" b="1" dirty="0">
                <a:solidFill>
                  <a:schemeClr val="tx1"/>
                </a:solidFill>
              </a:rPr>
              <a:t>Madushani R.P   </a:t>
            </a:r>
            <a:r>
              <a:rPr lang="en-US" sz="1800" dirty="0">
                <a:solidFill>
                  <a:schemeClr val="tx1"/>
                </a:solidFill>
              </a:rPr>
              <a:t>|   </a:t>
            </a:r>
            <a:r>
              <a:rPr lang="en-US" sz="1800" b="0" dirty="0">
                <a:solidFill>
                  <a:schemeClr val="tx1"/>
                </a:solidFill>
              </a:rPr>
              <a:t>R26-IT-010</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Explainable AI — Model Comparison</a:t>
            </a:r>
          </a:p>
        </p:txBody>
      </p:sp>
      <p:graphicFrame>
        <p:nvGraphicFramePr>
          <p:cNvPr id="3" name="Table 2"/>
          <p:cNvGraphicFramePr>
            <a:graphicFrameLocks noGrp="1"/>
          </p:cNvGraphicFramePr>
          <p:nvPr/>
        </p:nvGraphicFramePr>
        <p:xfrm>
          <a:off x="365760" y="1188720"/>
          <a:ext cx="5120640" cy="192024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84048">
                <a:tc>
                  <a:txBody>
                    <a:bodyPr/>
                    <a:lstStyle/>
                    <a:p>
                      <a:r>
                        <a:rPr sz="1400" b="1"/>
                        <a:t>Model</a:t>
                      </a:r>
                    </a:p>
                  </a:txBody>
                  <a:tcPr marL="54864" marR="54864" marT="27432" marB="27432"/>
                </a:tc>
                <a:tc>
                  <a:txBody>
                    <a:bodyPr/>
                    <a:lstStyle/>
                    <a:p>
                      <a:r>
                        <a:rPr sz="1400" b="1"/>
                        <a:t>RMSE (kW)</a:t>
                      </a:r>
                    </a:p>
                  </a:txBody>
                  <a:tcPr marL="54864" marR="54864" marT="27432" marB="27432"/>
                </a:tc>
                <a:tc>
                  <a:txBody>
                    <a:bodyPr/>
                    <a:lstStyle/>
                    <a:p>
                      <a:r>
                        <a:rPr sz="1400" b="1"/>
                        <a:t>R²</a:t>
                      </a:r>
                    </a:p>
                  </a:txBody>
                  <a:tcPr marL="54864" marR="54864" marT="27432" marB="27432"/>
                </a:tc>
                <a:extLst>
                  <a:ext uri="{0D108BD9-81ED-4DB2-BD59-A6C34878D82A}">
                    <a16:rowId xmlns:a16="http://schemas.microsoft.com/office/drawing/2014/main" val="10000"/>
                  </a:ext>
                </a:extLst>
              </a:tr>
              <a:tr h="384048">
                <a:tc>
                  <a:txBody>
                    <a:bodyPr/>
                    <a:lstStyle/>
                    <a:p>
                      <a:r>
                        <a:rPr sz="1300" b="0"/>
                        <a:t>Seasonal naive</a:t>
                      </a:r>
                    </a:p>
                  </a:txBody>
                  <a:tcPr marL="54864" marR="54864" marT="27432" marB="27432"/>
                </a:tc>
                <a:tc>
                  <a:txBody>
                    <a:bodyPr/>
                    <a:lstStyle/>
                    <a:p>
                      <a:r>
                        <a:rPr sz="1300" b="0"/>
                        <a:t>277.6</a:t>
                      </a:r>
                    </a:p>
                  </a:txBody>
                  <a:tcPr marL="54864" marR="54864" marT="27432" marB="27432"/>
                </a:tc>
                <a:tc>
                  <a:txBody>
                    <a:bodyPr/>
                    <a:lstStyle/>
                    <a:p>
                      <a:r>
                        <a:rPr sz="1300" b="0"/>
                        <a:t>−1.05</a:t>
                      </a:r>
                    </a:p>
                  </a:txBody>
                  <a:tcPr marL="54864" marR="54864" marT="27432" marB="27432"/>
                </a:tc>
                <a:extLst>
                  <a:ext uri="{0D108BD9-81ED-4DB2-BD59-A6C34878D82A}">
                    <a16:rowId xmlns:a16="http://schemas.microsoft.com/office/drawing/2014/main" val="10001"/>
                  </a:ext>
                </a:extLst>
              </a:tr>
              <a:tr h="384048">
                <a:tc>
                  <a:txBody>
                    <a:bodyPr/>
                    <a:lstStyle/>
                    <a:p>
                      <a:r>
                        <a:rPr sz="1300" b="0"/>
                        <a:t>Linear Regression</a:t>
                      </a:r>
                    </a:p>
                  </a:txBody>
                  <a:tcPr marL="54864" marR="54864" marT="27432" marB="27432"/>
                </a:tc>
                <a:tc>
                  <a:txBody>
                    <a:bodyPr/>
                    <a:lstStyle/>
                    <a:p>
                      <a:r>
                        <a:rPr sz="1300" b="0"/>
                        <a:t>≈ 0</a:t>
                      </a:r>
                    </a:p>
                  </a:txBody>
                  <a:tcPr marL="54864" marR="54864" marT="27432" marB="27432"/>
                </a:tc>
                <a:tc>
                  <a:txBody>
                    <a:bodyPr/>
                    <a:lstStyle/>
                    <a:p>
                      <a:r>
                        <a:rPr sz="1300" b="0"/>
                        <a:t>1.000</a:t>
                      </a:r>
                    </a:p>
                  </a:txBody>
                  <a:tcPr marL="54864" marR="54864" marT="27432" marB="27432"/>
                </a:tc>
                <a:extLst>
                  <a:ext uri="{0D108BD9-81ED-4DB2-BD59-A6C34878D82A}">
                    <a16:rowId xmlns:a16="http://schemas.microsoft.com/office/drawing/2014/main" val="10002"/>
                  </a:ext>
                </a:extLst>
              </a:tr>
              <a:tr h="384048">
                <a:tc>
                  <a:txBody>
                    <a:bodyPr/>
                    <a:lstStyle/>
                    <a:p>
                      <a:r>
                        <a:rPr sz="1300" b="0"/>
                        <a:t>Random Forest (tuned)</a:t>
                      </a:r>
                    </a:p>
                  </a:txBody>
                  <a:tcPr marL="54864" marR="54864" marT="27432" marB="27432"/>
                </a:tc>
                <a:tc>
                  <a:txBody>
                    <a:bodyPr/>
                    <a:lstStyle/>
                    <a:p>
                      <a:r>
                        <a:rPr sz="1300" b="0"/>
                        <a:t>0.011</a:t>
                      </a:r>
                    </a:p>
                  </a:txBody>
                  <a:tcPr marL="54864" marR="54864" marT="27432" marB="27432"/>
                </a:tc>
                <a:tc>
                  <a:txBody>
                    <a:bodyPr/>
                    <a:lstStyle/>
                    <a:p>
                      <a:r>
                        <a:rPr sz="1300" b="0"/>
                        <a:t>1.000</a:t>
                      </a:r>
                    </a:p>
                  </a:txBody>
                  <a:tcPr marL="54864" marR="54864" marT="27432" marB="27432"/>
                </a:tc>
                <a:extLst>
                  <a:ext uri="{0D108BD9-81ED-4DB2-BD59-A6C34878D82A}">
                    <a16:rowId xmlns:a16="http://schemas.microsoft.com/office/drawing/2014/main" val="10003"/>
                  </a:ext>
                </a:extLst>
              </a:tr>
              <a:tr h="384048">
                <a:tc>
                  <a:txBody>
                    <a:bodyPr/>
                    <a:lstStyle/>
                    <a:p>
                      <a:r>
                        <a:rPr sz="1300" b="1"/>
                        <a:t>XGBoost (explained)</a:t>
                      </a:r>
                    </a:p>
                  </a:txBody>
                  <a:tcPr marL="54864" marR="54864" marT="27432" marB="27432"/>
                </a:tc>
                <a:tc>
                  <a:txBody>
                    <a:bodyPr/>
                    <a:lstStyle/>
                    <a:p>
                      <a:r>
                        <a:rPr sz="1300" b="1"/>
                        <a:t>2.02</a:t>
                      </a:r>
                    </a:p>
                  </a:txBody>
                  <a:tcPr marL="54864" marR="54864" marT="27432" marB="27432"/>
                </a:tc>
                <a:tc>
                  <a:txBody>
                    <a:bodyPr/>
                    <a:lstStyle/>
                    <a:p>
                      <a:r>
                        <a:rPr sz="1300" b="1"/>
                        <a:t>0.99989</a:t>
                      </a:r>
                    </a:p>
                  </a:txBody>
                  <a:tcPr marL="54864" marR="54864" marT="27432" marB="27432"/>
                </a:tc>
                <a:extLst>
                  <a:ext uri="{0D108BD9-81ED-4DB2-BD59-A6C34878D82A}">
                    <a16:rowId xmlns:a16="http://schemas.microsoft.com/office/drawing/2014/main" val="10004"/>
                  </a:ext>
                </a:extLst>
              </a:tr>
            </a:tbl>
          </a:graphicData>
        </a:graphic>
      </p:graphicFrame>
      <p:sp>
        <p:nvSpPr>
          <p:cNvPr id="4" name="TextBox 3"/>
          <p:cNvSpPr txBox="1"/>
          <p:nvPr/>
        </p:nvSpPr>
        <p:spPr>
          <a:xfrm>
            <a:off x="365760" y="3291840"/>
            <a:ext cx="5120640" cy="2834640"/>
          </a:xfrm>
          <a:prstGeom prst="rect">
            <a:avLst/>
          </a:prstGeom>
          <a:noFill/>
        </p:spPr>
        <p:txBody>
          <a:bodyPr wrap="square" lIns="45720" rIns="45720" anchor="t">
            <a:spAutoFit/>
          </a:bodyPr>
          <a:lstStyle/>
          <a:p>
            <a:pPr marL="256032" indent="-228600">
              <a:spcAft>
                <a:spcPts val="400"/>
              </a:spcAft>
              <a:buChar char="•"/>
            </a:pPr>
            <a:r>
              <a:rPr sz="1500"/>
              <a:t>Same cleaning, split and metrics for all models</a:t>
            </a:r>
          </a:p>
          <a:p>
            <a:pPr marL="256032" indent="-228600">
              <a:spcAft>
                <a:spcPts val="400"/>
              </a:spcAft>
              <a:buChar char="•"/>
            </a:pPr>
            <a:r>
              <a:rPr sz="1500"/>
              <a:t>Linear Regression is exact: the data is Load = 100·T − 1300</a:t>
            </a:r>
          </a:p>
          <a:p>
            <a:pPr marL="256032" indent="-228600">
              <a:spcAft>
                <a:spcPts val="400"/>
              </a:spcAft>
              <a:buChar char="•"/>
            </a:pPr>
            <a:r>
              <a:rPr sz="1500"/>
              <a:t>XGBoost error is 0.07% of demand; rolling CV 2.10 ± 0.07 kW</a:t>
            </a:r>
          </a:p>
          <a:p>
            <a:pPr marL="256032" indent="-228600">
              <a:spcAft>
                <a:spcPts val="400"/>
              </a:spcAft>
              <a:buChar char="•"/>
            </a:pPr>
            <a:r>
              <a:rPr sz="1500"/>
              <a:t>XGBoost kept because TreeSHAP explains it exactly</a:t>
            </a:r>
          </a:p>
        </p:txBody>
      </p:sp>
      <p:pic>
        <p:nvPicPr>
          <p:cNvPr id="5" name="Picture 4" descr="model_comparison_rmse_mape.png"/>
          <p:cNvPicPr>
            <a:picLocks noChangeAspect="1"/>
          </p:cNvPicPr>
          <p:nvPr/>
        </p:nvPicPr>
        <p:blipFill>
          <a:blip r:embed="rId3"/>
          <a:stretch>
            <a:fillRect/>
          </a:stretch>
        </p:blipFill>
        <p:spPr>
          <a:xfrm>
            <a:off x="5669280" y="2587761"/>
            <a:ext cx="6263640" cy="2048236"/>
          </a:xfrm>
          <a:prstGeom prst="rect">
            <a:avLst/>
          </a:prstGeom>
        </p:spPr>
      </p:pic>
      <p:sp>
        <p:nvSpPr>
          <p:cNvPr id="6"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IT22273062</a:t>
            </a:r>
            <a:r>
              <a:rPr lang="en-US" sz="1800" dirty="0">
                <a:solidFill>
                  <a:schemeClr val="tx1"/>
                </a:solidFill>
              </a:rPr>
              <a:t>   |   </a:t>
            </a:r>
            <a:r>
              <a:rPr lang="en-US" sz="1800" b="1" dirty="0">
                <a:solidFill>
                  <a:schemeClr val="tx1"/>
                </a:solidFill>
              </a:rPr>
              <a:t>Madushani R.P   </a:t>
            </a:r>
            <a:r>
              <a:rPr lang="en-US" sz="1800" dirty="0">
                <a:solidFill>
                  <a:schemeClr val="tx1"/>
                </a:solidFill>
              </a:rPr>
              <a:t>|   </a:t>
            </a:r>
            <a:r>
              <a:rPr lang="en-US" sz="1800" b="0" dirty="0">
                <a:solidFill>
                  <a:schemeClr val="tx1"/>
                </a:solidFill>
              </a:rPr>
              <a:t>R26-IT-010</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Explainable AI — SHAP vs LIME (validated against the true formula)</a:t>
            </a:r>
          </a:p>
        </p:txBody>
      </p:sp>
      <p:graphicFrame>
        <p:nvGraphicFramePr>
          <p:cNvPr id="3" name="Table 2"/>
          <p:cNvGraphicFramePr>
            <a:graphicFrameLocks noGrp="1"/>
          </p:cNvGraphicFramePr>
          <p:nvPr/>
        </p:nvGraphicFramePr>
        <p:xfrm>
          <a:off x="365760" y="1188720"/>
          <a:ext cx="5852160" cy="2304288"/>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384048">
                <a:tc>
                  <a:txBody>
                    <a:bodyPr/>
                    <a:lstStyle/>
                    <a:p>
                      <a:endParaRPr/>
                    </a:p>
                  </a:txBody>
                  <a:tcPr marL="54864" marR="54864" marT="27432" marB="27432"/>
                </a:tc>
                <a:tc>
                  <a:txBody>
                    <a:bodyPr/>
                    <a:lstStyle/>
                    <a:p>
                      <a:r>
                        <a:rPr sz="1400" b="1"/>
                        <a:t>SHAP</a:t>
                      </a:r>
                    </a:p>
                  </a:txBody>
                  <a:tcPr marL="54864" marR="54864" marT="27432" marB="27432"/>
                </a:tc>
                <a:tc>
                  <a:txBody>
                    <a:bodyPr/>
                    <a:lstStyle/>
                    <a:p>
                      <a:r>
                        <a:rPr sz="1400" b="1"/>
                        <a:t>LIME</a:t>
                      </a:r>
                    </a:p>
                  </a:txBody>
                  <a:tcPr marL="54864" marR="54864" marT="27432" marB="27432"/>
                </a:tc>
                <a:extLst>
                  <a:ext uri="{0D108BD9-81ED-4DB2-BD59-A6C34878D82A}">
                    <a16:rowId xmlns:a16="http://schemas.microsoft.com/office/drawing/2014/main" val="10000"/>
                  </a:ext>
                </a:extLst>
              </a:tr>
              <a:tr h="384048">
                <a:tc>
                  <a:txBody>
                    <a:bodyPr/>
                    <a:lstStyle/>
                    <a:p>
                      <a:r>
                        <a:rPr sz="1300" b="0"/>
                        <a:t>Share on the true feature</a:t>
                      </a:r>
                    </a:p>
                  </a:txBody>
                  <a:tcPr marL="54864" marR="54864" marT="27432" marB="27432"/>
                </a:tc>
                <a:tc>
                  <a:txBody>
                    <a:bodyPr/>
                    <a:lstStyle/>
                    <a:p>
                      <a:r>
                        <a:rPr sz="1300" b="0"/>
                        <a:t>99.90%</a:t>
                      </a:r>
                    </a:p>
                  </a:txBody>
                  <a:tcPr marL="54864" marR="54864" marT="27432" marB="27432"/>
                </a:tc>
                <a:tc>
                  <a:txBody>
                    <a:bodyPr/>
                    <a:lstStyle/>
                    <a:p>
                      <a:r>
                        <a:rPr sz="1300" b="0"/>
                        <a:t>69.9%</a:t>
                      </a:r>
                    </a:p>
                  </a:txBody>
                  <a:tcPr marL="54864" marR="54864" marT="27432" marB="27432"/>
                </a:tc>
                <a:extLst>
                  <a:ext uri="{0D108BD9-81ED-4DB2-BD59-A6C34878D82A}">
                    <a16:rowId xmlns:a16="http://schemas.microsoft.com/office/drawing/2014/main" val="10001"/>
                  </a:ext>
                </a:extLst>
              </a:tr>
              <a:tr h="384048">
                <a:tc>
                  <a:txBody>
                    <a:bodyPr/>
                    <a:lstStyle/>
                    <a:p>
                      <a:r>
                        <a:rPr sz="1300" b="0"/>
                        <a:t>Fidelity</a:t>
                      </a:r>
                    </a:p>
                  </a:txBody>
                  <a:tcPr marL="54864" marR="54864" marT="27432" marB="27432"/>
                </a:tc>
                <a:tc>
                  <a:txBody>
                    <a:bodyPr/>
                    <a:lstStyle/>
                    <a:p>
                      <a:r>
                        <a:rPr sz="1300" b="0"/>
                        <a:t>error ≤ 0.007 kW</a:t>
                      </a:r>
                    </a:p>
                  </a:txBody>
                  <a:tcPr marL="54864" marR="54864" marT="27432" marB="27432"/>
                </a:tc>
                <a:tc>
                  <a:txBody>
                    <a:bodyPr/>
                    <a:lstStyle/>
                    <a:p>
                      <a:r>
                        <a:rPr sz="1300" b="0"/>
                        <a:t>R² 0.46 mean (0.06 medium)</a:t>
                      </a:r>
                    </a:p>
                  </a:txBody>
                  <a:tcPr marL="54864" marR="54864" marT="27432" marB="27432"/>
                </a:tc>
                <a:extLst>
                  <a:ext uri="{0D108BD9-81ED-4DB2-BD59-A6C34878D82A}">
                    <a16:rowId xmlns:a16="http://schemas.microsoft.com/office/drawing/2014/main" val="10002"/>
                  </a:ext>
                </a:extLst>
              </a:tr>
              <a:tr h="384048">
                <a:tc>
                  <a:txBody>
                    <a:bodyPr/>
                    <a:lstStyle/>
                    <a:p>
                      <a:r>
                        <a:rPr sz="1300" b="0"/>
                        <a:t>Stability</a:t>
                      </a:r>
                    </a:p>
                  </a:txBody>
                  <a:tcPr marL="54864" marR="54864" marT="27432" marB="27432"/>
                </a:tc>
                <a:tc>
                  <a:txBody>
                    <a:bodyPr/>
                    <a:lstStyle/>
                    <a:p>
                      <a:r>
                        <a:rPr sz="1300" b="0"/>
                        <a:t>deterministic</a:t>
                      </a:r>
                    </a:p>
                  </a:txBody>
                  <a:tcPr marL="54864" marR="54864" marT="27432" marB="27432"/>
                </a:tc>
                <a:tc>
                  <a:txBody>
                    <a:bodyPr/>
                    <a:lstStyle/>
                    <a:p>
                      <a:r>
                        <a:rPr sz="1300" b="0"/>
                        <a:t>varies with seed</a:t>
                      </a:r>
                    </a:p>
                  </a:txBody>
                  <a:tcPr marL="54864" marR="54864" marT="27432" marB="27432"/>
                </a:tc>
                <a:extLst>
                  <a:ext uri="{0D108BD9-81ED-4DB2-BD59-A6C34878D82A}">
                    <a16:rowId xmlns:a16="http://schemas.microsoft.com/office/drawing/2014/main" val="10003"/>
                  </a:ext>
                </a:extLst>
              </a:tr>
              <a:tr h="384048">
                <a:tc>
                  <a:txBody>
                    <a:bodyPr/>
                    <a:lstStyle/>
                    <a:p>
                      <a:r>
                        <a:rPr sz="1300" b="0"/>
                        <a:t>Top factor correct</a:t>
                      </a:r>
                    </a:p>
                  </a:txBody>
                  <a:tcPr marL="54864" marR="54864" marT="27432" marB="27432"/>
                </a:tc>
                <a:tc>
                  <a:txBody>
                    <a:bodyPr/>
                    <a:lstStyle/>
                    <a:p>
                      <a:r>
                        <a:rPr sz="1300" b="0"/>
                        <a:t>100%</a:t>
                      </a:r>
                    </a:p>
                  </a:txBody>
                  <a:tcPr marL="54864" marR="54864" marT="27432" marB="27432"/>
                </a:tc>
                <a:tc>
                  <a:txBody>
                    <a:bodyPr/>
                    <a:lstStyle/>
                    <a:p>
                      <a:r>
                        <a:rPr sz="1300" b="0"/>
                        <a:t>100%</a:t>
                      </a:r>
                    </a:p>
                  </a:txBody>
                  <a:tcPr marL="54864" marR="54864" marT="27432" marB="27432"/>
                </a:tc>
                <a:extLst>
                  <a:ext uri="{0D108BD9-81ED-4DB2-BD59-A6C34878D82A}">
                    <a16:rowId xmlns:a16="http://schemas.microsoft.com/office/drawing/2014/main" val="10004"/>
                  </a:ext>
                </a:extLst>
              </a:tr>
              <a:tr h="384048">
                <a:tc>
                  <a:txBody>
                    <a:bodyPr/>
                    <a:lstStyle/>
                    <a:p>
                      <a:r>
                        <a:rPr sz="1300" b="0"/>
                        <a:t>Runtime</a:t>
                      </a:r>
                    </a:p>
                  </a:txBody>
                  <a:tcPr marL="54864" marR="54864" marT="27432" marB="27432"/>
                </a:tc>
                <a:tc>
                  <a:txBody>
                    <a:bodyPr/>
                    <a:lstStyle/>
                    <a:p>
                      <a:r>
                        <a:rPr sz="1300" b="0"/>
                        <a:t>2.3 ms</a:t>
                      </a:r>
                    </a:p>
                  </a:txBody>
                  <a:tcPr marL="54864" marR="54864" marT="27432" marB="27432"/>
                </a:tc>
                <a:tc>
                  <a:txBody>
                    <a:bodyPr/>
                    <a:lstStyle/>
                    <a:p>
                      <a:r>
                        <a:rPr sz="1300" b="0"/>
                        <a:t>15 ms</a:t>
                      </a:r>
                    </a:p>
                  </a:txBody>
                  <a:tcPr marL="54864" marR="54864" marT="27432" marB="27432"/>
                </a:tc>
                <a:extLst>
                  <a:ext uri="{0D108BD9-81ED-4DB2-BD59-A6C34878D82A}">
                    <a16:rowId xmlns:a16="http://schemas.microsoft.com/office/drawing/2014/main" val="10005"/>
                  </a:ext>
                </a:extLst>
              </a:tr>
            </a:tbl>
          </a:graphicData>
        </a:graphic>
      </p:graphicFrame>
      <p:sp>
        <p:nvSpPr>
          <p:cNvPr id="4" name="TextBox 3"/>
          <p:cNvSpPr txBox="1"/>
          <p:nvPr/>
        </p:nvSpPr>
        <p:spPr>
          <a:xfrm>
            <a:off x="365760" y="3657600"/>
            <a:ext cx="5852160" cy="2468880"/>
          </a:xfrm>
          <a:prstGeom prst="rect">
            <a:avLst/>
          </a:prstGeom>
          <a:noFill/>
        </p:spPr>
        <p:txBody>
          <a:bodyPr wrap="square" lIns="45720" rIns="45720" anchor="t">
            <a:spAutoFit/>
          </a:bodyPr>
          <a:lstStyle/>
          <a:p>
            <a:pPr marL="256032" indent="-228600">
              <a:spcAft>
                <a:spcPts val="400"/>
              </a:spcAft>
              <a:buChar char="•"/>
            </a:pPr>
            <a:r>
              <a:rPr sz="1500"/>
              <a:t>SHAP vs true effect: r = 0.99994, slope 0.999</a:t>
            </a:r>
          </a:p>
          <a:p>
            <a:pPr marL="256032" indent="-228600">
              <a:spcAft>
                <a:spcPts val="400"/>
              </a:spcAft>
              <a:buChar char="•"/>
            </a:pPr>
            <a:r>
              <a:rPr sz="1500"/>
              <a:t>No real drift: Temperature 155.7 – 156.8 kW every year (95% CIs)</a:t>
            </a:r>
          </a:p>
          <a:p>
            <a:pPr marL="256032" indent="-228600">
              <a:spcAft>
                <a:spcPts val="400"/>
              </a:spcAft>
              <a:buChar char="•"/>
            </a:pPr>
            <a:r>
              <a:rPr sz="1500"/>
              <a:t>LIME for 2025-01-25: Temperature &gt; 29.29 → +359 kW</a:t>
            </a:r>
          </a:p>
        </p:txBody>
      </p:sp>
      <p:pic>
        <p:nvPicPr>
          <p:cNvPr id="5" name="Picture 4" descr="shap_dependence_temperature.png"/>
          <p:cNvPicPr>
            <a:picLocks noChangeAspect="1"/>
          </p:cNvPicPr>
          <p:nvPr/>
        </p:nvPicPr>
        <p:blipFill>
          <a:blip r:embed="rId3"/>
          <a:stretch>
            <a:fillRect/>
          </a:stretch>
        </p:blipFill>
        <p:spPr>
          <a:xfrm>
            <a:off x="6400800" y="1836511"/>
            <a:ext cx="5532120" cy="3550736"/>
          </a:xfrm>
          <a:prstGeom prst="rect">
            <a:avLst/>
          </a:prstGeom>
        </p:spPr>
      </p:pic>
      <p:sp>
        <p:nvSpPr>
          <p:cNvPr id="6"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IT22273062</a:t>
            </a:r>
            <a:r>
              <a:rPr lang="en-US" sz="1800" dirty="0">
                <a:solidFill>
                  <a:schemeClr val="tx1"/>
                </a:solidFill>
              </a:rPr>
              <a:t>   |   </a:t>
            </a:r>
            <a:r>
              <a:rPr lang="en-US" sz="1800" b="1" dirty="0">
                <a:solidFill>
                  <a:schemeClr val="tx1"/>
                </a:solidFill>
              </a:rPr>
              <a:t>Madushani R.P   </a:t>
            </a:r>
            <a:r>
              <a:rPr lang="en-US" sz="1800" dirty="0">
                <a:solidFill>
                  <a:schemeClr val="tx1"/>
                </a:solidFill>
              </a:rPr>
              <a:t>|   </a:t>
            </a:r>
            <a:r>
              <a:rPr lang="en-US" sz="1800" b="0" dirty="0">
                <a:solidFill>
                  <a:schemeClr val="tx1"/>
                </a:solidFill>
              </a:rPr>
              <a:t>R26-IT-010</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Addressing PP2 Feedback — Madushani</a:t>
            </a:r>
          </a:p>
        </p:txBody>
      </p:sp>
      <p:graphicFrame>
        <p:nvGraphicFramePr>
          <p:cNvPr id="3" name="Table 2"/>
          <p:cNvGraphicFramePr>
            <a:graphicFrameLocks noGrp="1"/>
          </p:cNvGraphicFramePr>
          <p:nvPr/>
        </p:nvGraphicFramePr>
        <p:xfrm>
          <a:off x="365760" y="1280160"/>
          <a:ext cx="11430000" cy="3474720"/>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868680">
                <a:tc>
                  <a:txBody>
                    <a:bodyPr/>
                    <a:lstStyle/>
                    <a:p>
                      <a:r>
                        <a:rPr sz="1900" b="1"/>
                        <a:t>PP2 comment</a:t>
                      </a:r>
                    </a:p>
                  </a:txBody>
                  <a:tcPr marL="54864" marR="54864" marT="27432" marB="27432"/>
                </a:tc>
                <a:tc>
                  <a:txBody>
                    <a:bodyPr/>
                    <a:lstStyle/>
                    <a:p>
                      <a:r>
                        <a:rPr sz="1900" b="1"/>
                        <a:t>What was done</a:t>
                      </a:r>
                    </a:p>
                  </a:txBody>
                  <a:tcPr marL="54864" marR="54864" marT="27432" marB="27432"/>
                </a:tc>
                <a:tc>
                  <a:txBody>
                    <a:bodyPr/>
                    <a:lstStyle/>
                    <a:p>
                      <a:r>
                        <a:rPr sz="1900" b="1"/>
                        <a:t>Evidence</a:t>
                      </a:r>
                    </a:p>
                  </a:txBody>
                  <a:tcPr marL="54864" marR="54864" marT="27432" marB="27432"/>
                </a:tc>
                <a:extLst>
                  <a:ext uri="{0D108BD9-81ED-4DB2-BD59-A6C34878D82A}">
                    <a16:rowId xmlns:a16="http://schemas.microsoft.com/office/drawing/2014/main" val="10000"/>
                  </a:ext>
                </a:extLst>
              </a:tr>
              <a:tr h="868680">
                <a:tc>
                  <a:txBody>
                    <a:bodyPr/>
                    <a:lstStyle/>
                    <a:p>
                      <a:r>
                        <a:rPr sz="1800" b="0"/>
                        <a:t>Lacks idea on the models used</a:t>
                      </a:r>
                    </a:p>
                  </a:txBody>
                  <a:tcPr marL="54864" marR="54864" marT="27432" marB="27432"/>
                </a:tc>
                <a:tc>
                  <a:txBody>
                    <a:bodyPr/>
                    <a:lstStyle/>
                    <a:p>
                      <a:r>
                        <a:rPr sz="1800" b="0"/>
                        <a:t>Table of every model and method with its role and key settings</a:t>
                      </a:r>
                    </a:p>
                  </a:txBody>
                  <a:tcPr marL="54864" marR="54864" marT="27432" marB="27432"/>
                </a:tc>
                <a:tc>
                  <a:txBody>
                    <a:bodyPr/>
                    <a:lstStyle/>
                    <a:p>
                      <a:r>
                        <a:rPr sz="1800" b="0"/>
                        <a:t>XGBoost, LR, RF, seasonal naive; SHAP and LIME settings</a:t>
                      </a:r>
                    </a:p>
                  </a:txBody>
                  <a:tcPr marL="54864" marR="54864" marT="27432" marB="27432"/>
                </a:tc>
                <a:extLst>
                  <a:ext uri="{0D108BD9-81ED-4DB2-BD59-A6C34878D82A}">
                    <a16:rowId xmlns:a16="http://schemas.microsoft.com/office/drawing/2014/main" val="10001"/>
                  </a:ext>
                </a:extLst>
              </a:tr>
              <a:tr h="868680">
                <a:tc>
                  <a:txBody>
                    <a:bodyPr/>
                    <a:lstStyle/>
                    <a:p>
                      <a:r>
                        <a:rPr sz="1800" b="0"/>
                        <a:t>Needs a clear idea of the model architecture</a:t>
                      </a:r>
                    </a:p>
                  </a:txBody>
                  <a:tcPr marL="54864" marR="54864" marT="27432" marB="27432"/>
                </a:tc>
                <a:tc>
                  <a:txBody>
                    <a:bodyPr/>
                    <a:lstStyle/>
                    <a:p>
                      <a:r>
                        <a:rPr sz="1800" b="0"/>
                        <a:t>XGBoost architecture diagram, read back from the saved model</a:t>
                      </a:r>
                    </a:p>
                  </a:txBody>
                  <a:tcPr marL="54864" marR="54864" marT="27432" marB="27432"/>
                </a:tc>
                <a:tc>
                  <a:txBody>
                    <a:bodyPr/>
                    <a:lstStyle/>
                    <a:p>
                      <a:r>
                        <a:rPr sz="1800" b="0"/>
                        <a:t>467 trees, depth 3, learning rate 0.0231, Optuna 50 trials</a:t>
                      </a:r>
                    </a:p>
                  </a:txBody>
                  <a:tcPr marL="54864" marR="54864" marT="27432" marB="27432"/>
                </a:tc>
                <a:extLst>
                  <a:ext uri="{0D108BD9-81ED-4DB2-BD59-A6C34878D82A}">
                    <a16:rowId xmlns:a16="http://schemas.microsoft.com/office/drawing/2014/main" val="10002"/>
                  </a:ext>
                </a:extLst>
              </a:tr>
              <a:tr h="868680">
                <a:tc>
                  <a:txBody>
                    <a:bodyPr/>
                    <a:lstStyle/>
                    <a:p>
                      <a:r>
                        <a:rPr sz="1800" b="0"/>
                        <a:t>Model comparison needed</a:t>
                      </a:r>
                    </a:p>
                  </a:txBody>
                  <a:tcPr marL="54864" marR="54864" marT="27432" marB="27432"/>
                </a:tc>
                <a:tc>
                  <a:txBody>
                    <a:bodyPr/>
                    <a:lstStyle/>
                    <a:p>
                      <a:r>
                        <a:rPr sz="1800" b="0"/>
                        <a:t>4 forecasting models + SHAP vs LIME on measurable criteria</a:t>
                      </a:r>
                    </a:p>
                  </a:txBody>
                  <a:tcPr marL="54864" marR="54864" marT="27432" marB="27432"/>
                </a:tc>
                <a:tc>
                  <a:txBody>
                    <a:bodyPr/>
                    <a:lstStyle/>
                    <a:p>
                      <a:r>
                        <a:rPr sz="1800" b="0"/>
                        <a:t>XGBoost RMSE 2.02 kW; SHAP r = 0.99994 vs truth</a:t>
                      </a:r>
                    </a:p>
                  </a:txBody>
                  <a:tcPr marL="54864" marR="54864" marT="27432" marB="27432"/>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IT22273062</a:t>
            </a:r>
            <a:r>
              <a:rPr lang="en-US" sz="1800" dirty="0">
                <a:solidFill>
                  <a:schemeClr val="tx1"/>
                </a:solidFill>
              </a:rPr>
              <a:t>   |   </a:t>
            </a:r>
            <a:r>
              <a:rPr lang="en-US" sz="1800" b="1" dirty="0">
                <a:solidFill>
                  <a:schemeClr val="tx1"/>
                </a:solidFill>
              </a:rPr>
              <a:t>Madushani R.P   </a:t>
            </a:r>
            <a:r>
              <a:rPr lang="en-US" sz="1800" dirty="0">
                <a:solidFill>
                  <a:schemeClr val="tx1"/>
                </a:solidFill>
              </a:rPr>
              <a:t>|   </a:t>
            </a:r>
            <a:r>
              <a:rPr lang="en-US" sz="1800" b="0" dirty="0">
                <a:solidFill>
                  <a:schemeClr val="tx1"/>
                </a:solidFill>
              </a:rPr>
              <a:t>R26-IT-010</a:t>
            </a:r>
          </a:p>
        </p:txBody>
      </p:sp>
    </p:spTree>
  </p:cSld>
  <p:clrMapOvr>
    <a:masterClrMapping/>
  </p:clrMapOvr>
</p:sld>
</file>

<file path=ppt/theme/theme1.xml><?xml version="1.0" encoding="utf-8"?>
<a:theme xmlns:a="http://schemas.openxmlformats.org/drawingml/2006/main" name="Office Theme">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othecary">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D08376A6-FCE2-4A8E-BFFF-11B69BD93976}" vid="{0A5F165D-9E14-4628-BA29-A51D7051FD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10BED47397629468ECCA40A9BFD2360" ma:contentTypeVersion="32" ma:contentTypeDescription="Create a new document." ma:contentTypeScope="" ma:versionID="8018176eb00ec7aee09f0e7e93d2feae">
  <xsd:schema xmlns:xsd="http://www.w3.org/2001/XMLSchema" xmlns:xs="http://www.w3.org/2001/XMLSchema" xmlns:p="http://schemas.microsoft.com/office/2006/metadata/properties" xmlns:ns3="7052f7b4-6618-4fd5-8c2b-195a2e438ea3" xmlns:ns4="d73754a2-87ab-421f-a273-25d43a392330" targetNamespace="http://schemas.microsoft.com/office/2006/metadata/properties" ma:root="true" ma:fieldsID="e50bf4c58197e20629937f9ece67a00f" ns3:_="" ns4:_="">
    <xsd:import namespace="7052f7b4-6618-4fd5-8c2b-195a2e438ea3"/>
    <xsd:import namespace="d73754a2-87ab-421f-a273-25d43a392330"/>
    <xsd:element name="properties">
      <xsd:complexType>
        <xsd:sequence>
          <xsd:element name="documentManagement">
            <xsd:complexType>
              <xsd:all>
                <xsd:element ref="ns3:NotebookType" minOccurs="0"/>
                <xsd:element ref="ns3:FolderType" minOccurs="0"/>
                <xsd:element ref="ns3:Owner" minOccurs="0"/>
                <xsd:element ref="ns3:DefaultSectionNames" minOccurs="0"/>
                <xsd:element ref="ns3:Templates" minOccurs="0"/>
                <xsd:element ref="ns3:CultureName" minOccurs="0"/>
                <xsd:element ref="ns3:AppVersion" minOccurs="0"/>
                <xsd:element ref="ns3:Teachers" minOccurs="0"/>
                <xsd:element ref="ns3:Students" minOccurs="0"/>
                <xsd:element ref="ns3:Student_Groups" minOccurs="0"/>
                <xsd:element ref="ns3:Invited_Teachers" minOccurs="0"/>
                <xsd:element ref="ns3:Invited_Students" minOccurs="0"/>
                <xsd:element ref="ns3:Self_Registration_Enabled" minOccurs="0"/>
                <xsd:element ref="ns3:Has_Teacher_Only_SectionGroup" minOccurs="0"/>
                <xsd:element ref="ns3:Is_Collaboration_Space_Locked" minOccurs="0"/>
                <xsd:element ref="ns4:SharedWithUsers" minOccurs="0"/>
                <xsd:element ref="ns4:SharedWithDetails" minOccurs="0"/>
                <xsd:element ref="ns4:SharingHintHash" minOccurs="0"/>
                <xsd:element ref="ns3:MediaServiceMetadata" minOccurs="0"/>
                <xsd:element ref="ns3:MediaServiceFastMetadata" minOccurs="0"/>
                <xsd:element ref="ns3:MediaServiceDateTaken" minOccurs="0"/>
                <xsd:element ref="ns3:MediaLengthInSeconds" minOccurs="0"/>
                <xsd:element ref="ns3:MediaServiceAutoTags" minOccurs="0"/>
                <xsd:element ref="ns3:MediaServiceOCR" minOccurs="0"/>
                <xsd:element ref="ns3:MediaServiceGenerationTime" minOccurs="0"/>
                <xsd:element ref="ns3:MediaServiceEventHashCode" minOccurs="0"/>
                <xsd:element ref="ns3:_activity" minOccurs="0"/>
                <xsd:element ref="ns3:MediaServiceObjectDetectorVersions" minOccurs="0"/>
                <xsd:element ref="ns3:MediaServiceSystemTags" minOccurs="0"/>
                <xsd:element ref="ns3:MediaServiceSearchProperties" minOccurs="0"/>
                <xsd:element ref="ns3:MediaServiceBillingMetadata"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52f7b4-6618-4fd5-8c2b-195a2e438ea3"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Owner" ma:index="10"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faultSectionNames" ma:index="11" nillable="true" ma:displayName="Default Section Names" ma:internalName="DefaultSectionNames">
      <xsd:simpleType>
        <xsd:restriction base="dms:Note">
          <xsd:maxLength value="255"/>
        </xsd:restriction>
      </xsd:simpleType>
    </xsd:element>
    <xsd:element name="Templates" ma:index="12" nillable="true" ma:displayName="Templates" ma:internalName="Templates">
      <xsd:simpleType>
        <xsd:restriction base="dms:Note">
          <xsd:maxLength value="255"/>
        </xsd:restriction>
      </xsd:simpleType>
    </xsd:element>
    <xsd:element name="CultureName" ma:index="13" nillable="true" ma:displayName="Culture Name" ma:internalName="CultureName">
      <xsd:simpleType>
        <xsd:restriction base="dms:Text"/>
      </xsd:simpleType>
    </xsd:element>
    <xsd:element name="AppVersion" ma:index="14" nillable="true" ma:displayName="App Version" ma:internalName="AppVersion">
      <xsd:simpleType>
        <xsd:restriction base="dms:Text"/>
      </xsd:simpleType>
    </xsd:element>
    <xsd:element name="Teachers" ma:index="15"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6"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7"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Invited_Teachers" ma:index="18" nillable="true" ma:displayName="Invited Teachers" ma:internalName="Invited_Teachers">
      <xsd:simpleType>
        <xsd:restriction base="dms:Note">
          <xsd:maxLength value="255"/>
        </xsd:restriction>
      </xsd:simpleType>
    </xsd:element>
    <xsd:element name="Invited_Students" ma:index="19" nillable="true" ma:displayName="Invited Students" ma:internalName="Invited_Students">
      <xsd:simpleType>
        <xsd:restriction base="dms:Note">
          <xsd:maxLength value="255"/>
        </xsd:restriction>
      </xsd:simpleType>
    </xsd:element>
    <xsd:element name="Self_Registration_Enabled" ma:index="20" nillable="true" ma:displayName="Self Registration Enabled" ma:internalName="Self_Registration_Enabled">
      <xsd:simpleType>
        <xsd:restriction base="dms:Boolean"/>
      </xsd:simpleType>
    </xsd:element>
    <xsd:element name="Has_Teacher_Only_SectionGroup" ma:index="21" nillable="true" ma:displayName="Has Teacher Only SectionGroup" ma:internalName="Has_Teacher_Only_SectionGroup">
      <xsd:simpleType>
        <xsd:restriction base="dms:Boolean"/>
      </xsd:simpleType>
    </xsd:element>
    <xsd:element name="Is_Collaboration_Space_Locked" ma:index="22" nillable="true" ma:displayName="Is Collaboration Space Locked" ma:internalName="Is_Collaboration_Space_Locked">
      <xsd:simpleType>
        <xsd:restriction base="dms:Boolean"/>
      </xsd:simpleType>
    </xsd:element>
    <xsd:element name="MediaServiceMetadata" ma:index="26" nillable="true" ma:displayName="MediaServiceMetadata" ma:hidden="true" ma:internalName="MediaServiceMetadata" ma:readOnly="true">
      <xsd:simpleType>
        <xsd:restriction base="dms:Note"/>
      </xsd:simpleType>
    </xsd:element>
    <xsd:element name="MediaServiceFastMetadata" ma:index="27" nillable="true" ma:displayName="MediaServiceFastMetadata" ma:hidden="true" ma:internalName="MediaServiceFastMetadata" ma:readOnly="true">
      <xsd:simpleType>
        <xsd:restriction base="dms:Note"/>
      </xsd:simpleType>
    </xsd:element>
    <xsd:element name="MediaServiceDateTaken" ma:index="28" nillable="true" ma:displayName="MediaServiceDateTaken" ma:hidden="true" ma:internalName="MediaServiceDateTaken" ma:readOnly="true">
      <xsd:simpleType>
        <xsd:restriction base="dms:Text"/>
      </xsd:simpleType>
    </xsd:element>
    <xsd:element name="MediaLengthInSeconds" ma:index="29" nillable="true" ma:displayName="Length (seconds)" ma:internalName="MediaLengthInSeconds" ma:readOnly="true">
      <xsd:simpleType>
        <xsd:restriction base="dms:Unknown"/>
      </xsd:simpleType>
    </xsd:element>
    <xsd:element name="MediaServiceAutoTags" ma:index="30" nillable="true" ma:displayName="Tags" ma:internalName="MediaServiceAutoTags" ma:readOnly="true">
      <xsd:simpleType>
        <xsd:restriction base="dms:Text"/>
      </xsd:simpleType>
    </xsd:element>
    <xsd:element name="MediaServiceOCR" ma:index="31" nillable="true" ma:displayName="Extracted Text" ma:internalName="MediaServiceOCR" ma:readOnly="true">
      <xsd:simpleType>
        <xsd:restriction base="dms:Note">
          <xsd:maxLength value="255"/>
        </xsd:restriction>
      </xsd:simpleType>
    </xsd:element>
    <xsd:element name="MediaServiceGenerationTime" ma:index="32" nillable="true" ma:displayName="MediaServiceGenerationTime" ma:hidden="true" ma:internalName="MediaServiceGenerationTime" ma:readOnly="true">
      <xsd:simpleType>
        <xsd:restriction base="dms:Text"/>
      </xsd:simpleType>
    </xsd:element>
    <xsd:element name="MediaServiceEventHashCode" ma:index="33" nillable="true" ma:displayName="MediaServiceEventHashCode" ma:hidden="true" ma:internalName="MediaServiceEventHashCode" ma:readOnly="true">
      <xsd:simpleType>
        <xsd:restriction base="dms:Text"/>
      </xsd:simpleType>
    </xsd:element>
    <xsd:element name="_activity" ma:index="34" nillable="true" ma:displayName="_activity" ma:hidden="true" ma:internalName="_activity">
      <xsd:simpleType>
        <xsd:restriction base="dms:Note"/>
      </xsd:simpleType>
    </xsd:element>
    <xsd:element name="MediaServiceObjectDetectorVersions" ma:index="35" nillable="true" ma:displayName="MediaServiceObjectDetectorVersions" ma:hidden="true" ma:indexed="true" ma:internalName="MediaServiceObjectDetectorVersions" ma:readOnly="true">
      <xsd:simpleType>
        <xsd:restriction base="dms:Text"/>
      </xsd:simpleType>
    </xsd:element>
    <xsd:element name="MediaServiceSystemTags" ma:index="36" nillable="true" ma:displayName="MediaServiceSystemTags" ma:hidden="true" ma:internalName="MediaServiceSystemTags" ma:readOnly="true">
      <xsd:simpleType>
        <xsd:restriction base="dms:Note"/>
      </xsd:simpleType>
    </xsd:element>
    <xsd:element name="MediaServiceSearchProperties" ma:index="37" nillable="true" ma:displayName="MediaServiceSearchProperties" ma:hidden="true" ma:internalName="MediaServiceSearchProperties" ma:readOnly="true">
      <xsd:simpleType>
        <xsd:restriction base="dms:Note"/>
      </xsd:simpleType>
    </xsd:element>
    <xsd:element name="MediaServiceBillingMetadata" ma:index="38" nillable="true" ma:displayName="MediaServiceBillingMetadata" ma:hidden="true" ma:internalName="MediaServiceBillingMetadata" ma:readOnly="true">
      <xsd:simpleType>
        <xsd:restriction base="dms:Note"/>
      </xsd:simpleType>
    </xsd:element>
    <xsd:element name="MediaServiceLocation" ma:index="39"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73754a2-87ab-421f-a273-25d43a392330" elementFormDefault="qualified">
    <xsd:import namespace="http://schemas.microsoft.com/office/2006/documentManagement/types"/>
    <xsd:import namespace="http://schemas.microsoft.com/office/infopath/2007/PartnerControls"/>
    <xsd:element name="SharedWithUsers" ma:index="23"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4" nillable="true" ma:displayName="Shared With Details" ma:description="" ma:internalName="SharedWithDetails" ma:readOnly="true">
      <xsd:simpleType>
        <xsd:restriction base="dms:Note">
          <xsd:maxLength value="255"/>
        </xsd:restriction>
      </xsd:simpleType>
    </xsd:element>
    <xsd:element name="SharingHintHash" ma:index="25" nillable="true" ma:displayName="Sharing Hint Hash" ma:descriptio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eachers xmlns="7052f7b4-6618-4fd5-8c2b-195a2e438ea3">
      <UserInfo>
        <DisplayName/>
        <AccountId xsi:nil="true"/>
        <AccountType/>
      </UserInfo>
    </Teachers>
    <Templates xmlns="7052f7b4-6618-4fd5-8c2b-195a2e438ea3" xsi:nil="true"/>
    <Invited_Teachers xmlns="7052f7b4-6618-4fd5-8c2b-195a2e438ea3" xsi:nil="true"/>
    <CultureName xmlns="7052f7b4-6618-4fd5-8c2b-195a2e438ea3" xsi:nil="true"/>
    <Student_Groups xmlns="7052f7b4-6618-4fd5-8c2b-195a2e438ea3">
      <UserInfo>
        <DisplayName/>
        <AccountId xsi:nil="true"/>
        <AccountType/>
      </UserInfo>
    </Student_Groups>
    <Self_Registration_Enabled xmlns="7052f7b4-6618-4fd5-8c2b-195a2e438ea3" xsi:nil="true"/>
    <AppVersion xmlns="7052f7b4-6618-4fd5-8c2b-195a2e438ea3" xsi:nil="true"/>
    <NotebookType xmlns="7052f7b4-6618-4fd5-8c2b-195a2e438ea3" xsi:nil="true"/>
    <DefaultSectionNames xmlns="7052f7b4-6618-4fd5-8c2b-195a2e438ea3" xsi:nil="true"/>
    <FolderType xmlns="7052f7b4-6618-4fd5-8c2b-195a2e438ea3" xsi:nil="true"/>
    <Owner xmlns="7052f7b4-6618-4fd5-8c2b-195a2e438ea3">
      <UserInfo>
        <DisplayName/>
        <AccountId xsi:nil="true"/>
        <AccountType/>
      </UserInfo>
    </Owner>
    <Students xmlns="7052f7b4-6618-4fd5-8c2b-195a2e438ea3">
      <UserInfo>
        <DisplayName/>
        <AccountId xsi:nil="true"/>
        <AccountType/>
      </UserInfo>
    </Students>
    <Has_Teacher_Only_SectionGroup xmlns="7052f7b4-6618-4fd5-8c2b-195a2e438ea3" xsi:nil="true"/>
    <Is_Collaboration_Space_Locked xmlns="7052f7b4-6618-4fd5-8c2b-195a2e438ea3" xsi:nil="true"/>
    <_activity xmlns="7052f7b4-6618-4fd5-8c2b-195a2e438ea3" xsi:nil="true"/>
    <Invited_Students xmlns="7052f7b4-6618-4fd5-8c2b-195a2e438ea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74AE322-1B87-44EB-913F-C76F41A3CA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052f7b4-6618-4fd5-8c2b-195a2e438ea3"/>
    <ds:schemaRef ds:uri="d73754a2-87ab-421f-a273-25d43a39233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DE179EA-5802-4847-97C7-5D18D23DA49F}">
  <ds:schemaRefs>
    <ds:schemaRef ds:uri="http://schemas.microsoft.com/office/infopath/2007/PartnerControls"/>
    <ds:schemaRef ds:uri="http://www.w3.org/XML/1998/namespace"/>
    <ds:schemaRef ds:uri="7052f7b4-6618-4fd5-8c2b-195a2e438ea3"/>
    <ds:schemaRef ds:uri="http://schemas.microsoft.com/office/2006/documentManagement/types"/>
    <ds:schemaRef ds:uri="http://schemas.microsoft.com/office/2006/metadata/properties"/>
    <ds:schemaRef ds:uri="http://purl.org/dc/dcmitype/"/>
    <ds:schemaRef ds:uri="http://purl.org/dc/elements/1.1/"/>
    <ds:schemaRef ds:uri="http://schemas.openxmlformats.org/package/2006/metadata/core-properties"/>
    <ds:schemaRef ds:uri="d73754a2-87ab-421f-a273-25d43a392330"/>
    <ds:schemaRef ds:uri="http://purl.org/dc/terms/"/>
  </ds:schemaRefs>
</ds:datastoreItem>
</file>

<file path=customXml/itemProps3.xml><?xml version="1.0" encoding="utf-8"?>
<ds:datastoreItem xmlns:ds="http://schemas.openxmlformats.org/officeDocument/2006/customXml" ds:itemID="{D524EB50-756A-4B4D-A538-B8A80096A112}">
  <ds:schemaRefs>
    <ds:schemaRef ds:uri="http://schemas.microsoft.com/sharepoint/v3/contenttype/forms"/>
  </ds:schemaRefs>
</ds:datastoreItem>
</file>

<file path=docMetadata/LabelInfo.xml><?xml version="1.0" encoding="utf-8"?>
<clbl:labelList xmlns:clbl="http://schemas.microsoft.com/office/2020/mipLabelMetadata">
  <clbl:label id="{1337832b-e06e-4e87-85f5-ecfde68f9c8e}" enabled="1" method="Standard" siteId="{44e3cf94-19c9-4e32-96c3-14f5bf01391a}" removed="0"/>
</clbl:labelList>
</file>

<file path=docProps/app.xml><?xml version="1.0" encoding="utf-8"?>
<Properties xmlns="http://schemas.openxmlformats.org/officeDocument/2006/extended-properties" xmlns:vt="http://schemas.openxmlformats.org/officeDocument/2006/docPropsVTypes">
  <Template>Proposal prsentation stuct (1)</Template>
  <TotalTime>10402</TotalTime>
  <Words>7239</Words>
  <Application>Microsoft Office PowerPoint</Application>
  <PresentationFormat>Widescreen</PresentationFormat>
  <Paragraphs>665</Paragraphs>
  <Slides>35</Slides>
  <Notes>34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Adobe Devanagari</vt:lpstr>
      <vt:lpstr>Arial</vt:lpstr>
      <vt:lpstr>Calibri</vt:lpstr>
      <vt:lpstr>Cambria</vt:lpstr>
      <vt:lpstr>Wingdings</vt:lpstr>
      <vt:lpstr>Office Theme</vt:lpstr>
      <vt:lpstr>PowerPoint Presentation</vt:lpstr>
      <vt:lpstr>Problem in Brief &amp; Our Overall Solution</vt:lpstr>
      <vt:lpstr>PP2 Comments and Actions Taken</vt:lpstr>
      <vt:lpstr>Results, Testimonials, Limitations &amp; Future Improvements</vt:lpstr>
      <vt:lpstr>IT22069740  |  Janahan R</vt:lpstr>
      <vt:lpstr>Neural Forecasting — Uncertainty, Dashboard &amp; Limitations</vt:lpstr>
      <vt:lpstr>IT22545176  |  Thanujan T</vt:lpstr>
      <vt:lpstr>Behaviour Intelligence — Dashboard &amp; Limitations</vt:lpstr>
      <vt:lpstr>IT22630216  |  Dewmini D.M.D.P</vt:lpstr>
      <vt:lpstr>Demand Forecasting — Dashboard &amp; Limitations</vt:lpstr>
      <vt:lpstr>IT22273062  |  Madushani R.P</vt:lpstr>
      <vt:lpstr>Explainable AI — Dashboard &amp; Limitations</vt:lpstr>
      <vt:lpstr>Thank you</vt:lpstr>
      <vt:lpstr>Backup Slides</vt:lpstr>
      <vt:lpstr>Commercialization Plan — Value Proposition &amp; Customers</vt:lpstr>
      <vt:lpstr>Commercialization Plan — Go-to-Market &amp; Competitive Advantage</vt:lpstr>
      <vt:lpstr>Commercialization Plan — Business Model &amp; Pricing</vt:lpstr>
      <vt:lpstr>Commercialization Plan — Costs, Risks &amp; Mitigation</vt:lpstr>
      <vt:lpstr>Technologies &amp; Integrated System</vt:lpstr>
      <vt:lpstr>Behaviour Intelligence — Methodology &amp; Models</vt:lpstr>
      <vt:lpstr>Behaviour Intelligence — Parameters &amp; Fine-Tuning</vt:lpstr>
      <vt:lpstr>Behaviour Intelligence — Model Comparison &amp; Results</vt:lpstr>
      <vt:lpstr>Addressing PP2 Feedback — Thanujan</vt:lpstr>
      <vt:lpstr>Neural Forecasting — Models &amp; Architecture</vt:lpstr>
      <vt:lpstr>Neural Forecasting — Training Parameters &amp; Optimisation</vt:lpstr>
      <vt:lpstr>Neural Forecasting — Model Comparison</vt:lpstr>
      <vt:lpstr>Addressing PP2 Feedback — Janahan</vt:lpstr>
      <vt:lpstr>Demand Forecasting — Models &amp; Why</vt:lpstr>
      <vt:lpstr>Demand Forecasting — Parameters &amp; Optuna Optimisation</vt:lpstr>
      <vt:lpstr>Demand Forecasting — Results, Uncertainty &amp; Scenarios</vt:lpstr>
      <vt:lpstr>Addressing PP2 Feedback — Dewmini</vt:lpstr>
      <vt:lpstr>Explainable AI — Models &amp; XGBoost Architecture</vt:lpstr>
      <vt:lpstr>Explainable AI — Model Comparison</vt:lpstr>
      <vt:lpstr>Explainable AI — SHAP vs LIME (validated against the true formula)</vt:lpstr>
      <vt:lpstr>Addressing PP2 Feedback — Madushani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Koliya Pulasinghe</dc:creator>
  <cp:lastModifiedBy>Thanujan Thavanesan</cp:lastModifiedBy>
  <cp:revision>11</cp:revision>
  <dcterms:created xsi:type="dcterms:W3CDTF">2025-08-25T09:34:25Z</dcterms:created>
  <dcterms:modified xsi:type="dcterms:W3CDTF">2026-10-20T05:18:59Z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0x010100010BED47397629468ECCA40A9BFD2360</vt:lpwstr>
  </property>
</Properties>
</file>